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Riskora is a research workspace for Indian equity mutual-fund disclosures. The target is a stock newly present in a later complete, comparable statement. It does not identify an order or trade date. The screenshot is the working local app, showing an actual ABSL Flexi Cap disclosure; its publication date is unverified.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0:20–0:50. Analysts can confuse a new position with a late publication or an incomplete statement. Riskora makes the eligibility rule explicit. If the earlier statement is incomplete, an absent stock is unknown rather than a negative example. This is the key product insight, and the target remains a later disclosed position rather than a purchase.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0:50–1:25. Show the actual application. The screenshot is from the fictional synthetic sample and is clearly labelled. Data management imports attributed CSVs; Fund explorer shows dated positions; Evaluation checks readiness and a saved holdout; Predictions ranks known candidates; Evidence shows cutoff-dated features and source links. Navigate live through these screens if the demo is available. The ranking score is relative, not a calibrated probability.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1:25–2:05. The working AI is a scikit-learn logistic classifier. It uses features known at the cutoff, including fund preferences and optional market returns and volume. Training compares with historical-addition and fund-preference baselines on later periods, then checks a final holdout. This screenshot is the local synthetic run: only 14 holdout cases and 2 additions. It proves the evaluation code path, not Indian-market predictive power. Optional LLM event extraction is constrained to verbatim supplied excerpts and is not configured in this demo. Backend: FastAPI and SQLite; frontend: React and Vite.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2:05–2:35. The initial user is a fund research analyst or small research desk. Our value hypothesis is that an auditable shortlist reduces manual sorting and helps teams explain why a candidate deserves review. We have not interviewed customers or shown willingness to pay. The next commercial test is a supervised pilot with permissioned data, measuring analyst time, evidence traceability, and ranking lift. A team license is a hypothesis, not current revenue.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2:35–3:00. We have a working product and have checked the two supplied AMC workbooks against their normalized CSVs. Their exact public release dates are not verified, so Riskora labels them observed and excludes them from model training. The trained demo uses fictional data only. Next we need publication-verified history, real holdouts, and analyst pilots. Our ask is two research teams and permissioned historical data.</a:t>
            </a:r>
          </a:p>
          <a:p/>
          <a:p>
            <a:r>
              <a:t>Q&amp;A: Does it predict trades? No: the target is a new later disclosed position. Is the accuracy real? No: the saved run is synthetic. Why AI? The classifier orders candidates from dated signals; optional LLM extraction is separate. Who pays? A team license is a testable hypothesis. Prior work/surprise element: answer from the team's actual event record; do not imply any unverified eligibility.</a:t>
            </a:r>
          </a:p>
          <a:p/>
          <a:p>
            <a:r>
              <a:t>Source notes: code and data review in this repository; local UI captures on 24 Oct 2026; handbook timing and six-slide limit summarized in docs/event-submission/README.md. Keep the separate AI impact statement and a public demo/recording link for submission.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lashLex/Riskora" TargetMode="External"/><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TextBox 1"/>
          <p:cNvSpPr txBox="1"/>
          <p:nvPr/>
        </p:nvSpPr>
        <p:spPr>
          <a:xfrm>
            <a:off x="585216" y="228600"/>
            <a:ext cx="7863840" cy="256032"/>
          </a:xfrm>
          <a:prstGeom prst="rect">
            <a:avLst/>
          </a:prstGeom>
          <a:noFill/>
        </p:spPr>
        <p:txBody>
          <a:bodyPr wrap="square" lIns="0" rIns="0" tIns="0" bIns="0" anchor="ctr">
            <a:spAutoFit/>
          </a:bodyPr>
          <a:lstStyle/>
          <a:p>
            <a:pPr>
              <a:defRPr sz="1000" b="1">
                <a:solidFill>
                  <a:srgbClr val="13664E"/>
                </a:solidFill>
                <a:latin typeface="Aptos"/>
              </a:defRPr>
            </a:pPr>
            <a:r>
              <a:t>RISKORA  /  AIBOOMI STARTUP WEEKEND KOCHI</a:t>
            </a:r>
          </a:p>
        </p:txBody>
      </p:sp>
      <p:sp>
        <p:nvSpPr>
          <p:cNvPr id="3" name="TextBox 2"/>
          <p:cNvSpPr txBox="1"/>
          <p:nvPr/>
        </p:nvSpPr>
        <p:spPr>
          <a:xfrm>
            <a:off x="9326880" y="228600"/>
            <a:ext cx="2258568" cy="256032"/>
          </a:xfrm>
          <a:prstGeom prst="rect">
            <a:avLst/>
          </a:prstGeom>
          <a:noFill/>
        </p:spPr>
        <p:txBody>
          <a:bodyPr wrap="square" lIns="0" rIns="0" tIns="0" bIns="0" anchor="ctr">
            <a:spAutoFit/>
          </a:bodyPr>
          <a:lstStyle/>
          <a:p>
            <a:pPr algn="r">
              <a:defRPr sz="1000" b="0">
                <a:solidFill>
                  <a:srgbClr val="4E5C56"/>
                </a:solidFill>
                <a:latin typeface="Aptos"/>
              </a:defRPr>
            </a:pPr>
            <a:r>
              <a:t>WORKING MVP</a:t>
            </a:r>
          </a:p>
        </p:txBody>
      </p:sp>
      <p:sp>
        <p:nvSpPr>
          <p:cNvPr id="4" name="Rectangle 3"/>
          <p:cNvSpPr/>
          <p:nvPr/>
        </p:nvSpPr>
        <p:spPr>
          <a:xfrm>
            <a:off x="585216" y="667512"/>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896112"/>
            <a:ext cx="10972800" cy="640080"/>
          </a:xfrm>
          <a:prstGeom prst="rect">
            <a:avLst/>
          </a:prstGeom>
          <a:noFill/>
        </p:spPr>
        <p:txBody>
          <a:bodyPr wrap="square" lIns="0" rIns="0" tIns="0" bIns="0" anchor="ctr">
            <a:spAutoFit/>
          </a:bodyPr>
          <a:lstStyle/>
          <a:p>
            <a:pPr>
              <a:defRPr sz="3000" b="1">
                <a:solidFill>
                  <a:srgbClr val="18221F"/>
                </a:solidFill>
                <a:latin typeface="Aptos Display"/>
              </a:defRPr>
            </a:pPr>
            <a:r>
              <a:t>From fund disclosures to a research shortlist.</a:t>
            </a:r>
          </a:p>
        </p:txBody>
      </p:sp>
      <p:sp>
        <p:nvSpPr>
          <p:cNvPr id="6" name="TextBox 5"/>
          <p:cNvSpPr txBox="1"/>
          <p:nvPr/>
        </p:nvSpPr>
        <p:spPr>
          <a:xfrm>
            <a:off x="585216" y="1600200"/>
            <a:ext cx="10972800" cy="384048"/>
          </a:xfrm>
          <a:prstGeom prst="rect">
            <a:avLst/>
          </a:prstGeom>
          <a:noFill/>
        </p:spPr>
        <p:txBody>
          <a:bodyPr wrap="square" lIns="0" rIns="0" tIns="0" bIns="0" anchor="ctr">
            <a:spAutoFit/>
          </a:bodyPr>
          <a:lstStyle/>
          <a:p>
            <a:pPr>
              <a:defRPr sz="1400" b="0">
                <a:solidFill>
                  <a:srgbClr val="4E5C56"/>
                </a:solidFill>
                <a:latin typeface="Aptos"/>
              </a:defRPr>
            </a:pPr>
            <a:r>
              <a:t>Riskora helps analysts inspect what may newly appear in a later valid portfolio statement.</a:t>
            </a:r>
          </a:p>
        </p:txBody>
      </p:sp>
      <p:sp>
        <p:nvSpPr>
          <p:cNvPr id="7" name="Rectangle 6"/>
          <p:cNvSpPr/>
          <p:nvPr/>
        </p:nvSpPr>
        <p:spPr>
          <a:xfrm>
            <a:off x="585216" y="6355080"/>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0" y="6419088"/>
            <a:ext cx="621792" cy="201168"/>
          </a:xfrm>
          <a:prstGeom prst="rect">
            <a:avLst/>
          </a:prstGeom>
          <a:noFill/>
        </p:spPr>
        <p:txBody>
          <a:bodyPr wrap="square" lIns="0" rIns="0" tIns="0" bIns="0" anchor="ctr">
            <a:spAutoFit/>
          </a:bodyPr>
          <a:lstStyle/>
          <a:p>
            <a:pPr algn="r">
              <a:defRPr sz="900" b="0">
                <a:solidFill>
                  <a:srgbClr val="4E5C56"/>
                </a:solidFill>
                <a:latin typeface="Aptos"/>
              </a:defRPr>
            </a:pPr>
            <a:r>
              <a:t>01 / 06</a:t>
            </a:r>
          </a:p>
        </p:txBody>
      </p:sp>
      <p:sp>
        <p:nvSpPr>
          <p:cNvPr id="9" name="TextBox 8"/>
          <p:cNvSpPr txBox="1"/>
          <p:nvPr/>
        </p:nvSpPr>
        <p:spPr>
          <a:xfrm>
            <a:off x="585216" y="2340864"/>
            <a:ext cx="4663440" cy="969264"/>
          </a:xfrm>
          <a:prstGeom prst="rect">
            <a:avLst/>
          </a:prstGeom>
          <a:noFill/>
        </p:spPr>
        <p:txBody>
          <a:bodyPr wrap="square" lIns="0" rIns="0" tIns="0" bIns="0" anchor="ctr">
            <a:spAutoFit/>
          </a:bodyPr>
          <a:lstStyle/>
          <a:p>
            <a:pPr>
              <a:defRPr sz="2900" b="1">
                <a:solidFill>
                  <a:srgbClr val="18221F"/>
                </a:solidFill>
                <a:latin typeface="Aptos Display"/>
              </a:defRPr>
            </a:pPr>
            <a:r>
              <a:t>Published holdings</a:t>
            </a:r>
            <a:br/>
            <a:r>
              <a:t>are retrospective.</a:t>
            </a:r>
          </a:p>
        </p:txBody>
      </p:sp>
      <p:sp>
        <p:nvSpPr>
          <p:cNvPr id="10" name="TextBox 9"/>
          <p:cNvSpPr txBox="1"/>
          <p:nvPr/>
        </p:nvSpPr>
        <p:spPr>
          <a:xfrm>
            <a:off x="585216" y="3575304"/>
            <a:ext cx="4663440" cy="978408"/>
          </a:xfrm>
          <a:prstGeom prst="rect">
            <a:avLst/>
          </a:prstGeom>
          <a:noFill/>
        </p:spPr>
        <p:txBody>
          <a:bodyPr wrap="square" lIns="0" rIns="0" tIns="0" bIns="0" anchor="ctr">
            <a:spAutoFit/>
          </a:bodyPr>
          <a:lstStyle/>
          <a:p>
            <a:pPr>
              <a:defRPr sz="1700" b="0">
                <a:solidFill>
                  <a:srgbClr val="4E5C56"/>
                </a:solidFill>
                <a:latin typeface="Aptos"/>
              </a:defRPr>
            </a:pPr>
            <a:r>
              <a:t>We make the next research question traceable: which known stocks deserve a closer look, and what was knowable at the cutoff?</a:t>
            </a:r>
          </a:p>
        </p:txBody>
      </p:sp>
      <p:sp>
        <p:nvSpPr>
          <p:cNvPr id="11" name="Rounded Rectangle 10"/>
          <p:cNvSpPr/>
          <p:nvPr/>
        </p:nvSpPr>
        <p:spPr>
          <a:xfrm>
            <a:off x="585216" y="4855464"/>
            <a:ext cx="1901952" cy="329184"/>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4869179"/>
            <a:ext cx="1682496" cy="292608"/>
          </a:xfrm>
          <a:prstGeom prst="rect">
            <a:avLst/>
          </a:prstGeom>
          <a:noFill/>
        </p:spPr>
        <p:txBody>
          <a:bodyPr wrap="square" lIns="0" rIns="0" tIns="0" bIns="0" anchor="ctr">
            <a:spAutoFit/>
          </a:bodyPr>
          <a:lstStyle/>
          <a:p>
            <a:pPr>
              <a:defRPr sz="1000" b="1">
                <a:solidFill>
                  <a:srgbClr val="13664E"/>
                </a:solidFill>
                <a:latin typeface="Aptos"/>
              </a:defRPr>
            </a:pPr>
            <a:r>
              <a:t>RESEARCH WORKSPACE</a:t>
            </a:r>
          </a:p>
        </p:txBody>
      </p:sp>
      <p:sp>
        <p:nvSpPr>
          <p:cNvPr id="13" name="Rounded Rectangle 12"/>
          <p:cNvSpPr/>
          <p:nvPr/>
        </p:nvSpPr>
        <p:spPr>
          <a:xfrm>
            <a:off x="2624328" y="4855464"/>
            <a:ext cx="1874519" cy="329184"/>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34056" y="4869179"/>
            <a:ext cx="1655063" cy="292608"/>
          </a:xfrm>
          <a:prstGeom prst="rect">
            <a:avLst/>
          </a:prstGeom>
          <a:noFill/>
        </p:spPr>
        <p:txBody>
          <a:bodyPr wrap="square" lIns="0" rIns="0" tIns="0" bIns="0" anchor="ctr">
            <a:spAutoFit/>
          </a:bodyPr>
          <a:lstStyle/>
          <a:p>
            <a:pPr>
              <a:defRPr sz="1000" b="1">
                <a:solidFill>
                  <a:srgbClr val="13664E"/>
                </a:solidFill>
                <a:latin typeface="Aptos"/>
              </a:defRPr>
            </a:pPr>
            <a:r>
              <a:t>AUDITABLE RANKING</a:t>
            </a:r>
          </a:p>
        </p:txBody>
      </p:sp>
      <p:sp>
        <p:nvSpPr>
          <p:cNvPr id="15" name="Rounded Rectangle 14"/>
          <p:cNvSpPr/>
          <p:nvPr/>
        </p:nvSpPr>
        <p:spPr>
          <a:xfrm>
            <a:off x="5605272" y="2130552"/>
            <a:ext cx="6025896" cy="3995928"/>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Riskora UI screenshot: fund-detail.png" descr="fund-detail.png"/>
          <p:cNvPicPr>
            <a:picLocks noChangeAspect="1"/>
          </p:cNvPicPr>
          <p:nvPr/>
        </p:nvPicPr>
        <p:blipFill>
          <a:blip r:embed="rId2"/>
          <a:stretch>
            <a:fillRect/>
          </a:stretch>
        </p:blipFill>
        <p:spPr>
          <a:xfrm>
            <a:off x="5641848" y="2167128"/>
            <a:ext cx="5952744" cy="3922776"/>
          </a:xfrm>
          <a:prstGeom prst="rect">
            <a:avLst/>
          </a:prstGeom>
        </p:spPr>
      </p:pic>
      <p:sp>
        <p:nvSpPr>
          <p:cNvPr id="17" name="TextBox 16"/>
          <p:cNvSpPr txBox="1"/>
          <p:nvPr/>
        </p:nvSpPr>
        <p:spPr>
          <a:xfrm>
            <a:off x="5669280" y="6117336"/>
            <a:ext cx="5806440" cy="201168"/>
          </a:xfrm>
          <a:prstGeom prst="rect">
            <a:avLst/>
          </a:prstGeom>
          <a:noFill/>
        </p:spPr>
        <p:txBody>
          <a:bodyPr wrap="square" lIns="0" rIns="0" tIns="0" bIns="0" anchor="ctr">
            <a:spAutoFit/>
          </a:bodyPr>
          <a:lstStyle/>
          <a:p>
            <a:pPr>
              <a:defRPr sz="900" b="0">
                <a:solidFill>
                  <a:srgbClr val="4E5C56"/>
                </a:solidFill>
                <a:latin typeface="Aptos"/>
              </a:defRPr>
            </a:pPr>
            <a:r>
              <a:t>Actual app · ABSL Flexi Cap · observed disclosure</a:t>
            </a:r>
          </a:p>
        </p:txBody>
      </p:sp>
      <p:sp>
        <p:nvSpPr>
          <p:cNvPr id="18" name="TextBox 17"/>
          <p:cNvSpPr txBox="1"/>
          <p:nvPr/>
        </p:nvSpPr>
        <p:spPr>
          <a:xfrm>
            <a:off x="585216" y="6044184"/>
            <a:ext cx="4800600" cy="228600"/>
          </a:xfrm>
          <a:prstGeom prst="rect">
            <a:avLst/>
          </a:prstGeom>
          <a:noFill/>
        </p:spPr>
        <p:txBody>
          <a:bodyPr wrap="square" lIns="0" rIns="0" tIns="0" bIns="0" anchor="ctr">
            <a:spAutoFit/>
          </a:bodyPr>
          <a:lstStyle/>
          <a:p>
            <a:pPr>
              <a:defRPr sz="1000" b="1">
                <a:solidFill>
                  <a:srgbClr val="13664E"/>
                </a:solidFill>
                <a:latin typeface="Aptos"/>
              </a:defRPr>
            </a:pPr>
            <a:r>
              <a:t>Ansil Muhammed N S  ·  Muhammed Ihsan K 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TextBox 1"/>
          <p:cNvSpPr txBox="1"/>
          <p:nvPr/>
        </p:nvSpPr>
        <p:spPr>
          <a:xfrm>
            <a:off x="585216" y="228600"/>
            <a:ext cx="7863840" cy="256032"/>
          </a:xfrm>
          <a:prstGeom prst="rect">
            <a:avLst/>
          </a:prstGeom>
          <a:noFill/>
        </p:spPr>
        <p:txBody>
          <a:bodyPr wrap="square" lIns="0" rIns="0" tIns="0" bIns="0" anchor="ctr">
            <a:spAutoFit/>
          </a:bodyPr>
          <a:lstStyle/>
          <a:p>
            <a:pPr>
              <a:defRPr sz="1000" b="1">
                <a:solidFill>
                  <a:srgbClr val="13664E"/>
                </a:solidFill>
                <a:latin typeface="Aptos"/>
              </a:defRPr>
            </a:pPr>
            <a:r>
              <a:t>RISKORA  /  AIBOOMI STARTUP WEEKEND KOCHI</a:t>
            </a:r>
          </a:p>
        </p:txBody>
      </p:sp>
      <p:sp>
        <p:nvSpPr>
          <p:cNvPr id="3" name="TextBox 2"/>
          <p:cNvSpPr txBox="1"/>
          <p:nvPr/>
        </p:nvSpPr>
        <p:spPr>
          <a:xfrm>
            <a:off x="9326880" y="228600"/>
            <a:ext cx="2258568" cy="256032"/>
          </a:xfrm>
          <a:prstGeom prst="rect">
            <a:avLst/>
          </a:prstGeom>
          <a:noFill/>
        </p:spPr>
        <p:txBody>
          <a:bodyPr wrap="square" lIns="0" rIns="0" tIns="0" bIns="0" anchor="ctr">
            <a:spAutoFit/>
          </a:bodyPr>
          <a:lstStyle/>
          <a:p>
            <a:pPr algn="r">
              <a:defRPr sz="1000" b="0">
                <a:solidFill>
                  <a:srgbClr val="4E5C56"/>
                </a:solidFill>
                <a:latin typeface="Aptos"/>
              </a:defRPr>
            </a:pPr>
            <a:r>
              <a:t>PROBLEM AND INSIGHT</a:t>
            </a:r>
          </a:p>
        </p:txBody>
      </p:sp>
      <p:sp>
        <p:nvSpPr>
          <p:cNvPr id="4" name="Rectangle 3"/>
          <p:cNvSpPr/>
          <p:nvPr/>
        </p:nvSpPr>
        <p:spPr>
          <a:xfrm>
            <a:off x="585216" y="667512"/>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896112"/>
            <a:ext cx="10972800" cy="640080"/>
          </a:xfrm>
          <a:prstGeom prst="rect">
            <a:avLst/>
          </a:prstGeom>
          <a:noFill/>
        </p:spPr>
        <p:txBody>
          <a:bodyPr wrap="square" lIns="0" rIns="0" tIns="0" bIns="0" anchor="ctr">
            <a:spAutoFit/>
          </a:bodyPr>
          <a:lstStyle/>
          <a:p>
            <a:pPr>
              <a:defRPr sz="3000" b="1">
                <a:solidFill>
                  <a:srgbClr val="18221F"/>
                </a:solidFill>
                <a:latin typeface="Aptos Display"/>
              </a:defRPr>
            </a:pPr>
            <a:r>
              <a:t>The hard part is knowing what is comparable.</a:t>
            </a:r>
          </a:p>
        </p:txBody>
      </p:sp>
      <p:sp>
        <p:nvSpPr>
          <p:cNvPr id="6" name="TextBox 5"/>
          <p:cNvSpPr txBox="1"/>
          <p:nvPr/>
        </p:nvSpPr>
        <p:spPr>
          <a:xfrm>
            <a:off x="585216" y="1600200"/>
            <a:ext cx="10972800" cy="384048"/>
          </a:xfrm>
          <a:prstGeom prst="rect">
            <a:avLst/>
          </a:prstGeom>
          <a:noFill/>
        </p:spPr>
        <p:txBody>
          <a:bodyPr wrap="square" lIns="0" rIns="0" tIns="0" bIns="0" anchor="ctr">
            <a:spAutoFit/>
          </a:bodyPr>
          <a:lstStyle/>
          <a:p>
            <a:pPr>
              <a:defRPr sz="1400" b="0">
                <a:solidFill>
                  <a:srgbClr val="4E5C56"/>
                </a:solidFill>
                <a:latin typeface="Aptos"/>
              </a:defRPr>
            </a:pPr>
            <a:r>
              <a:t>A missing row, an existing holding, and a late publication are different research cases.</a:t>
            </a:r>
          </a:p>
        </p:txBody>
      </p:sp>
      <p:sp>
        <p:nvSpPr>
          <p:cNvPr id="7" name="Rectangle 6"/>
          <p:cNvSpPr/>
          <p:nvPr/>
        </p:nvSpPr>
        <p:spPr>
          <a:xfrm>
            <a:off x="585216" y="6355080"/>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0" y="6419088"/>
            <a:ext cx="621792" cy="201168"/>
          </a:xfrm>
          <a:prstGeom prst="rect">
            <a:avLst/>
          </a:prstGeom>
          <a:noFill/>
        </p:spPr>
        <p:txBody>
          <a:bodyPr wrap="square" lIns="0" rIns="0" tIns="0" bIns="0" anchor="ctr">
            <a:spAutoFit/>
          </a:bodyPr>
          <a:lstStyle/>
          <a:p>
            <a:pPr algn="r">
              <a:defRPr sz="900" b="0">
                <a:solidFill>
                  <a:srgbClr val="4E5C56"/>
                </a:solidFill>
                <a:latin typeface="Aptos"/>
              </a:defRPr>
            </a:pPr>
            <a:r>
              <a:t>02 / 06</a:t>
            </a:r>
          </a:p>
        </p:txBody>
      </p:sp>
      <p:sp>
        <p:nvSpPr>
          <p:cNvPr id="9" name="Rounded Rectangle 8"/>
          <p:cNvSpPr/>
          <p:nvPr/>
        </p:nvSpPr>
        <p:spPr>
          <a:xfrm>
            <a:off x="585216" y="2267712"/>
            <a:ext cx="6492240" cy="859536"/>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40664" y="2487168"/>
            <a:ext cx="420624" cy="329184"/>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 y="2500884"/>
            <a:ext cx="201168" cy="292608"/>
          </a:xfrm>
          <a:prstGeom prst="rect">
            <a:avLst/>
          </a:prstGeom>
          <a:noFill/>
        </p:spPr>
        <p:txBody>
          <a:bodyPr wrap="square" lIns="0" rIns="0" tIns="0" bIns="0" anchor="ctr">
            <a:spAutoFit/>
          </a:bodyPr>
          <a:lstStyle/>
          <a:p>
            <a:pPr>
              <a:defRPr sz="1000" b="1">
                <a:solidFill>
                  <a:srgbClr val="13664E"/>
                </a:solidFill>
                <a:latin typeface="Aptos"/>
              </a:defRPr>
            </a:pPr>
            <a:r>
              <a:t>01</a:t>
            </a:r>
          </a:p>
        </p:txBody>
      </p:sp>
      <p:sp>
        <p:nvSpPr>
          <p:cNvPr id="12" name="TextBox 11"/>
          <p:cNvSpPr txBox="1"/>
          <p:nvPr/>
        </p:nvSpPr>
        <p:spPr>
          <a:xfrm>
            <a:off x="1298448" y="2414016"/>
            <a:ext cx="5559552" cy="246888"/>
          </a:xfrm>
          <a:prstGeom prst="rect">
            <a:avLst/>
          </a:prstGeom>
          <a:noFill/>
        </p:spPr>
        <p:txBody>
          <a:bodyPr wrap="square" lIns="0" rIns="0" tIns="0" bIns="0" anchor="ctr">
            <a:spAutoFit/>
          </a:bodyPr>
          <a:lstStyle/>
          <a:p>
            <a:pPr>
              <a:defRPr sz="1500" b="1">
                <a:solidFill>
                  <a:srgbClr val="18221F"/>
                </a:solidFill>
                <a:latin typeface="Aptos"/>
              </a:defRPr>
            </a:pPr>
            <a:r>
              <a:t>Reports arrive after the fact</a:t>
            </a:r>
          </a:p>
        </p:txBody>
      </p:sp>
      <p:sp>
        <p:nvSpPr>
          <p:cNvPr id="13" name="TextBox 12"/>
          <p:cNvSpPr txBox="1"/>
          <p:nvPr/>
        </p:nvSpPr>
        <p:spPr>
          <a:xfrm>
            <a:off x="1298448" y="2706624"/>
            <a:ext cx="5559552" cy="283464"/>
          </a:xfrm>
          <a:prstGeom prst="rect">
            <a:avLst/>
          </a:prstGeom>
          <a:noFill/>
        </p:spPr>
        <p:txBody>
          <a:bodyPr wrap="square" lIns="0" rIns="0" tIns="0" bIns="0" anchor="ctr">
            <a:spAutoFit/>
          </a:bodyPr>
          <a:lstStyle/>
          <a:p>
            <a:pPr>
              <a:defRPr sz="1100" b="0">
                <a:solidFill>
                  <a:srgbClr val="4E5C56"/>
                </a:solidFill>
                <a:latin typeface="Aptos"/>
              </a:defRPr>
            </a:pPr>
            <a:r>
              <a:t>Report date and first public availability are different dates.</a:t>
            </a:r>
          </a:p>
        </p:txBody>
      </p:sp>
      <p:sp>
        <p:nvSpPr>
          <p:cNvPr id="14" name="Rounded Rectangle 13"/>
          <p:cNvSpPr/>
          <p:nvPr/>
        </p:nvSpPr>
        <p:spPr>
          <a:xfrm>
            <a:off x="585216" y="3264408"/>
            <a:ext cx="6492240" cy="859536"/>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40664" y="3483863"/>
            <a:ext cx="420624" cy="329184"/>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3497579"/>
            <a:ext cx="201168" cy="292608"/>
          </a:xfrm>
          <a:prstGeom prst="rect">
            <a:avLst/>
          </a:prstGeom>
          <a:noFill/>
        </p:spPr>
        <p:txBody>
          <a:bodyPr wrap="square" lIns="0" rIns="0" tIns="0" bIns="0" anchor="ctr">
            <a:spAutoFit/>
          </a:bodyPr>
          <a:lstStyle/>
          <a:p>
            <a:pPr>
              <a:defRPr sz="1000" b="1">
                <a:solidFill>
                  <a:srgbClr val="13664E"/>
                </a:solidFill>
                <a:latin typeface="Aptos"/>
              </a:defRPr>
            </a:pPr>
            <a:r>
              <a:t>02</a:t>
            </a:r>
          </a:p>
        </p:txBody>
      </p:sp>
      <p:sp>
        <p:nvSpPr>
          <p:cNvPr id="17" name="TextBox 16"/>
          <p:cNvSpPr txBox="1"/>
          <p:nvPr/>
        </p:nvSpPr>
        <p:spPr>
          <a:xfrm>
            <a:off x="1298448" y="3410712"/>
            <a:ext cx="5559552" cy="246888"/>
          </a:xfrm>
          <a:prstGeom prst="rect">
            <a:avLst/>
          </a:prstGeom>
          <a:noFill/>
        </p:spPr>
        <p:txBody>
          <a:bodyPr wrap="square" lIns="0" rIns="0" tIns="0" bIns="0" anchor="ctr">
            <a:spAutoFit/>
          </a:bodyPr>
          <a:lstStyle/>
          <a:p>
            <a:pPr>
              <a:defRPr sz="1500" b="1">
                <a:solidFill>
                  <a:srgbClr val="18221F"/>
                </a:solidFill>
                <a:latin typeface="Aptos"/>
              </a:defRPr>
            </a:pPr>
            <a:r>
              <a:t>Absence can be misleading</a:t>
            </a:r>
          </a:p>
        </p:txBody>
      </p:sp>
      <p:sp>
        <p:nvSpPr>
          <p:cNvPr id="18" name="TextBox 17"/>
          <p:cNvSpPr txBox="1"/>
          <p:nvPr/>
        </p:nvSpPr>
        <p:spPr>
          <a:xfrm>
            <a:off x="1298448" y="3703320"/>
            <a:ext cx="5559552" cy="283464"/>
          </a:xfrm>
          <a:prstGeom prst="rect">
            <a:avLst/>
          </a:prstGeom>
          <a:noFill/>
        </p:spPr>
        <p:txBody>
          <a:bodyPr wrap="square" lIns="0" rIns="0" tIns="0" bIns="0" anchor="ctr">
            <a:spAutoFit/>
          </a:bodyPr>
          <a:lstStyle/>
          <a:p>
            <a:pPr>
              <a:defRPr sz="1100" b="0">
                <a:solidFill>
                  <a:srgbClr val="4E5C56"/>
                </a:solidFill>
                <a:latin typeface="Aptos"/>
              </a:defRPr>
            </a:pPr>
            <a:r>
              <a:t>Only a full comparable statement can establish a verified negative.</a:t>
            </a:r>
          </a:p>
        </p:txBody>
      </p:sp>
      <p:sp>
        <p:nvSpPr>
          <p:cNvPr id="19" name="Rounded Rectangle 18"/>
          <p:cNvSpPr/>
          <p:nvPr/>
        </p:nvSpPr>
        <p:spPr>
          <a:xfrm>
            <a:off x="585216" y="4261104"/>
            <a:ext cx="6492240" cy="859536"/>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40664" y="4480560"/>
            <a:ext cx="420624" cy="329184"/>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 y="4494276"/>
            <a:ext cx="201168" cy="292608"/>
          </a:xfrm>
          <a:prstGeom prst="rect">
            <a:avLst/>
          </a:prstGeom>
          <a:noFill/>
        </p:spPr>
        <p:txBody>
          <a:bodyPr wrap="square" lIns="0" rIns="0" tIns="0" bIns="0" anchor="ctr">
            <a:spAutoFit/>
          </a:bodyPr>
          <a:lstStyle/>
          <a:p>
            <a:pPr>
              <a:defRPr sz="1000" b="1">
                <a:solidFill>
                  <a:srgbClr val="13664E"/>
                </a:solidFill>
                <a:latin typeface="Aptos"/>
              </a:defRPr>
            </a:pPr>
            <a:r>
              <a:t>03</a:t>
            </a:r>
          </a:p>
        </p:txBody>
      </p:sp>
      <p:sp>
        <p:nvSpPr>
          <p:cNvPr id="22" name="TextBox 21"/>
          <p:cNvSpPr txBox="1"/>
          <p:nvPr/>
        </p:nvSpPr>
        <p:spPr>
          <a:xfrm>
            <a:off x="1298448" y="4407408"/>
            <a:ext cx="5559552" cy="246888"/>
          </a:xfrm>
          <a:prstGeom prst="rect">
            <a:avLst/>
          </a:prstGeom>
          <a:noFill/>
        </p:spPr>
        <p:txBody>
          <a:bodyPr wrap="square" lIns="0" rIns="0" tIns="0" bIns="0" anchor="ctr">
            <a:spAutoFit/>
          </a:bodyPr>
          <a:lstStyle/>
          <a:p>
            <a:pPr>
              <a:defRPr sz="1500" b="1">
                <a:solidFill>
                  <a:srgbClr val="18221F"/>
                </a:solidFill>
                <a:latin typeface="Aptos"/>
              </a:defRPr>
            </a:pPr>
            <a:r>
              <a:t>Manual review is hard to audit</a:t>
            </a:r>
          </a:p>
        </p:txBody>
      </p:sp>
      <p:sp>
        <p:nvSpPr>
          <p:cNvPr id="23" name="TextBox 22"/>
          <p:cNvSpPr txBox="1"/>
          <p:nvPr/>
        </p:nvSpPr>
        <p:spPr>
          <a:xfrm>
            <a:off x="1298448" y="4700016"/>
            <a:ext cx="5559552" cy="283464"/>
          </a:xfrm>
          <a:prstGeom prst="rect">
            <a:avLst/>
          </a:prstGeom>
          <a:noFill/>
        </p:spPr>
        <p:txBody>
          <a:bodyPr wrap="square" lIns="0" rIns="0" tIns="0" bIns="0" anchor="ctr">
            <a:spAutoFit/>
          </a:bodyPr>
          <a:lstStyle/>
          <a:p>
            <a:pPr>
              <a:defRPr sz="1100" b="0">
                <a:solidFill>
                  <a:srgbClr val="4E5C56"/>
                </a:solidFill>
                <a:latin typeface="Aptos"/>
              </a:defRPr>
            </a:pPr>
            <a:r>
              <a:t>A shortlist needs a visible cutoff, sources, and later-period checks.</a:t>
            </a:r>
          </a:p>
        </p:txBody>
      </p:sp>
      <p:sp>
        <p:nvSpPr>
          <p:cNvPr id="24" name="Rounded Rectangle 23"/>
          <p:cNvSpPr/>
          <p:nvPr/>
        </p:nvSpPr>
        <p:spPr>
          <a:xfrm>
            <a:off x="7351775" y="2267712"/>
            <a:ext cx="4242816" cy="2862072"/>
          </a:xfrm>
          <a:prstGeom prst="roundRect">
            <a:avLst>
              <a:gd name="adj" fmla="val 6000"/>
            </a:avLst>
          </a:prstGeom>
          <a:solidFill>
            <a:srgbClr val="136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07808" y="2551176"/>
            <a:ext cx="3611880" cy="237744"/>
          </a:xfrm>
          <a:prstGeom prst="rect">
            <a:avLst/>
          </a:prstGeom>
          <a:noFill/>
        </p:spPr>
        <p:txBody>
          <a:bodyPr wrap="square" lIns="0" rIns="0" tIns="0" bIns="0" anchor="ctr">
            <a:spAutoFit/>
          </a:bodyPr>
          <a:lstStyle/>
          <a:p>
            <a:pPr>
              <a:defRPr sz="1000" b="1">
                <a:solidFill>
                  <a:srgbClr val="E5F2EB"/>
                </a:solidFill>
                <a:latin typeface="Aptos"/>
              </a:defRPr>
            </a:pPr>
            <a:r>
              <a:t>THE RISKORA RULE</a:t>
            </a:r>
          </a:p>
        </p:txBody>
      </p:sp>
      <p:sp>
        <p:nvSpPr>
          <p:cNvPr id="26" name="TextBox 25"/>
          <p:cNvSpPr txBox="1"/>
          <p:nvPr/>
        </p:nvSpPr>
        <p:spPr>
          <a:xfrm>
            <a:off x="7607808" y="2926080"/>
            <a:ext cx="3611880" cy="877824"/>
          </a:xfrm>
          <a:prstGeom prst="rect">
            <a:avLst/>
          </a:prstGeom>
          <a:noFill/>
        </p:spPr>
        <p:txBody>
          <a:bodyPr wrap="square" lIns="0" rIns="0" tIns="0" bIns="0" anchor="ctr">
            <a:spAutoFit/>
          </a:bodyPr>
          <a:lstStyle/>
          <a:p>
            <a:pPr>
              <a:defRPr sz="2800" b="1">
                <a:solidFill>
                  <a:srgbClr val="FFFFFF"/>
                </a:solidFill>
                <a:latin typeface="Aptos Display"/>
              </a:defRPr>
            </a:pPr>
            <a:r>
              <a:t>Unknown stays</a:t>
            </a:r>
            <a:br/>
            <a:r>
              <a:t>unknown.</a:t>
            </a:r>
          </a:p>
        </p:txBody>
      </p:sp>
      <p:sp>
        <p:nvSpPr>
          <p:cNvPr id="27" name="TextBox 26"/>
          <p:cNvSpPr txBox="1"/>
          <p:nvPr/>
        </p:nvSpPr>
        <p:spPr>
          <a:xfrm>
            <a:off x="7607808" y="3977639"/>
            <a:ext cx="3639312" cy="804672"/>
          </a:xfrm>
          <a:prstGeom prst="rect">
            <a:avLst/>
          </a:prstGeom>
          <a:noFill/>
        </p:spPr>
        <p:txBody>
          <a:bodyPr wrap="square" lIns="0" rIns="0" tIns="0" bIns="0" anchor="ctr">
            <a:spAutoFit/>
          </a:bodyPr>
          <a:lstStyle/>
          <a:p>
            <a:pPr>
              <a:defRPr sz="1300" b="0">
                <a:solidFill>
                  <a:srgbClr val="FFFFFF"/>
                </a:solidFill>
                <a:latin typeface="Aptos"/>
              </a:defRPr>
            </a:pPr>
            <a:r>
              <a:t>Candidate inputs and labels must have been available by their cutoff. A disclosure is a position, not proof of a trade.</a:t>
            </a:r>
          </a:p>
        </p:txBody>
      </p:sp>
      <p:sp>
        <p:nvSpPr>
          <p:cNvPr id="28" name="Rounded Rectangle 27"/>
          <p:cNvSpPr/>
          <p:nvPr/>
        </p:nvSpPr>
        <p:spPr>
          <a:xfrm>
            <a:off x="585216" y="5431536"/>
            <a:ext cx="11009376" cy="539496"/>
          </a:xfrm>
          <a:prstGeom prst="roundRect">
            <a:avLst>
              <a:gd name="adj" fmla="val 6000"/>
            </a:avLst>
          </a:prstGeom>
          <a:solidFill>
            <a:srgbClr val="F1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 y="5568696"/>
            <a:ext cx="10497312" cy="265176"/>
          </a:xfrm>
          <a:prstGeom prst="rect">
            <a:avLst/>
          </a:prstGeom>
          <a:noFill/>
        </p:spPr>
        <p:txBody>
          <a:bodyPr wrap="square" lIns="0" rIns="0" tIns="0" bIns="0" anchor="ctr">
            <a:spAutoFit/>
          </a:bodyPr>
          <a:lstStyle/>
          <a:p>
            <a:pPr>
              <a:defRPr sz="1300" b="0">
                <a:solidFill>
                  <a:srgbClr val="18221F"/>
                </a:solidFill>
                <a:latin typeface="Aptos"/>
              </a:defRPr>
            </a:pPr>
            <a:r>
              <a:t>Initial user: fund research analysts and small desks comparing dated Indian equity mutual-fund holdings.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TextBox 1"/>
          <p:cNvSpPr txBox="1"/>
          <p:nvPr/>
        </p:nvSpPr>
        <p:spPr>
          <a:xfrm>
            <a:off x="585216" y="228600"/>
            <a:ext cx="7863840" cy="256032"/>
          </a:xfrm>
          <a:prstGeom prst="rect">
            <a:avLst/>
          </a:prstGeom>
          <a:noFill/>
        </p:spPr>
        <p:txBody>
          <a:bodyPr wrap="square" lIns="0" rIns="0" tIns="0" bIns="0" anchor="ctr">
            <a:spAutoFit/>
          </a:bodyPr>
          <a:lstStyle/>
          <a:p>
            <a:pPr>
              <a:defRPr sz="1000" b="1">
                <a:solidFill>
                  <a:srgbClr val="13664E"/>
                </a:solidFill>
                <a:latin typeface="Aptos"/>
              </a:defRPr>
            </a:pPr>
            <a:r>
              <a:t>RISKORA  /  AIBOOMI STARTUP WEEKEND KOCHI</a:t>
            </a:r>
          </a:p>
        </p:txBody>
      </p:sp>
      <p:sp>
        <p:nvSpPr>
          <p:cNvPr id="3" name="TextBox 2"/>
          <p:cNvSpPr txBox="1"/>
          <p:nvPr/>
        </p:nvSpPr>
        <p:spPr>
          <a:xfrm>
            <a:off x="9326880" y="228600"/>
            <a:ext cx="2258568" cy="256032"/>
          </a:xfrm>
          <a:prstGeom prst="rect">
            <a:avLst/>
          </a:prstGeom>
          <a:noFill/>
        </p:spPr>
        <p:txBody>
          <a:bodyPr wrap="square" lIns="0" rIns="0" tIns="0" bIns="0" anchor="ctr">
            <a:spAutoFit/>
          </a:bodyPr>
          <a:lstStyle/>
          <a:p>
            <a:pPr algn="r">
              <a:defRPr sz="1000" b="0">
                <a:solidFill>
                  <a:srgbClr val="4E5C56"/>
                </a:solidFill>
                <a:latin typeface="Aptos"/>
              </a:defRPr>
            </a:pPr>
            <a:r>
              <a:t>PRODUCT DEMONSTRATION</a:t>
            </a:r>
          </a:p>
        </p:txBody>
      </p:sp>
      <p:sp>
        <p:nvSpPr>
          <p:cNvPr id="4" name="Rectangle 3"/>
          <p:cNvSpPr/>
          <p:nvPr/>
        </p:nvSpPr>
        <p:spPr>
          <a:xfrm>
            <a:off x="585216" y="667512"/>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896112"/>
            <a:ext cx="10972800" cy="640080"/>
          </a:xfrm>
          <a:prstGeom prst="rect">
            <a:avLst/>
          </a:prstGeom>
          <a:noFill/>
        </p:spPr>
        <p:txBody>
          <a:bodyPr wrap="square" lIns="0" rIns="0" tIns="0" bIns="0" anchor="ctr">
            <a:spAutoFit/>
          </a:bodyPr>
          <a:lstStyle/>
          <a:p>
            <a:pPr>
              <a:defRPr sz="3000" b="1">
                <a:solidFill>
                  <a:srgbClr val="18221F"/>
                </a:solidFill>
                <a:latin typeface="Aptos Display"/>
              </a:defRPr>
            </a:pPr>
            <a:r>
              <a:t>A working loop from data to candidate evidence.</a:t>
            </a:r>
          </a:p>
        </p:txBody>
      </p:sp>
      <p:sp>
        <p:nvSpPr>
          <p:cNvPr id="6" name="TextBox 5"/>
          <p:cNvSpPr txBox="1"/>
          <p:nvPr/>
        </p:nvSpPr>
        <p:spPr>
          <a:xfrm>
            <a:off x="585216" y="1600200"/>
            <a:ext cx="10972800" cy="384048"/>
          </a:xfrm>
          <a:prstGeom prst="rect">
            <a:avLst/>
          </a:prstGeom>
          <a:noFill/>
        </p:spPr>
        <p:txBody>
          <a:bodyPr wrap="square" lIns="0" rIns="0" tIns="0" bIns="0" anchor="ctr">
            <a:spAutoFit/>
          </a:bodyPr>
          <a:lstStyle/>
          <a:p>
            <a:pPr>
              <a:defRPr sz="1400" b="0">
                <a:solidFill>
                  <a:srgbClr val="4E5C56"/>
                </a:solidFill>
                <a:latin typeface="Aptos"/>
              </a:defRPr>
            </a:pPr>
            <a:r>
              <a:t>The live app lets a researcher inspect disclosures, evaluate a model, rank, and open the inputs.</a:t>
            </a:r>
          </a:p>
        </p:txBody>
      </p:sp>
      <p:sp>
        <p:nvSpPr>
          <p:cNvPr id="7" name="Rectangle 6"/>
          <p:cNvSpPr/>
          <p:nvPr/>
        </p:nvSpPr>
        <p:spPr>
          <a:xfrm>
            <a:off x="585216" y="6355080"/>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0" y="6419088"/>
            <a:ext cx="621792" cy="201168"/>
          </a:xfrm>
          <a:prstGeom prst="rect">
            <a:avLst/>
          </a:prstGeom>
          <a:noFill/>
        </p:spPr>
        <p:txBody>
          <a:bodyPr wrap="square" lIns="0" rIns="0" tIns="0" bIns="0" anchor="ctr">
            <a:spAutoFit/>
          </a:bodyPr>
          <a:lstStyle/>
          <a:p>
            <a:pPr algn="r">
              <a:defRPr sz="900" b="0">
                <a:solidFill>
                  <a:srgbClr val="4E5C56"/>
                </a:solidFill>
                <a:latin typeface="Aptos"/>
              </a:defRPr>
            </a:pPr>
            <a:r>
              <a:t>03 / 06</a:t>
            </a:r>
          </a:p>
        </p:txBody>
      </p:sp>
      <p:sp>
        <p:nvSpPr>
          <p:cNvPr id="9" name="Rounded Rectangle 8"/>
          <p:cNvSpPr/>
          <p:nvPr/>
        </p:nvSpPr>
        <p:spPr>
          <a:xfrm>
            <a:off x="548640" y="2286000"/>
            <a:ext cx="7653527" cy="3822191"/>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Riskora UI screenshot: ranking-table.png" descr="ranking-table.png"/>
          <p:cNvPicPr>
            <a:picLocks noChangeAspect="1"/>
          </p:cNvPicPr>
          <p:nvPr/>
        </p:nvPicPr>
        <p:blipFill>
          <a:blip r:embed="rId2"/>
          <a:stretch>
            <a:fillRect/>
          </a:stretch>
        </p:blipFill>
        <p:spPr>
          <a:xfrm>
            <a:off x="585216" y="2322576"/>
            <a:ext cx="7580375" cy="3749039"/>
          </a:xfrm>
          <a:prstGeom prst="rect">
            <a:avLst/>
          </a:prstGeom>
        </p:spPr>
      </p:pic>
      <p:sp>
        <p:nvSpPr>
          <p:cNvPr id="11" name="Rounded Rectangle 10"/>
          <p:cNvSpPr/>
          <p:nvPr/>
        </p:nvSpPr>
        <p:spPr>
          <a:xfrm>
            <a:off x="8449056" y="2322576"/>
            <a:ext cx="3145536" cy="3749039"/>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705088" y="2569464"/>
            <a:ext cx="1755648" cy="329184"/>
          </a:xfrm>
          <a:prstGeom prst="roundRect">
            <a:avLst>
              <a:gd name="adj" fmla="val 6000"/>
            </a:avLst>
          </a:prstGeom>
          <a:solidFill>
            <a:srgbClr val="136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5" y="2583180"/>
            <a:ext cx="1536192" cy="292608"/>
          </a:xfrm>
          <a:prstGeom prst="rect">
            <a:avLst/>
          </a:prstGeom>
          <a:noFill/>
        </p:spPr>
        <p:txBody>
          <a:bodyPr wrap="square" lIns="0" rIns="0" tIns="0" bIns="0" anchor="ctr">
            <a:spAutoFit/>
          </a:bodyPr>
          <a:lstStyle/>
          <a:p>
            <a:pPr>
              <a:defRPr sz="1000" b="1">
                <a:solidFill>
                  <a:srgbClr val="FFFFFF"/>
                </a:solidFill>
                <a:latin typeface="Aptos"/>
              </a:defRPr>
            </a:pPr>
            <a:r>
              <a:t>FICTIONAL SAMPLE</a:t>
            </a:r>
          </a:p>
        </p:txBody>
      </p:sp>
      <p:sp>
        <p:nvSpPr>
          <p:cNvPr id="14" name="TextBox 13"/>
          <p:cNvSpPr txBox="1"/>
          <p:nvPr/>
        </p:nvSpPr>
        <p:spPr>
          <a:xfrm>
            <a:off x="8705088" y="3090672"/>
            <a:ext cx="2670048" cy="365760"/>
          </a:xfrm>
          <a:prstGeom prst="rect">
            <a:avLst/>
          </a:prstGeom>
          <a:noFill/>
        </p:spPr>
        <p:txBody>
          <a:bodyPr wrap="square" lIns="0" rIns="0" tIns="0" bIns="0" anchor="ctr">
            <a:spAutoFit/>
          </a:bodyPr>
          <a:lstStyle/>
          <a:p>
            <a:pPr>
              <a:defRPr sz="1500" b="1">
                <a:solidFill>
                  <a:srgbClr val="18221F"/>
                </a:solidFill>
                <a:latin typeface="Aptos"/>
              </a:defRPr>
            </a:pPr>
            <a:r>
              <a:t>01  Inspect dated holdings</a:t>
            </a:r>
          </a:p>
        </p:txBody>
      </p:sp>
      <p:sp>
        <p:nvSpPr>
          <p:cNvPr id="15" name="TextBox 14"/>
          <p:cNvSpPr txBox="1"/>
          <p:nvPr/>
        </p:nvSpPr>
        <p:spPr>
          <a:xfrm>
            <a:off x="8705088" y="3803904"/>
            <a:ext cx="2670048" cy="457200"/>
          </a:xfrm>
          <a:prstGeom prst="rect">
            <a:avLst/>
          </a:prstGeom>
          <a:noFill/>
        </p:spPr>
        <p:txBody>
          <a:bodyPr wrap="square" lIns="0" rIns="0" tIns="0" bIns="0" anchor="ctr">
            <a:spAutoFit/>
          </a:bodyPr>
          <a:lstStyle/>
          <a:p>
            <a:pPr>
              <a:defRPr sz="1500" b="1">
                <a:solidFill>
                  <a:srgbClr val="18221F"/>
                </a:solidFill>
                <a:latin typeface="Aptos"/>
              </a:defRPr>
            </a:pPr>
            <a:r>
              <a:t>02  Check later-period evaluation</a:t>
            </a:r>
          </a:p>
        </p:txBody>
      </p:sp>
      <p:sp>
        <p:nvSpPr>
          <p:cNvPr id="16" name="TextBox 15"/>
          <p:cNvSpPr txBox="1"/>
          <p:nvPr/>
        </p:nvSpPr>
        <p:spPr>
          <a:xfrm>
            <a:off x="8705088" y="4608576"/>
            <a:ext cx="2670048" cy="429768"/>
          </a:xfrm>
          <a:prstGeom prst="rect">
            <a:avLst/>
          </a:prstGeom>
          <a:noFill/>
        </p:spPr>
        <p:txBody>
          <a:bodyPr wrap="square" lIns="0" rIns="0" tIns="0" bIns="0" anchor="ctr">
            <a:spAutoFit/>
          </a:bodyPr>
          <a:lstStyle/>
          <a:p>
            <a:pPr>
              <a:defRPr sz="1500" b="1">
                <a:solidFill>
                  <a:srgbClr val="18221F"/>
                </a:solidFill>
                <a:latin typeface="Aptos"/>
              </a:defRPr>
            </a:pPr>
            <a:r>
              <a:t>03  Rank and open evidence</a:t>
            </a:r>
          </a:p>
        </p:txBody>
      </p:sp>
      <p:sp>
        <p:nvSpPr>
          <p:cNvPr id="17" name="TextBox 16"/>
          <p:cNvSpPr txBox="1"/>
          <p:nvPr/>
        </p:nvSpPr>
        <p:spPr>
          <a:xfrm>
            <a:off x="8705088" y="5367528"/>
            <a:ext cx="2670048" cy="320040"/>
          </a:xfrm>
          <a:prstGeom prst="rect">
            <a:avLst/>
          </a:prstGeom>
          <a:noFill/>
        </p:spPr>
        <p:txBody>
          <a:bodyPr wrap="square" lIns="0" rIns="0" tIns="0" bIns="0" anchor="ctr">
            <a:spAutoFit/>
          </a:bodyPr>
          <a:lstStyle/>
          <a:p>
            <a:pPr>
              <a:defRPr sz="1100" b="0">
                <a:solidFill>
                  <a:srgbClr val="4E5C56"/>
                </a:solidFill>
                <a:latin typeface="Aptos"/>
              </a:defRPr>
            </a:pPr>
            <a:r>
              <a:t>7 candidates in the local synthetic demo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TextBox 1"/>
          <p:cNvSpPr txBox="1"/>
          <p:nvPr/>
        </p:nvSpPr>
        <p:spPr>
          <a:xfrm>
            <a:off x="585216" y="228600"/>
            <a:ext cx="7863840" cy="256032"/>
          </a:xfrm>
          <a:prstGeom prst="rect">
            <a:avLst/>
          </a:prstGeom>
          <a:noFill/>
        </p:spPr>
        <p:txBody>
          <a:bodyPr wrap="square" lIns="0" rIns="0" tIns="0" bIns="0" anchor="ctr">
            <a:spAutoFit/>
          </a:bodyPr>
          <a:lstStyle/>
          <a:p>
            <a:pPr>
              <a:defRPr sz="1000" b="1">
                <a:solidFill>
                  <a:srgbClr val="13664E"/>
                </a:solidFill>
                <a:latin typeface="Aptos"/>
              </a:defRPr>
            </a:pPr>
            <a:r>
              <a:t>RISKORA  /  AIBOOMI STARTUP WEEKEND KOCHI</a:t>
            </a:r>
          </a:p>
        </p:txBody>
      </p:sp>
      <p:sp>
        <p:nvSpPr>
          <p:cNvPr id="3" name="TextBox 2"/>
          <p:cNvSpPr txBox="1"/>
          <p:nvPr/>
        </p:nvSpPr>
        <p:spPr>
          <a:xfrm>
            <a:off x="9326880" y="228600"/>
            <a:ext cx="2258568" cy="256032"/>
          </a:xfrm>
          <a:prstGeom prst="rect">
            <a:avLst/>
          </a:prstGeom>
          <a:noFill/>
        </p:spPr>
        <p:txBody>
          <a:bodyPr wrap="square" lIns="0" rIns="0" tIns="0" bIns="0" anchor="ctr">
            <a:spAutoFit/>
          </a:bodyPr>
          <a:lstStyle/>
          <a:p>
            <a:pPr algn="r">
              <a:defRPr sz="1000" b="0">
                <a:solidFill>
                  <a:srgbClr val="4E5C56"/>
                </a:solidFill>
                <a:latin typeface="Aptos"/>
              </a:defRPr>
            </a:pPr>
            <a:r>
              <a:t>AI AND TECHNICAL EXECUTION</a:t>
            </a:r>
          </a:p>
        </p:txBody>
      </p:sp>
      <p:sp>
        <p:nvSpPr>
          <p:cNvPr id="4" name="Rectangle 3"/>
          <p:cNvSpPr/>
          <p:nvPr/>
        </p:nvSpPr>
        <p:spPr>
          <a:xfrm>
            <a:off x="585216" y="667512"/>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896112"/>
            <a:ext cx="10972800" cy="640080"/>
          </a:xfrm>
          <a:prstGeom prst="rect">
            <a:avLst/>
          </a:prstGeom>
          <a:noFill/>
        </p:spPr>
        <p:txBody>
          <a:bodyPr wrap="square" lIns="0" rIns="0" tIns="0" bIns="0" anchor="ctr">
            <a:spAutoFit/>
          </a:bodyPr>
          <a:lstStyle/>
          <a:p>
            <a:pPr>
              <a:defRPr sz="3000" b="1">
                <a:solidFill>
                  <a:srgbClr val="18221F"/>
                </a:solidFill>
                <a:latin typeface="Aptos Display"/>
              </a:defRPr>
            </a:pPr>
            <a:r>
              <a:t>The model is testable because time is enforced.</a:t>
            </a:r>
          </a:p>
        </p:txBody>
      </p:sp>
      <p:sp>
        <p:nvSpPr>
          <p:cNvPr id="6" name="TextBox 5"/>
          <p:cNvSpPr txBox="1"/>
          <p:nvPr/>
        </p:nvSpPr>
        <p:spPr>
          <a:xfrm>
            <a:off x="585216" y="1600200"/>
            <a:ext cx="10972800" cy="384048"/>
          </a:xfrm>
          <a:prstGeom prst="rect">
            <a:avLst/>
          </a:prstGeom>
          <a:noFill/>
        </p:spPr>
        <p:txBody>
          <a:bodyPr wrap="square" lIns="0" rIns="0" tIns="0" bIns="0" anchor="ctr">
            <a:spAutoFit/>
          </a:bodyPr>
          <a:lstStyle/>
          <a:p>
            <a:pPr>
              <a:defRPr sz="1400" b="0">
                <a:solidFill>
                  <a:srgbClr val="4E5C56"/>
                </a:solidFill>
                <a:latin typeface="Aptos"/>
              </a:defRPr>
            </a:pPr>
            <a:r>
              <a:t>Validated inputs → cutoff-dated features → baseline comparison → a separate final holdout.</a:t>
            </a:r>
          </a:p>
        </p:txBody>
      </p:sp>
      <p:sp>
        <p:nvSpPr>
          <p:cNvPr id="7" name="Rectangle 6"/>
          <p:cNvSpPr/>
          <p:nvPr/>
        </p:nvSpPr>
        <p:spPr>
          <a:xfrm>
            <a:off x="585216" y="6355080"/>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0" y="6419088"/>
            <a:ext cx="621792" cy="201168"/>
          </a:xfrm>
          <a:prstGeom prst="rect">
            <a:avLst/>
          </a:prstGeom>
          <a:noFill/>
        </p:spPr>
        <p:txBody>
          <a:bodyPr wrap="square" lIns="0" rIns="0" tIns="0" bIns="0" anchor="ctr">
            <a:spAutoFit/>
          </a:bodyPr>
          <a:lstStyle/>
          <a:p>
            <a:pPr algn="r">
              <a:defRPr sz="900" b="0">
                <a:solidFill>
                  <a:srgbClr val="4E5C56"/>
                </a:solidFill>
                <a:latin typeface="Aptos"/>
              </a:defRPr>
            </a:pPr>
            <a:r>
              <a:t>04 / 06</a:t>
            </a:r>
          </a:p>
        </p:txBody>
      </p:sp>
      <p:sp>
        <p:nvSpPr>
          <p:cNvPr id="9" name="Rounded Rectangle 8"/>
          <p:cNvSpPr/>
          <p:nvPr/>
        </p:nvSpPr>
        <p:spPr>
          <a:xfrm>
            <a:off x="585216" y="2276856"/>
            <a:ext cx="4718304" cy="859536"/>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40664" y="2496312"/>
            <a:ext cx="420624" cy="329184"/>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 y="2510028"/>
            <a:ext cx="201168" cy="292608"/>
          </a:xfrm>
          <a:prstGeom prst="rect">
            <a:avLst/>
          </a:prstGeom>
          <a:noFill/>
        </p:spPr>
        <p:txBody>
          <a:bodyPr wrap="square" lIns="0" rIns="0" tIns="0" bIns="0" anchor="ctr">
            <a:spAutoFit/>
          </a:bodyPr>
          <a:lstStyle/>
          <a:p>
            <a:pPr>
              <a:defRPr sz="1000" b="1">
                <a:solidFill>
                  <a:srgbClr val="13664E"/>
                </a:solidFill>
                <a:latin typeface="Aptos"/>
              </a:defRPr>
            </a:pPr>
            <a:r>
              <a:t>01</a:t>
            </a:r>
          </a:p>
        </p:txBody>
      </p:sp>
      <p:sp>
        <p:nvSpPr>
          <p:cNvPr id="12" name="TextBox 11"/>
          <p:cNvSpPr txBox="1"/>
          <p:nvPr/>
        </p:nvSpPr>
        <p:spPr>
          <a:xfrm>
            <a:off x="1298448" y="2423160"/>
            <a:ext cx="3785616" cy="246888"/>
          </a:xfrm>
          <a:prstGeom prst="rect">
            <a:avLst/>
          </a:prstGeom>
          <a:noFill/>
        </p:spPr>
        <p:txBody>
          <a:bodyPr wrap="square" lIns="0" rIns="0" tIns="0" bIns="0" anchor="ctr">
            <a:spAutoFit/>
          </a:bodyPr>
          <a:lstStyle/>
          <a:p>
            <a:pPr>
              <a:defRPr sz="1500" b="1">
                <a:solidFill>
                  <a:srgbClr val="18221F"/>
                </a:solidFill>
                <a:latin typeface="Aptos"/>
              </a:defRPr>
            </a:pPr>
            <a:r>
              <a:t>Validate before labelling</a:t>
            </a:r>
          </a:p>
        </p:txBody>
      </p:sp>
      <p:sp>
        <p:nvSpPr>
          <p:cNvPr id="13" name="TextBox 12"/>
          <p:cNvSpPr txBox="1"/>
          <p:nvPr/>
        </p:nvSpPr>
        <p:spPr>
          <a:xfrm>
            <a:off x="1298448" y="2715768"/>
            <a:ext cx="3785616" cy="283464"/>
          </a:xfrm>
          <a:prstGeom prst="rect">
            <a:avLst/>
          </a:prstGeom>
          <a:noFill/>
        </p:spPr>
        <p:txBody>
          <a:bodyPr wrap="square" lIns="0" rIns="0" tIns="0" bIns="0" anchor="ctr">
            <a:spAutoFit/>
          </a:bodyPr>
          <a:lstStyle/>
          <a:p>
            <a:pPr>
              <a:defRPr sz="1100" b="0">
                <a:solidFill>
                  <a:srgbClr val="4E5C56"/>
                </a:solidFill>
                <a:latin typeface="Aptos"/>
              </a:defRPr>
            </a:pPr>
            <a:r>
              <a:t>Check source URL, publication date, completeness, and ISIN.</a:t>
            </a:r>
          </a:p>
        </p:txBody>
      </p:sp>
      <p:sp>
        <p:nvSpPr>
          <p:cNvPr id="14" name="Rounded Rectangle 13"/>
          <p:cNvSpPr/>
          <p:nvPr/>
        </p:nvSpPr>
        <p:spPr>
          <a:xfrm>
            <a:off x="585216" y="3264408"/>
            <a:ext cx="4718304" cy="859536"/>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40664" y="3483863"/>
            <a:ext cx="420624" cy="329184"/>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3497579"/>
            <a:ext cx="201168" cy="292608"/>
          </a:xfrm>
          <a:prstGeom prst="rect">
            <a:avLst/>
          </a:prstGeom>
          <a:noFill/>
        </p:spPr>
        <p:txBody>
          <a:bodyPr wrap="square" lIns="0" rIns="0" tIns="0" bIns="0" anchor="ctr">
            <a:spAutoFit/>
          </a:bodyPr>
          <a:lstStyle/>
          <a:p>
            <a:pPr>
              <a:defRPr sz="1000" b="1">
                <a:solidFill>
                  <a:srgbClr val="13664E"/>
                </a:solidFill>
                <a:latin typeface="Aptos"/>
              </a:defRPr>
            </a:pPr>
            <a:r>
              <a:t>02</a:t>
            </a:r>
          </a:p>
        </p:txBody>
      </p:sp>
      <p:sp>
        <p:nvSpPr>
          <p:cNvPr id="17" name="TextBox 16"/>
          <p:cNvSpPr txBox="1"/>
          <p:nvPr/>
        </p:nvSpPr>
        <p:spPr>
          <a:xfrm>
            <a:off x="1298448" y="3410712"/>
            <a:ext cx="3785616" cy="246888"/>
          </a:xfrm>
          <a:prstGeom prst="rect">
            <a:avLst/>
          </a:prstGeom>
          <a:noFill/>
        </p:spPr>
        <p:txBody>
          <a:bodyPr wrap="square" lIns="0" rIns="0" tIns="0" bIns="0" anchor="ctr">
            <a:spAutoFit/>
          </a:bodyPr>
          <a:lstStyle/>
          <a:p>
            <a:pPr>
              <a:defRPr sz="1500" b="1">
                <a:solidFill>
                  <a:srgbClr val="18221F"/>
                </a:solidFill>
                <a:latin typeface="Aptos"/>
              </a:defRPr>
            </a:pPr>
            <a:r>
              <a:t>Rank with an inspectable model</a:t>
            </a:r>
          </a:p>
        </p:txBody>
      </p:sp>
      <p:sp>
        <p:nvSpPr>
          <p:cNvPr id="18" name="TextBox 17"/>
          <p:cNvSpPr txBox="1"/>
          <p:nvPr/>
        </p:nvSpPr>
        <p:spPr>
          <a:xfrm>
            <a:off x="1298448" y="3703320"/>
            <a:ext cx="3785616" cy="283464"/>
          </a:xfrm>
          <a:prstGeom prst="rect">
            <a:avLst/>
          </a:prstGeom>
          <a:noFill/>
        </p:spPr>
        <p:txBody>
          <a:bodyPr wrap="square" lIns="0" rIns="0" tIns="0" bIns="0" anchor="ctr">
            <a:spAutoFit/>
          </a:bodyPr>
          <a:lstStyle/>
          <a:p>
            <a:pPr>
              <a:defRPr sz="1100" b="0">
                <a:solidFill>
                  <a:srgbClr val="4E5C56"/>
                </a:solidFill>
                <a:latin typeface="Aptos"/>
              </a:defRPr>
            </a:pPr>
            <a:r>
              <a:t>Logistic classifier uses prior holdings and market signals.</a:t>
            </a:r>
          </a:p>
        </p:txBody>
      </p:sp>
      <p:sp>
        <p:nvSpPr>
          <p:cNvPr id="19" name="Rounded Rectangle 18"/>
          <p:cNvSpPr/>
          <p:nvPr/>
        </p:nvSpPr>
        <p:spPr>
          <a:xfrm>
            <a:off x="585216" y="4251960"/>
            <a:ext cx="4718304" cy="859536"/>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40664" y="4471416"/>
            <a:ext cx="420624" cy="329184"/>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 y="4485132"/>
            <a:ext cx="201168" cy="292608"/>
          </a:xfrm>
          <a:prstGeom prst="rect">
            <a:avLst/>
          </a:prstGeom>
          <a:noFill/>
        </p:spPr>
        <p:txBody>
          <a:bodyPr wrap="square" lIns="0" rIns="0" tIns="0" bIns="0" anchor="ctr">
            <a:spAutoFit/>
          </a:bodyPr>
          <a:lstStyle/>
          <a:p>
            <a:pPr>
              <a:defRPr sz="1000" b="1">
                <a:solidFill>
                  <a:srgbClr val="13664E"/>
                </a:solidFill>
                <a:latin typeface="Aptos"/>
              </a:defRPr>
            </a:pPr>
            <a:r>
              <a:t>03</a:t>
            </a:r>
          </a:p>
        </p:txBody>
      </p:sp>
      <p:sp>
        <p:nvSpPr>
          <p:cNvPr id="22" name="TextBox 21"/>
          <p:cNvSpPr txBox="1"/>
          <p:nvPr/>
        </p:nvSpPr>
        <p:spPr>
          <a:xfrm>
            <a:off x="1298448" y="4398264"/>
            <a:ext cx="3785616" cy="246888"/>
          </a:xfrm>
          <a:prstGeom prst="rect">
            <a:avLst/>
          </a:prstGeom>
          <a:noFill/>
        </p:spPr>
        <p:txBody>
          <a:bodyPr wrap="square" lIns="0" rIns="0" tIns="0" bIns="0" anchor="ctr">
            <a:spAutoFit/>
          </a:bodyPr>
          <a:lstStyle/>
          <a:p>
            <a:pPr>
              <a:defRPr sz="1500" b="1">
                <a:solidFill>
                  <a:srgbClr val="18221F"/>
                </a:solidFill>
                <a:latin typeface="Aptos"/>
              </a:defRPr>
            </a:pPr>
            <a:r>
              <a:t>Evaluate on later periods</a:t>
            </a:r>
          </a:p>
        </p:txBody>
      </p:sp>
      <p:sp>
        <p:nvSpPr>
          <p:cNvPr id="23" name="TextBox 22"/>
          <p:cNvSpPr txBox="1"/>
          <p:nvPr/>
        </p:nvSpPr>
        <p:spPr>
          <a:xfrm>
            <a:off x="1298448" y="4690872"/>
            <a:ext cx="3785616" cy="283464"/>
          </a:xfrm>
          <a:prstGeom prst="rect">
            <a:avLst/>
          </a:prstGeom>
          <a:noFill/>
        </p:spPr>
        <p:txBody>
          <a:bodyPr wrap="square" lIns="0" rIns="0" tIns="0" bIns="0" anchor="ctr">
            <a:spAutoFit/>
          </a:bodyPr>
          <a:lstStyle/>
          <a:p>
            <a:pPr>
              <a:defRPr sz="1100" b="0">
                <a:solidFill>
                  <a:srgbClr val="4E5C56"/>
                </a:solidFill>
                <a:latin typeface="Aptos"/>
              </a:defRPr>
            </a:pPr>
            <a:r>
              <a:t>Walk-forward checks and final holdout versus simple baselines.</a:t>
            </a:r>
          </a:p>
        </p:txBody>
      </p:sp>
      <p:sp>
        <p:nvSpPr>
          <p:cNvPr id="24" name="Rounded Rectangle 23"/>
          <p:cNvSpPr/>
          <p:nvPr/>
        </p:nvSpPr>
        <p:spPr>
          <a:xfrm>
            <a:off x="585216" y="5294376"/>
            <a:ext cx="4718304" cy="658368"/>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8952" y="5413248"/>
            <a:ext cx="4343400" cy="438912"/>
          </a:xfrm>
          <a:prstGeom prst="rect">
            <a:avLst/>
          </a:prstGeom>
          <a:noFill/>
        </p:spPr>
        <p:txBody>
          <a:bodyPr wrap="square" lIns="0" rIns="0" tIns="0" bIns="0" anchor="ctr">
            <a:spAutoFit/>
          </a:bodyPr>
          <a:lstStyle/>
          <a:p>
            <a:pPr>
              <a:defRPr sz="1100" b="0">
                <a:solidFill>
                  <a:srgbClr val="13664E"/>
                </a:solidFill>
                <a:latin typeface="Aptos"/>
              </a:defRPr>
            </a:pPr>
            <a:r>
              <a:t>Optional LLM: grounded facts from supplied excerpts; not configured in this demo.</a:t>
            </a:r>
          </a:p>
        </p:txBody>
      </p:sp>
      <p:sp>
        <p:nvSpPr>
          <p:cNvPr id="26" name="Rounded Rectangle 25"/>
          <p:cNvSpPr/>
          <p:nvPr/>
        </p:nvSpPr>
        <p:spPr>
          <a:xfrm>
            <a:off x="5559552" y="2249424"/>
            <a:ext cx="6071616" cy="3081528"/>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Riskora UI screenshot: holdout-table.png" descr="holdout-table.png"/>
          <p:cNvPicPr>
            <a:picLocks noChangeAspect="1"/>
          </p:cNvPicPr>
          <p:nvPr/>
        </p:nvPicPr>
        <p:blipFill>
          <a:blip r:embed="rId2"/>
          <a:stretch>
            <a:fillRect/>
          </a:stretch>
        </p:blipFill>
        <p:spPr>
          <a:xfrm>
            <a:off x="5596128" y="2286000"/>
            <a:ext cx="5998464" cy="3008376"/>
          </a:xfrm>
          <a:prstGeom prst="rect">
            <a:avLst/>
          </a:prstGeom>
        </p:spPr>
      </p:pic>
      <p:sp>
        <p:nvSpPr>
          <p:cNvPr id="28" name="Rounded Rectangle 27"/>
          <p:cNvSpPr/>
          <p:nvPr/>
        </p:nvSpPr>
        <p:spPr>
          <a:xfrm>
            <a:off x="5596128" y="5431536"/>
            <a:ext cx="5998464" cy="521207"/>
          </a:xfrm>
          <a:prstGeom prst="roundRect">
            <a:avLst>
              <a:gd name="adj" fmla="val 6000"/>
            </a:avLst>
          </a:prstGeom>
          <a:solidFill>
            <a:srgbClr val="F1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79008" y="5541264"/>
            <a:ext cx="5660136" cy="301752"/>
          </a:xfrm>
          <a:prstGeom prst="rect">
            <a:avLst/>
          </a:prstGeom>
          <a:noFill/>
        </p:spPr>
        <p:txBody>
          <a:bodyPr wrap="square" lIns="0" rIns="0" tIns="0" bIns="0" anchor="ctr">
            <a:spAutoFit/>
          </a:bodyPr>
          <a:lstStyle/>
          <a:p>
            <a:pPr>
              <a:defRPr sz="1100" b="1">
                <a:solidFill>
                  <a:srgbClr val="18221F"/>
                </a:solidFill>
                <a:latin typeface="Aptos"/>
              </a:defRPr>
            </a:pPr>
            <a:r>
              <a:t>Synthetic holdout only · 14 cases, 2 additions · not real-market accuracy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TextBox 1"/>
          <p:cNvSpPr txBox="1"/>
          <p:nvPr/>
        </p:nvSpPr>
        <p:spPr>
          <a:xfrm>
            <a:off x="585216" y="228600"/>
            <a:ext cx="7863840" cy="256032"/>
          </a:xfrm>
          <a:prstGeom prst="rect">
            <a:avLst/>
          </a:prstGeom>
          <a:noFill/>
        </p:spPr>
        <p:txBody>
          <a:bodyPr wrap="square" lIns="0" rIns="0" tIns="0" bIns="0" anchor="ctr">
            <a:spAutoFit/>
          </a:bodyPr>
          <a:lstStyle/>
          <a:p>
            <a:pPr>
              <a:defRPr sz="1000" b="1">
                <a:solidFill>
                  <a:srgbClr val="13664E"/>
                </a:solidFill>
                <a:latin typeface="Aptos"/>
              </a:defRPr>
            </a:pPr>
            <a:r>
              <a:t>RISKORA  /  AIBOOMI STARTUP WEEKEND KOCHI</a:t>
            </a:r>
          </a:p>
        </p:txBody>
      </p:sp>
      <p:sp>
        <p:nvSpPr>
          <p:cNvPr id="3" name="TextBox 2"/>
          <p:cNvSpPr txBox="1"/>
          <p:nvPr/>
        </p:nvSpPr>
        <p:spPr>
          <a:xfrm>
            <a:off x="9326880" y="228600"/>
            <a:ext cx="2258568" cy="256032"/>
          </a:xfrm>
          <a:prstGeom prst="rect">
            <a:avLst/>
          </a:prstGeom>
          <a:noFill/>
        </p:spPr>
        <p:txBody>
          <a:bodyPr wrap="square" lIns="0" rIns="0" tIns="0" bIns="0" anchor="ctr">
            <a:spAutoFit/>
          </a:bodyPr>
          <a:lstStyle/>
          <a:p>
            <a:pPr algn="r">
              <a:defRPr sz="1000" b="0">
                <a:solidFill>
                  <a:srgbClr val="4E5C56"/>
                </a:solidFill>
                <a:latin typeface="Aptos"/>
              </a:defRPr>
            </a:pPr>
            <a:r>
              <a:t>VALUE AND VIABILITY</a:t>
            </a:r>
          </a:p>
        </p:txBody>
      </p:sp>
      <p:sp>
        <p:nvSpPr>
          <p:cNvPr id="4" name="Rectangle 3"/>
          <p:cNvSpPr/>
          <p:nvPr/>
        </p:nvSpPr>
        <p:spPr>
          <a:xfrm>
            <a:off x="585216" y="667512"/>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896112"/>
            <a:ext cx="10972800" cy="640080"/>
          </a:xfrm>
          <a:prstGeom prst="rect">
            <a:avLst/>
          </a:prstGeom>
          <a:noFill/>
        </p:spPr>
        <p:txBody>
          <a:bodyPr wrap="square" lIns="0" rIns="0" tIns="0" bIns="0" anchor="ctr">
            <a:spAutoFit/>
          </a:bodyPr>
          <a:lstStyle/>
          <a:p>
            <a:pPr>
              <a:defRPr sz="3000" b="1">
                <a:solidFill>
                  <a:srgbClr val="18221F"/>
                </a:solidFill>
                <a:latin typeface="Aptos Display"/>
              </a:defRPr>
            </a:pPr>
            <a:r>
              <a:t>Test an analyst workflow before setting a price.</a:t>
            </a:r>
          </a:p>
        </p:txBody>
      </p:sp>
      <p:sp>
        <p:nvSpPr>
          <p:cNvPr id="6" name="TextBox 5"/>
          <p:cNvSpPr txBox="1"/>
          <p:nvPr/>
        </p:nvSpPr>
        <p:spPr>
          <a:xfrm>
            <a:off x="585216" y="1600200"/>
            <a:ext cx="10972800" cy="384048"/>
          </a:xfrm>
          <a:prstGeom prst="rect">
            <a:avLst/>
          </a:prstGeom>
          <a:noFill/>
        </p:spPr>
        <p:txBody>
          <a:bodyPr wrap="square" lIns="0" rIns="0" tIns="0" bIns="0" anchor="ctr">
            <a:spAutoFit/>
          </a:bodyPr>
          <a:lstStyle/>
          <a:p>
            <a:pPr>
              <a:defRPr sz="1400" b="0">
                <a:solidFill>
                  <a:srgbClr val="4E5C56"/>
                </a:solidFill>
                <a:latin typeface="Aptos"/>
              </a:defRPr>
            </a:pPr>
            <a:r>
              <a:t>Potential value is less manual sorting and a clearer audit trail for research decisions.</a:t>
            </a:r>
          </a:p>
        </p:txBody>
      </p:sp>
      <p:sp>
        <p:nvSpPr>
          <p:cNvPr id="7" name="Rectangle 6"/>
          <p:cNvSpPr/>
          <p:nvPr/>
        </p:nvSpPr>
        <p:spPr>
          <a:xfrm>
            <a:off x="585216" y="6355080"/>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0" y="6419088"/>
            <a:ext cx="621792" cy="201168"/>
          </a:xfrm>
          <a:prstGeom prst="rect">
            <a:avLst/>
          </a:prstGeom>
          <a:noFill/>
        </p:spPr>
        <p:txBody>
          <a:bodyPr wrap="square" lIns="0" rIns="0" tIns="0" bIns="0" anchor="ctr">
            <a:spAutoFit/>
          </a:bodyPr>
          <a:lstStyle/>
          <a:p>
            <a:pPr algn="r">
              <a:defRPr sz="900" b="0">
                <a:solidFill>
                  <a:srgbClr val="4E5C56"/>
                </a:solidFill>
                <a:latin typeface="Aptos"/>
              </a:defRPr>
            </a:pPr>
            <a:r>
              <a:t>05 / 06</a:t>
            </a:r>
          </a:p>
        </p:txBody>
      </p:sp>
      <p:sp>
        <p:nvSpPr>
          <p:cNvPr id="9" name="Rounded Rectangle 8"/>
          <p:cNvSpPr/>
          <p:nvPr/>
        </p:nvSpPr>
        <p:spPr>
          <a:xfrm>
            <a:off x="585216" y="2432304"/>
            <a:ext cx="3557016" cy="2578608"/>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679192"/>
            <a:ext cx="3090672" cy="256032"/>
          </a:xfrm>
          <a:prstGeom prst="rect">
            <a:avLst/>
          </a:prstGeom>
          <a:noFill/>
        </p:spPr>
        <p:txBody>
          <a:bodyPr wrap="square" lIns="0" rIns="0" tIns="0" bIns="0" anchor="ctr">
            <a:spAutoFit/>
          </a:bodyPr>
          <a:lstStyle/>
          <a:p>
            <a:pPr>
              <a:defRPr sz="1000" b="1">
                <a:solidFill>
                  <a:srgbClr val="13664E"/>
                </a:solidFill>
                <a:latin typeface="Aptos"/>
              </a:defRPr>
            </a:pPr>
            <a:r>
              <a:t>USER TO INTERVIEW</a:t>
            </a:r>
          </a:p>
        </p:txBody>
      </p:sp>
      <p:sp>
        <p:nvSpPr>
          <p:cNvPr id="11" name="TextBox 10"/>
          <p:cNvSpPr txBox="1"/>
          <p:nvPr/>
        </p:nvSpPr>
        <p:spPr>
          <a:xfrm>
            <a:off x="804672" y="3127248"/>
            <a:ext cx="3108960" cy="493776"/>
          </a:xfrm>
          <a:prstGeom prst="rect">
            <a:avLst/>
          </a:prstGeom>
          <a:noFill/>
        </p:spPr>
        <p:txBody>
          <a:bodyPr wrap="square" lIns="0" rIns="0" tIns="0" bIns="0" anchor="ctr">
            <a:spAutoFit/>
          </a:bodyPr>
          <a:lstStyle/>
          <a:p>
            <a:pPr>
              <a:defRPr sz="2100" b="1">
                <a:solidFill>
                  <a:srgbClr val="18221F"/>
                </a:solidFill>
                <a:latin typeface="Aptos"/>
              </a:defRPr>
            </a:pPr>
            <a:r>
              <a:t>Fund research teams</a:t>
            </a:r>
          </a:p>
        </p:txBody>
      </p:sp>
      <p:sp>
        <p:nvSpPr>
          <p:cNvPr id="12" name="TextBox 11"/>
          <p:cNvSpPr txBox="1"/>
          <p:nvPr/>
        </p:nvSpPr>
        <p:spPr>
          <a:xfrm>
            <a:off x="804672" y="3813048"/>
            <a:ext cx="3081528" cy="804672"/>
          </a:xfrm>
          <a:prstGeom prst="rect">
            <a:avLst/>
          </a:prstGeom>
          <a:noFill/>
        </p:spPr>
        <p:txBody>
          <a:bodyPr wrap="square" lIns="0" rIns="0" tIns="0" bIns="0" anchor="ctr">
            <a:spAutoFit/>
          </a:bodyPr>
          <a:lstStyle/>
          <a:p>
            <a:pPr>
              <a:defRPr sz="1400" b="0">
                <a:solidFill>
                  <a:srgbClr val="4E5C56"/>
                </a:solidFill>
                <a:latin typeface="Aptos"/>
              </a:defRPr>
            </a:pPr>
            <a:r>
              <a:t>Start with analysts and independent desks already comparing disclosures.</a:t>
            </a:r>
          </a:p>
        </p:txBody>
      </p:sp>
      <p:sp>
        <p:nvSpPr>
          <p:cNvPr id="13" name="Rounded Rectangle 12"/>
          <p:cNvSpPr/>
          <p:nvPr/>
        </p:nvSpPr>
        <p:spPr>
          <a:xfrm>
            <a:off x="4306824" y="2432304"/>
            <a:ext cx="3557016" cy="2578608"/>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2679192"/>
            <a:ext cx="3090672" cy="256032"/>
          </a:xfrm>
          <a:prstGeom prst="rect">
            <a:avLst/>
          </a:prstGeom>
          <a:noFill/>
        </p:spPr>
        <p:txBody>
          <a:bodyPr wrap="square" lIns="0" rIns="0" tIns="0" bIns="0" anchor="ctr">
            <a:spAutoFit/>
          </a:bodyPr>
          <a:lstStyle/>
          <a:p>
            <a:pPr>
              <a:defRPr sz="1000" b="1">
                <a:solidFill>
                  <a:srgbClr val="13664E"/>
                </a:solidFill>
                <a:latin typeface="Aptos"/>
              </a:defRPr>
            </a:pPr>
            <a:r>
              <a:t>PILOT TO RUN</a:t>
            </a:r>
          </a:p>
        </p:txBody>
      </p:sp>
      <p:sp>
        <p:nvSpPr>
          <p:cNvPr id="15" name="TextBox 14"/>
          <p:cNvSpPr txBox="1"/>
          <p:nvPr/>
        </p:nvSpPr>
        <p:spPr>
          <a:xfrm>
            <a:off x="4526280" y="3127248"/>
            <a:ext cx="3108960" cy="493776"/>
          </a:xfrm>
          <a:prstGeom prst="rect">
            <a:avLst/>
          </a:prstGeom>
          <a:noFill/>
        </p:spPr>
        <p:txBody>
          <a:bodyPr wrap="square" lIns="0" rIns="0" tIns="0" bIns="0" anchor="ctr">
            <a:spAutoFit/>
          </a:bodyPr>
          <a:lstStyle/>
          <a:p>
            <a:pPr>
              <a:defRPr sz="2100" b="1">
                <a:solidFill>
                  <a:srgbClr val="18221F"/>
                </a:solidFill>
                <a:latin typeface="Aptos"/>
              </a:defRPr>
            </a:pPr>
            <a:r>
              <a:t>Supervised research</a:t>
            </a:r>
          </a:p>
        </p:txBody>
      </p:sp>
      <p:sp>
        <p:nvSpPr>
          <p:cNvPr id="16" name="TextBox 15"/>
          <p:cNvSpPr txBox="1"/>
          <p:nvPr/>
        </p:nvSpPr>
        <p:spPr>
          <a:xfrm>
            <a:off x="4526280" y="3813048"/>
            <a:ext cx="3081528" cy="804672"/>
          </a:xfrm>
          <a:prstGeom prst="rect">
            <a:avLst/>
          </a:prstGeom>
          <a:noFill/>
        </p:spPr>
        <p:txBody>
          <a:bodyPr wrap="square" lIns="0" rIns="0" tIns="0" bIns="0" anchor="ctr">
            <a:spAutoFit/>
          </a:bodyPr>
          <a:lstStyle/>
          <a:p>
            <a:pPr>
              <a:defRPr sz="1400" b="0">
                <a:solidFill>
                  <a:srgbClr val="4E5C56"/>
                </a:solidFill>
                <a:latin typeface="Aptos"/>
              </a:defRPr>
            </a:pPr>
            <a:r>
              <a:t>Use permissioned historical data; observe how teams inspect the shortlist.</a:t>
            </a:r>
          </a:p>
        </p:txBody>
      </p:sp>
      <p:sp>
        <p:nvSpPr>
          <p:cNvPr id="17" name="Rounded Rectangle 16"/>
          <p:cNvSpPr/>
          <p:nvPr/>
        </p:nvSpPr>
        <p:spPr>
          <a:xfrm>
            <a:off x="8028431" y="2432304"/>
            <a:ext cx="3557016" cy="2578608"/>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2679192"/>
            <a:ext cx="3090672" cy="256032"/>
          </a:xfrm>
          <a:prstGeom prst="rect">
            <a:avLst/>
          </a:prstGeom>
          <a:noFill/>
        </p:spPr>
        <p:txBody>
          <a:bodyPr wrap="square" lIns="0" rIns="0" tIns="0" bIns="0" anchor="ctr">
            <a:spAutoFit/>
          </a:bodyPr>
          <a:lstStyle/>
          <a:p>
            <a:pPr>
              <a:defRPr sz="1000" b="1">
                <a:solidFill>
                  <a:srgbClr val="13664E"/>
                </a:solidFill>
                <a:latin typeface="Aptos"/>
              </a:defRPr>
            </a:pPr>
            <a:r>
              <a:t>MEASURE</a:t>
            </a:r>
          </a:p>
        </p:txBody>
      </p:sp>
      <p:sp>
        <p:nvSpPr>
          <p:cNvPr id="19" name="TextBox 18"/>
          <p:cNvSpPr txBox="1"/>
          <p:nvPr/>
        </p:nvSpPr>
        <p:spPr>
          <a:xfrm>
            <a:off x="8247888" y="3127248"/>
            <a:ext cx="3108960" cy="493776"/>
          </a:xfrm>
          <a:prstGeom prst="rect">
            <a:avLst/>
          </a:prstGeom>
          <a:noFill/>
        </p:spPr>
        <p:txBody>
          <a:bodyPr wrap="square" lIns="0" rIns="0" tIns="0" bIns="0" anchor="ctr">
            <a:spAutoFit/>
          </a:bodyPr>
          <a:lstStyle/>
          <a:p>
            <a:pPr>
              <a:defRPr sz="2100" b="1">
                <a:solidFill>
                  <a:srgbClr val="18221F"/>
                </a:solidFill>
                <a:latin typeface="Aptos"/>
              </a:defRPr>
            </a:pPr>
            <a:r>
              <a:t>Time and trust</a:t>
            </a:r>
          </a:p>
        </p:txBody>
      </p:sp>
      <p:sp>
        <p:nvSpPr>
          <p:cNvPr id="20" name="TextBox 19"/>
          <p:cNvSpPr txBox="1"/>
          <p:nvPr/>
        </p:nvSpPr>
        <p:spPr>
          <a:xfrm>
            <a:off x="8247888" y="3813048"/>
            <a:ext cx="3081528" cy="804672"/>
          </a:xfrm>
          <a:prstGeom prst="rect">
            <a:avLst/>
          </a:prstGeom>
          <a:noFill/>
        </p:spPr>
        <p:txBody>
          <a:bodyPr wrap="square" lIns="0" rIns="0" tIns="0" bIns="0" anchor="ctr">
            <a:spAutoFit/>
          </a:bodyPr>
          <a:lstStyle/>
          <a:p>
            <a:pPr>
              <a:defRPr sz="1400" b="0">
                <a:solidFill>
                  <a:srgbClr val="4E5C56"/>
                </a:solidFill>
                <a:latin typeface="Aptos"/>
              </a:defRPr>
            </a:pPr>
            <a:r>
              <a:t>Compare review time, evidence traceability, and ranking lift over baselines.</a:t>
            </a:r>
          </a:p>
        </p:txBody>
      </p:sp>
      <p:sp>
        <p:nvSpPr>
          <p:cNvPr id="21" name="Rounded Rectangle 20"/>
          <p:cNvSpPr/>
          <p:nvPr/>
        </p:nvSpPr>
        <p:spPr>
          <a:xfrm>
            <a:off x="585216" y="5330952"/>
            <a:ext cx="11000232" cy="630936"/>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2" y="5458968"/>
            <a:ext cx="7909560" cy="365760"/>
          </a:xfrm>
          <a:prstGeom prst="rect">
            <a:avLst/>
          </a:prstGeom>
          <a:noFill/>
        </p:spPr>
        <p:txBody>
          <a:bodyPr wrap="square" lIns="0" rIns="0" tIns="0" bIns="0" anchor="ctr">
            <a:spAutoFit/>
          </a:bodyPr>
          <a:lstStyle/>
          <a:p>
            <a:pPr>
              <a:defRPr sz="1600" b="1">
                <a:solidFill>
                  <a:srgbClr val="13664E"/>
                </a:solidFill>
                <a:latin typeface="Aptos"/>
              </a:defRPr>
            </a:pPr>
            <a:r>
              <a:t>Business hypothesis: a research-team license after a successful pilot.</a:t>
            </a:r>
          </a:p>
        </p:txBody>
      </p:sp>
      <p:sp>
        <p:nvSpPr>
          <p:cNvPr id="23" name="TextBox 22"/>
          <p:cNvSpPr txBox="1"/>
          <p:nvPr/>
        </p:nvSpPr>
        <p:spPr>
          <a:xfrm>
            <a:off x="8485632" y="5522976"/>
            <a:ext cx="2834640" cy="219456"/>
          </a:xfrm>
          <a:prstGeom prst="rect">
            <a:avLst/>
          </a:prstGeom>
          <a:noFill/>
        </p:spPr>
        <p:txBody>
          <a:bodyPr wrap="square" lIns="0" rIns="0" tIns="0" bIns="0" anchor="ctr">
            <a:spAutoFit/>
          </a:bodyPr>
          <a:lstStyle/>
          <a:p>
            <a:pPr algn="r">
              <a:defRPr sz="1000" b="0">
                <a:solidFill>
                  <a:srgbClr val="4E5C56"/>
                </a:solidFill>
                <a:latin typeface="Aptos"/>
              </a:defRPr>
            </a:pPr>
            <a:r>
              <a:t>No customer interviews or paying users yet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TextBox 1"/>
          <p:cNvSpPr txBox="1"/>
          <p:nvPr/>
        </p:nvSpPr>
        <p:spPr>
          <a:xfrm>
            <a:off x="585216" y="228600"/>
            <a:ext cx="7863840" cy="256032"/>
          </a:xfrm>
          <a:prstGeom prst="rect">
            <a:avLst/>
          </a:prstGeom>
          <a:noFill/>
        </p:spPr>
        <p:txBody>
          <a:bodyPr wrap="square" lIns="0" rIns="0" tIns="0" bIns="0" anchor="ctr">
            <a:spAutoFit/>
          </a:bodyPr>
          <a:lstStyle/>
          <a:p>
            <a:pPr>
              <a:defRPr sz="1000" b="1">
                <a:solidFill>
                  <a:srgbClr val="13664E"/>
                </a:solidFill>
                <a:latin typeface="Aptos"/>
              </a:defRPr>
            </a:pPr>
            <a:r>
              <a:t>RISKORA  /  AIBOOMI STARTUP WEEKEND KOCHI</a:t>
            </a:r>
          </a:p>
        </p:txBody>
      </p:sp>
      <p:sp>
        <p:nvSpPr>
          <p:cNvPr id="3" name="TextBox 2"/>
          <p:cNvSpPr txBox="1"/>
          <p:nvPr/>
        </p:nvSpPr>
        <p:spPr>
          <a:xfrm>
            <a:off x="9326880" y="228600"/>
            <a:ext cx="2258568" cy="256032"/>
          </a:xfrm>
          <a:prstGeom prst="rect">
            <a:avLst/>
          </a:prstGeom>
          <a:noFill/>
        </p:spPr>
        <p:txBody>
          <a:bodyPr wrap="square" lIns="0" rIns="0" tIns="0" bIns="0" anchor="ctr">
            <a:spAutoFit/>
          </a:bodyPr>
          <a:lstStyle/>
          <a:p>
            <a:pPr algn="r">
              <a:defRPr sz="1000" b="0">
                <a:solidFill>
                  <a:srgbClr val="4E5C56"/>
                </a:solidFill>
                <a:latin typeface="Aptos"/>
              </a:defRPr>
            </a:pPr>
            <a:r>
              <a:t>PROOF AND NEXT STEPS</a:t>
            </a:r>
          </a:p>
        </p:txBody>
      </p:sp>
      <p:sp>
        <p:nvSpPr>
          <p:cNvPr id="4" name="Rectangle 3"/>
          <p:cNvSpPr/>
          <p:nvPr/>
        </p:nvSpPr>
        <p:spPr>
          <a:xfrm>
            <a:off x="585216" y="667512"/>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896112"/>
            <a:ext cx="10972800" cy="640080"/>
          </a:xfrm>
          <a:prstGeom prst="rect">
            <a:avLst/>
          </a:prstGeom>
          <a:noFill/>
        </p:spPr>
        <p:txBody>
          <a:bodyPr wrap="square" lIns="0" rIns="0" tIns="0" bIns="0" anchor="ctr">
            <a:spAutoFit/>
          </a:bodyPr>
          <a:lstStyle/>
          <a:p>
            <a:pPr>
              <a:defRPr sz="3000" b="1">
                <a:solidFill>
                  <a:srgbClr val="18221F"/>
                </a:solidFill>
                <a:latin typeface="Aptos Display"/>
              </a:defRPr>
            </a:pPr>
            <a:r>
              <a:t>A working MVP with a clear validation path.</a:t>
            </a:r>
          </a:p>
        </p:txBody>
      </p:sp>
      <p:sp>
        <p:nvSpPr>
          <p:cNvPr id="6" name="TextBox 5"/>
          <p:cNvSpPr txBox="1"/>
          <p:nvPr/>
        </p:nvSpPr>
        <p:spPr>
          <a:xfrm>
            <a:off x="585216" y="1600200"/>
            <a:ext cx="10972800" cy="384048"/>
          </a:xfrm>
          <a:prstGeom prst="rect">
            <a:avLst/>
          </a:prstGeom>
          <a:noFill/>
        </p:spPr>
        <p:txBody>
          <a:bodyPr wrap="square" lIns="0" rIns="0" tIns="0" bIns="0" anchor="ctr">
            <a:spAutoFit/>
          </a:bodyPr>
          <a:lstStyle/>
          <a:p>
            <a:pPr>
              <a:defRPr sz="1400" b="0">
                <a:solidFill>
                  <a:srgbClr val="4E5C56"/>
                </a:solidFill>
                <a:latin typeface="Aptos"/>
              </a:defRPr>
            </a:pPr>
            <a:r>
              <a:t>The current product demonstrates the research workflow; real-market accuracy still needs evidence.</a:t>
            </a:r>
          </a:p>
        </p:txBody>
      </p:sp>
      <p:sp>
        <p:nvSpPr>
          <p:cNvPr id="7" name="Rectangle 6"/>
          <p:cNvSpPr/>
          <p:nvPr/>
        </p:nvSpPr>
        <p:spPr>
          <a:xfrm>
            <a:off x="585216" y="6355080"/>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0" y="6419088"/>
            <a:ext cx="621792" cy="201168"/>
          </a:xfrm>
          <a:prstGeom prst="rect">
            <a:avLst/>
          </a:prstGeom>
          <a:noFill/>
        </p:spPr>
        <p:txBody>
          <a:bodyPr wrap="square" lIns="0" rIns="0" tIns="0" bIns="0" anchor="ctr">
            <a:spAutoFit/>
          </a:bodyPr>
          <a:lstStyle/>
          <a:p>
            <a:pPr algn="r">
              <a:defRPr sz="900" b="0">
                <a:solidFill>
                  <a:srgbClr val="4E5C56"/>
                </a:solidFill>
                <a:latin typeface="Aptos"/>
              </a:defRPr>
            </a:pPr>
            <a:r>
              <a:t>06 / 06</a:t>
            </a:r>
          </a:p>
        </p:txBody>
      </p:sp>
      <p:sp>
        <p:nvSpPr>
          <p:cNvPr id="9" name="Rounded Rectangle 8"/>
          <p:cNvSpPr/>
          <p:nvPr/>
        </p:nvSpPr>
        <p:spPr>
          <a:xfrm>
            <a:off x="585216" y="2304288"/>
            <a:ext cx="5349240" cy="3127248"/>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578608"/>
            <a:ext cx="4800600" cy="283464"/>
          </a:xfrm>
          <a:prstGeom prst="rect">
            <a:avLst/>
          </a:prstGeom>
          <a:noFill/>
        </p:spPr>
        <p:txBody>
          <a:bodyPr wrap="square" lIns="0" rIns="0" tIns="0" bIns="0" anchor="ctr">
            <a:spAutoFit/>
          </a:bodyPr>
          <a:lstStyle/>
          <a:p>
            <a:pPr>
              <a:defRPr sz="1100" b="1">
                <a:solidFill>
                  <a:srgbClr val="13664E"/>
                </a:solidFill>
                <a:latin typeface="Aptos"/>
              </a:defRPr>
            </a:pPr>
            <a:r>
              <a:t>WORKS TODAY</a:t>
            </a:r>
          </a:p>
        </p:txBody>
      </p:sp>
      <p:sp>
        <p:nvSpPr>
          <p:cNvPr id="11" name="TextBox 10"/>
          <p:cNvSpPr txBox="1"/>
          <p:nvPr/>
        </p:nvSpPr>
        <p:spPr>
          <a:xfrm>
            <a:off x="841248" y="3017520"/>
            <a:ext cx="4718304" cy="2029968"/>
          </a:xfrm>
          <a:prstGeom prst="rect">
            <a:avLst/>
          </a:prstGeom>
          <a:noFill/>
        </p:spPr>
        <p:txBody>
          <a:bodyPr wrap="square" lIns="0" rIns="0" tIns="0" bIns="0" anchor="ctr">
            <a:spAutoFit/>
          </a:bodyPr>
          <a:lstStyle/>
          <a:p>
            <a:pPr>
              <a:defRPr sz="1700" b="0">
                <a:solidFill>
                  <a:srgbClr val="18221F"/>
                </a:solidFill>
                <a:latin typeface="Aptos"/>
              </a:defRPr>
            </a:pPr>
            <a:r>
              <a:t>• Six-screen research app and CSV imports</a:t>
            </a:r>
            <a:br/>
            <a:r>
              <a:t>• Two AMC workbooks checked against holdings CSVs</a:t>
            </a:r>
            <a:br/>
            <a:r>
              <a:t>• Synthetic model, saved holdout, rankings, evidence</a:t>
            </a:r>
          </a:p>
        </p:txBody>
      </p:sp>
      <p:sp>
        <p:nvSpPr>
          <p:cNvPr id="12" name="Rounded Rectangle 11"/>
          <p:cNvSpPr/>
          <p:nvPr/>
        </p:nvSpPr>
        <p:spPr>
          <a:xfrm>
            <a:off x="6190488" y="2304288"/>
            <a:ext cx="5404104" cy="3127248"/>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578608"/>
            <a:ext cx="4828032" cy="283464"/>
          </a:xfrm>
          <a:prstGeom prst="rect">
            <a:avLst/>
          </a:prstGeom>
          <a:noFill/>
        </p:spPr>
        <p:txBody>
          <a:bodyPr wrap="square" lIns="0" rIns="0" tIns="0" bIns="0" anchor="ctr">
            <a:spAutoFit/>
          </a:bodyPr>
          <a:lstStyle/>
          <a:p>
            <a:pPr>
              <a:defRPr sz="1100" b="1">
                <a:solidFill>
                  <a:srgbClr val="13664E"/>
                </a:solidFill>
                <a:latin typeface="Aptos"/>
              </a:defRPr>
            </a:pPr>
            <a:r>
              <a:t>NEEDS PROOF</a:t>
            </a:r>
          </a:p>
        </p:txBody>
      </p:sp>
      <p:sp>
        <p:nvSpPr>
          <p:cNvPr id="14" name="TextBox 13"/>
          <p:cNvSpPr txBox="1"/>
          <p:nvPr/>
        </p:nvSpPr>
        <p:spPr>
          <a:xfrm>
            <a:off x="6455664" y="3017520"/>
            <a:ext cx="4754880" cy="2029968"/>
          </a:xfrm>
          <a:prstGeom prst="rect">
            <a:avLst/>
          </a:prstGeom>
          <a:noFill/>
        </p:spPr>
        <p:txBody>
          <a:bodyPr wrap="square" lIns="0" rIns="0" tIns="0" bIns="0" anchor="ctr">
            <a:spAutoFit/>
          </a:bodyPr>
          <a:lstStyle/>
          <a:p>
            <a:pPr>
              <a:defRPr sz="1700" b="0">
                <a:solidFill>
                  <a:srgbClr val="18221F"/>
                </a:solidFill>
                <a:latin typeface="Aptos"/>
              </a:defRPr>
            </a:pPr>
            <a:r>
              <a:t>• Verify release dates and data-use rights</a:t>
            </a:r>
            <a:br/>
            <a:r>
              <a:t>• Run real holdouts across funds and periods</a:t>
            </a:r>
            <a:br/>
            <a:r>
              <a:t>• Test usefulness with research teams</a:t>
            </a:r>
          </a:p>
        </p:txBody>
      </p:sp>
      <p:sp>
        <p:nvSpPr>
          <p:cNvPr id="15" name="Rounded Rectangle 14"/>
          <p:cNvSpPr/>
          <p:nvPr/>
        </p:nvSpPr>
        <p:spPr>
          <a:xfrm>
            <a:off x="585216" y="5596128"/>
            <a:ext cx="11000232" cy="484632"/>
          </a:xfrm>
          <a:prstGeom prst="roundRect">
            <a:avLst>
              <a:gd name="adj" fmla="val 6000"/>
            </a:avLst>
          </a:prstGeom>
          <a:solidFill>
            <a:srgbClr val="136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 y="5687568"/>
            <a:ext cx="10479024" cy="265176"/>
          </a:xfrm>
          <a:prstGeom prst="rect">
            <a:avLst/>
          </a:prstGeom>
          <a:noFill/>
        </p:spPr>
        <p:txBody>
          <a:bodyPr wrap="square" lIns="0" rIns="0" tIns="0" bIns="0" anchor="ctr">
            <a:spAutoFit/>
          </a:bodyPr>
          <a:lstStyle/>
          <a:p>
            <a:pPr>
              <a:defRPr sz="1500" b="1">
                <a:solidFill>
                  <a:srgbClr val="FFFFFF"/>
                </a:solidFill>
                <a:latin typeface="Aptos"/>
              </a:defRPr>
            </a:pPr>
            <a:r>
              <a:t>ASK: two research teams and permissioned historical data for a measured pilot</a:t>
            </a:r>
          </a:p>
        </p:txBody>
      </p:sp>
      <p:sp>
        <p:nvSpPr>
          <p:cNvPr id="17" name="TextBox 16"/>
          <p:cNvSpPr txBox="1"/>
          <p:nvPr/>
        </p:nvSpPr>
        <p:spPr>
          <a:xfrm>
            <a:off x="585216" y="6135624"/>
            <a:ext cx="4023360" cy="182880"/>
          </a:xfrm>
          <a:prstGeom prst="rect">
            <a:avLst/>
          </a:prstGeom>
          <a:noFill/>
        </p:spPr>
        <p:txBody>
          <a:bodyPr wrap="square" lIns="0" rIns="0" tIns="0" bIns="0" anchor="ctr">
            <a:spAutoFit/>
          </a:bodyPr>
          <a:lstStyle/>
          <a:p>
            <a:pPr>
              <a:defRPr sz="1000" b="0">
                <a:solidFill>
                  <a:srgbClr val="13664E"/>
                </a:solidFill>
                <a:latin typeface="Aptos"/>
              </a:defRPr>
            </a:pPr>
            <a:r>
              <a:rPr>
                <a:hlinkClick r:id="rId2"/>
              </a:rPr>
              <a:t>github.com/ClashLex/Riskora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Riskora | AIBoomi Startup Weekend Kochi</dc:title>
  <dc:subject>Six-slide working MVP pitch</dc:subject>
  <dc:creator>Ansil Muhammed N S and Muhammed Ihsan K 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