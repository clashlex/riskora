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Riskora asks one narrow, testable question: given what was publicly knowable at a cutoff, which stocks are the strongest candidates to appear as new positions in a fund’s next disclosed portfolio? The product is a research shortlist with evidence, not a claim to see private orders or know a manager’s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researchers can find portfolio disclosures, but the workflow is retrospective and fragmented. A new row in a later report is not proof of when a trade happened. To model this responsibly, we need comparable snapshots, accurate publication timing, and a way to keep the evidence attached to each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is deliberately reviewable. A researcher loads attributed data, checks that the disclosures are comparable, evaluates the model against simple baselines, and inspects the shortlist with its supporting evidence. The interface drawing is schematic; candidate rows are placeholders, not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difference is not a claim of secret data. Riskora uses dated public disclosures, builds labels only when the earlier and later statements are comparable, and restricts features to information available at the cutoff. A logistic model ranks candidates and is compared with simpler baselines. Its score is a ranking signal, not a calibrated real-world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We are careful about the distinction between software readiness and financial validity. The latest backend review found 15 passing tests. We have two real ABSL Flexi Cap holdings snapshots normalized, but their public release dates and reuse rights still need verification, and two months cannot establish predictive performance. The synthetic sample is for demonstrating the workflow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milestone is proof in three steps: build a licensed, verified historical dataset; evaluate rankings on strict chronological holdouts across funds; and test the workflow with research analysts. We are looking for research partners and permissioned historical disclosures for a supervised pilot. A team subscription is only a business-model hypothesis until users validate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530352" y="621792"/>
            <a:ext cx="11128248" cy="0"/>
          </a:xfrm>
          <a:prstGeom prst="line">
            <a:avLst/>
          </a:prstGeom>
          <a:noFill/>
          <a:ln w="10160">
            <a:solidFill>
              <a:srgbClr val="DDE2D9"/>
            </a:solidFill>
            <a:prstDash val="solid"/>
          </a:ln>
        </p:spPr>
      </p:sp>
      <p:sp>
        <p:nvSpPr>
          <p:cNvPr id="3" name="Text 1"/>
          <p:cNvSpPr/>
          <p:nvPr/>
        </p:nvSpPr>
        <p:spPr>
          <a:xfrm>
            <a:off x="548640" y="256032"/>
            <a:ext cx="5120640" cy="182880"/>
          </a:xfrm>
          <a:prstGeom prst="rect">
            <a:avLst/>
          </a:prstGeom>
          <a:noFill/>
          <a:ln/>
        </p:spPr>
        <p:txBody>
          <a:bodyPr wrap="square" lIns="0" tIns="0" rIns="0" bIns="0" rtlCol="0" anchor="ctr"/>
          <a:lstStyle/>
          <a:p>
            <a:pPr indent="0" marL="0">
              <a:buNone/>
            </a:pPr>
            <a:r>
              <a:rPr lang="en-US" sz="900" b="1" spc="100" kern="0" dirty="0">
                <a:solidFill>
                  <a:srgbClr val="2A5540"/>
                </a:solidFill>
                <a:latin typeface="Inter" pitchFamily="34" charset="0"/>
                <a:ea typeface="Inter" pitchFamily="34" charset="-122"/>
                <a:cs typeface="Inter" pitchFamily="34" charset="-120"/>
              </a:rPr>
              <a:t>RISKORA  /  AIBOomi STARTUP WEEKEND</a:t>
            </a:r>
            <a:endParaRPr lang="en-US" sz="900" dirty="0"/>
          </a:p>
        </p:txBody>
      </p:sp>
      <p:sp>
        <p:nvSpPr>
          <p:cNvPr id="25" name="Slide Number Placeholder 0"/>
          <p:cNvSpPr>
            <a:spLocks noGrp="1"/>
          </p:cNvSpPr>
          <p:nvPr>
            <p:ph type="sldNum" sz="quarter" idx="4294967295"/>
          </p:nvPr>
        </p:nvSpPr>
        <p:spPr>
          <a:xfrm>
            <a:off x="11109960" y="651967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788078"/>
                </a:solidFill>
                <a:latin typeface="Inter"/>
                <a:ea typeface="Inter"/>
                <a:cs typeface="Inter"/>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967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788078"/>
                </a:solidFill>
                <a:latin typeface="Inter"/>
                <a:ea typeface="Inter"/>
                <a:cs typeface="Inter"/>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20F"/>
        </a:solidFill>
      </p:bgPr>
    </p:bg>
    <p:spTree>
      <p:nvGrpSpPr>
        <p:cNvPr id="1" name=""/>
        <p:cNvGrpSpPr/>
        <p:nvPr/>
      </p:nvGrpSpPr>
      <p:grpSpPr>
        <a:xfrm>
          <a:off x="0" y="0"/>
          <a:ext cx="0" cy="0"/>
          <a:chOff x="0" y="0"/>
          <a:chExt cx="0" cy="0"/>
        </a:xfrm>
      </p:grpSpPr>
      <p:sp>
        <p:nvSpPr>
          <p:cNvPr id="2" name="Shape 0"/>
          <p:cNvSpPr/>
          <p:nvPr/>
        </p:nvSpPr>
        <p:spPr>
          <a:xfrm>
            <a:off x="6629400" y="731520"/>
            <a:ext cx="50292" cy="50292"/>
          </a:xfrm>
          <a:prstGeom prst="ellipse">
            <a:avLst/>
          </a:prstGeom>
          <a:solidFill>
            <a:srgbClr val="243127"/>
          </a:solidFill>
          <a:ln w="1270">
            <a:solidFill>
              <a:srgbClr val="243127">
                <a:alpha val="0"/>
              </a:srgbClr>
            </a:solidFill>
            <a:prstDash val="solid"/>
          </a:ln>
        </p:spPr>
      </p:sp>
      <p:sp>
        <p:nvSpPr>
          <p:cNvPr id="3" name="Shape 1"/>
          <p:cNvSpPr/>
          <p:nvPr/>
        </p:nvSpPr>
        <p:spPr>
          <a:xfrm>
            <a:off x="7059168" y="731520"/>
            <a:ext cx="50292" cy="50292"/>
          </a:xfrm>
          <a:prstGeom prst="ellipse">
            <a:avLst/>
          </a:prstGeom>
          <a:solidFill>
            <a:srgbClr val="243127"/>
          </a:solidFill>
          <a:ln w="1270">
            <a:solidFill>
              <a:srgbClr val="243127">
                <a:alpha val="0"/>
              </a:srgbClr>
            </a:solidFill>
            <a:prstDash val="solid"/>
          </a:ln>
        </p:spPr>
      </p:sp>
      <p:sp>
        <p:nvSpPr>
          <p:cNvPr id="4" name="Shape 2"/>
          <p:cNvSpPr/>
          <p:nvPr/>
        </p:nvSpPr>
        <p:spPr>
          <a:xfrm>
            <a:off x="7488936" y="731520"/>
            <a:ext cx="50292" cy="50292"/>
          </a:xfrm>
          <a:prstGeom prst="ellipse">
            <a:avLst/>
          </a:prstGeom>
          <a:solidFill>
            <a:srgbClr val="243127"/>
          </a:solidFill>
          <a:ln w="1270">
            <a:solidFill>
              <a:srgbClr val="243127">
                <a:alpha val="0"/>
              </a:srgbClr>
            </a:solidFill>
            <a:prstDash val="solid"/>
          </a:ln>
        </p:spPr>
      </p:sp>
      <p:sp>
        <p:nvSpPr>
          <p:cNvPr id="5" name="Shape 3"/>
          <p:cNvSpPr/>
          <p:nvPr/>
        </p:nvSpPr>
        <p:spPr>
          <a:xfrm>
            <a:off x="7918704" y="731520"/>
            <a:ext cx="50292" cy="50292"/>
          </a:xfrm>
          <a:prstGeom prst="ellipse">
            <a:avLst/>
          </a:prstGeom>
          <a:solidFill>
            <a:srgbClr val="243127"/>
          </a:solidFill>
          <a:ln w="1270">
            <a:solidFill>
              <a:srgbClr val="243127">
                <a:alpha val="0"/>
              </a:srgbClr>
            </a:solidFill>
            <a:prstDash val="solid"/>
          </a:ln>
        </p:spPr>
      </p:sp>
      <p:sp>
        <p:nvSpPr>
          <p:cNvPr id="6" name="Shape 4"/>
          <p:cNvSpPr/>
          <p:nvPr/>
        </p:nvSpPr>
        <p:spPr>
          <a:xfrm>
            <a:off x="8348472" y="731520"/>
            <a:ext cx="50292" cy="50292"/>
          </a:xfrm>
          <a:prstGeom prst="ellipse">
            <a:avLst/>
          </a:prstGeom>
          <a:solidFill>
            <a:srgbClr val="243127"/>
          </a:solidFill>
          <a:ln w="1270">
            <a:solidFill>
              <a:srgbClr val="243127">
                <a:alpha val="0"/>
              </a:srgbClr>
            </a:solidFill>
            <a:prstDash val="solid"/>
          </a:ln>
        </p:spPr>
      </p:sp>
      <p:sp>
        <p:nvSpPr>
          <p:cNvPr id="7" name="Shape 5"/>
          <p:cNvSpPr/>
          <p:nvPr/>
        </p:nvSpPr>
        <p:spPr>
          <a:xfrm>
            <a:off x="8778240" y="731520"/>
            <a:ext cx="50292" cy="50292"/>
          </a:xfrm>
          <a:prstGeom prst="ellipse">
            <a:avLst/>
          </a:prstGeom>
          <a:solidFill>
            <a:srgbClr val="243127"/>
          </a:solidFill>
          <a:ln w="1270">
            <a:solidFill>
              <a:srgbClr val="243127">
                <a:alpha val="0"/>
              </a:srgbClr>
            </a:solidFill>
            <a:prstDash val="solid"/>
          </a:ln>
        </p:spPr>
      </p:sp>
      <p:sp>
        <p:nvSpPr>
          <p:cNvPr id="8" name="Shape 6"/>
          <p:cNvSpPr/>
          <p:nvPr/>
        </p:nvSpPr>
        <p:spPr>
          <a:xfrm>
            <a:off x="9208008" y="731520"/>
            <a:ext cx="50292" cy="50292"/>
          </a:xfrm>
          <a:prstGeom prst="ellipse">
            <a:avLst/>
          </a:prstGeom>
          <a:solidFill>
            <a:srgbClr val="243127"/>
          </a:solidFill>
          <a:ln w="1270">
            <a:solidFill>
              <a:srgbClr val="243127">
                <a:alpha val="0"/>
              </a:srgbClr>
            </a:solidFill>
            <a:prstDash val="solid"/>
          </a:ln>
        </p:spPr>
      </p:sp>
      <p:sp>
        <p:nvSpPr>
          <p:cNvPr id="9" name="Shape 7"/>
          <p:cNvSpPr/>
          <p:nvPr/>
        </p:nvSpPr>
        <p:spPr>
          <a:xfrm>
            <a:off x="9637776" y="731520"/>
            <a:ext cx="50292" cy="50292"/>
          </a:xfrm>
          <a:prstGeom prst="ellipse">
            <a:avLst/>
          </a:prstGeom>
          <a:solidFill>
            <a:srgbClr val="243127"/>
          </a:solidFill>
          <a:ln w="1270">
            <a:solidFill>
              <a:srgbClr val="243127">
                <a:alpha val="0"/>
              </a:srgbClr>
            </a:solidFill>
            <a:prstDash val="solid"/>
          </a:ln>
        </p:spPr>
      </p:sp>
      <p:sp>
        <p:nvSpPr>
          <p:cNvPr id="10" name="Shape 8"/>
          <p:cNvSpPr/>
          <p:nvPr/>
        </p:nvSpPr>
        <p:spPr>
          <a:xfrm>
            <a:off x="10067544" y="731520"/>
            <a:ext cx="50292" cy="50292"/>
          </a:xfrm>
          <a:prstGeom prst="ellipse">
            <a:avLst/>
          </a:prstGeom>
          <a:solidFill>
            <a:srgbClr val="243127"/>
          </a:solidFill>
          <a:ln w="1270">
            <a:solidFill>
              <a:srgbClr val="243127">
                <a:alpha val="0"/>
              </a:srgbClr>
            </a:solidFill>
            <a:prstDash val="solid"/>
          </a:ln>
        </p:spPr>
      </p:sp>
      <p:sp>
        <p:nvSpPr>
          <p:cNvPr id="11" name="Shape 9"/>
          <p:cNvSpPr/>
          <p:nvPr/>
        </p:nvSpPr>
        <p:spPr>
          <a:xfrm>
            <a:off x="10497312" y="731520"/>
            <a:ext cx="50292" cy="50292"/>
          </a:xfrm>
          <a:prstGeom prst="ellipse">
            <a:avLst/>
          </a:prstGeom>
          <a:solidFill>
            <a:srgbClr val="243127"/>
          </a:solidFill>
          <a:ln w="1270">
            <a:solidFill>
              <a:srgbClr val="243127">
                <a:alpha val="0"/>
              </a:srgbClr>
            </a:solidFill>
            <a:prstDash val="solid"/>
          </a:ln>
        </p:spPr>
      </p:sp>
      <p:sp>
        <p:nvSpPr>
          <p:cNvPr id="12" name="Shape 10"/>
          <p:cNvSpPr/>
          <p:nvPr/>
        </p:nvSpPr>
        <p:spPr>
          <a:xfrm>
            <a:off x="6629400" y="1207008"/>
            <a:ext cx="50292" cy="50292"/>
          </a:xfrm>
          <a:prstGeom prst="ellipse">
            <a:avLst/>
          </a:prstGeom>
          <a:solidFill>
            <a:srgbClr val="243127"/>
          </a:solidFill>
          <a:ln w="1270">
            <a:solidFill>
              <a:srgbClr val="243127">
                <a:alpha val="0"/>
              </a:srgbClr>
            </a:solidFill>
            <a:prstDash val="solid"/>
          </a:ln>
        </p:spPr>
      </p:sp>
      <p:sp>
        <p:nvSpPr>
          <p:cNvPr id="13" name="Shape 11"/>
          <p:cNvSpPr/>
          <p:nvPr/>
        </p:nvSpPr>
        <p:spPr>
          <a:xfrm>
            <a:off x="7059168" y="1207008"/>
            <a:ext cx="50292" cy="50292"/>
          </a:xfrm>
          <a:prstGeom prst="ellipse">
            <a:avLst/>
          </a:prstGeom>
          <a:solidFill>
            <a:srgbClr val="243127"/>
          </a:solidFill>
          <a:ln w="1270">
            <a:solidFill>
              <a:srgbClr val="243127">
                <a:alpha val="0"/>
              </a:srgbClr>
            </a:solidFill>
            <a:prstDash val="solid"/>
          </a:ln>
        </p:spPr>
      </p:sp>
      <p:sp>
        <p:nvSpPr>
          <p:cNvPr id="14" name="Shape 12"/>
          <p:cNvSpPr/>
          <p:nvPr/>
        </p:nvSpPr>
        <p:spPr>
          <a:xfrm>
            <a:off x="7488936" y="1207008"/>
            <a:ext cx="50292" cy="50292"/>
          </a:xfrm>
          <a:prstGeom prst="ellipse">
            <a:avLst/>
          </a:prstGeom>
          <a:solidFill>
            <a:srgbClr val="243127"/>
          </a:solidFill>
          <a:ln w="1270">
            <a:solidFill>
              <a:srgbClr val="243127">
                <a:alpha val="0"/>
              </a:srgbClr>
            </a:solidFill>
            <a:prstDash val="solid"/>
          </a:ln>
        </p:spPr>
      </p:sp>
      <p:sp>
        <p:nvSpPr>
          <p:cNvPr id="15" name="Shape 13"/>
          <p:cNvSpPr/>
          <p:nvPr/>
        </p:nvSpPr>
        <p:spPr>
          <a:xfrm>
            <a:off x="7918704" y="1207008"/>
            <a:ext cx="50292" cy="50292"/>
          </a:xfrm>
          <a:prstGeom prst="ellipse">
            <a:avLst/>
          </a:prstGeom>
          <a:solidFill>
            <a:srgbClr val="243127"/>
          </a:solidFill>
          <a:ln w="1270">
            <a:solidFill>
              <a:srgbClr val="243127">
                <a:alpha val="0"/>
              </a:srgbClr>
            </a:solidFill>
            <a:prstDash val="solid"/>
          </a:ln>
        </p:spPr>
      </p:sp>
      <p:sp>
        <p:nvSpPr>
          <p:cNvPr id="16" name="Shape 14"/>
          <p:cNvSpPr/>
          <p:nvPr/>
        </p:nvSpPr>
        <p:spPr>
          <a:xfrm>
            <a:off x="8348472" y="1207008"/>
            <a:ext cx="50292" cy="50292"/>
          </a:xfrm>
          <a:prstGeom prst="ellipse">
            <a:avLst/>
          </a:prstGeom>
          <a:solidFill>
            <a:srgbClr val="243127"/>
          </a:solidFill>
          <a:ln w="1270">
            <a:solidFill>
              <a:srgbClr val="243127">
                <a:alpha val="0"/>
              </a:srgbClr>
            </a:solidFill>
            <a:prstDash val="solid"/>
          </a:ln>
        </p:spPr>
      </p:sp>
      <p:sp>
        <p:nvSpPr>
          <p:cNvPr id="17" name="Shape 15"/>
          <p:cNvSpPr/>
          <p:nvPr/>
        </p:nvSpPr>
        <p:spPr>
          <a:xfrm>
            <a:off x="8778240" y="1207008"/>
            <a:ext cx="50292" cy="50292"/>
          </a:xfrm>
          <a:prstGeom prst="ellipse">
            <a:avLst/>
          </a:prstGeom>
          <a:solidFill>
            <a:srgbClr val="243127"/>
          </a:solidFill>
          <a:ln w="1270">
            <a:solidFill>
              <a:srgbClr val="243127">
                <a:alpha val="0"/>
              </a:srgbClr>
            </a:solidFill>
            <a:prstDash val="solid"/>
          </a:ln>
        </p:spPr>
      </p:sp>
      <p:sp>
        <p:nvSpPr>
          <p:cNvPr id="18" name="Shape 16"/>
          <p:cNvSpPr/>
          <p:nvPr/>
        </p:nvSpPr>
        <p:spPr>
          <a:xfrm>
            <a:off x="9208008" y="1207008"/>
            <a:ext cx="50292" cy="50292"/>
          </a:xfrm>
          <a:prstGeom prst="ellipse">
            <a:avLst/>
          </a:prstGeom>
          <a:solidFill>
            <a:srgbClr val="243127"/>
          </a:solidFill>
          <a:ln w="1270">
            <a:solidFill>
              <a:srgbClr val="243127">
                <a:alpha val="0"/>
              </a:srgbClr>
            </a:solidFill>
            <a:prstDash val="solid"/>
          </a:ln>
        </p:spPr>
      </p:sp>
      <p:sp>
        <p:nvSpPr>
          <p:cNvPr id="19" name="Shape 17"/>
          <p:cNvSpPr/>
          <p:nvPr/>
        </p:nvSpPr>
        <p:spPr>
          <a:xfrm>
            <a:off x="9637776" y="1207008"/>
            <a:ext cx="50292" cy="50292"/>
          </a:xfrm>
          <a:prstGeom prst="ellipse">
            <a:avLst/>
          </a:prstGeom>
          <a:solidFill>
            <a:srgbClr val="D4FF3F"/>
          </a:solidFill>
          <a:ln w="1270">
            <a:solidFill>
              <a:srgbClr val="D4FF3F">
                <a:alpha val="0"/>
              </a:srgbClr>
            </a:solidFill>
            <a:prstDash val="solid"/>
          </a:ln>
        </p:spPr>
      </p:sp>
      <p:sp>
        <p:nvSpPr>
          <p:cNvPr id="20" name="Shape 18"/>
          <p:cNvSpPr/>
          <p:nvPr/>
        </p:nvSpPr>
        <p:spPr>
          <a:xfrm>
            <a:off x="10067544" y="1207008"/>
            <a:ext cx="50292" cy="50292"/>
          </a:xfrm>
          <a:prstGeom prst="ellipse">
            <a:avLst/>
          </a:prstGeom>
          <a:solidFill>
            <a:srgbClr val="243127"/>
          </a:solidFill>
          <a:ln w="1270">
            <a:solidFill>
              <a:srgbClr val="243127">
                <a:alpha val="0"/>
              </a:srgbClr>
            </a:solidFill>
            <a:prstDash val="solid"/>
          </a:ln>
        </p:spPr>
      </p:sp>
      <p:sp>
        <p:nvSpPr>
          <p:cNvPr id="21" name="Shape 19"/>
          <p:cNvSpPr/>
          <p:nvPr/>
        </p:nvSpPr>
        <p:spPr>
          <a:xfrm>
            <a:off x="10497312" y="1207008"/>
            <a:ext cx="50292" cy="50292"/>
          </a:xfrm>
          <a:prstGeom prst="ellipse">
            <a:avLst/>
          </a:prstGeom>
          <a:solidFill>
            <a:srgbClr val="243127"/>
          </a:solidFill>
          <a:ln w="1270">
            <a:solidFill>
              <a:srgbClr val="243127">
                <a:alpha val="0"/>
              </a:srgbClr>
            </a:solidFill>
            <a:prstDash val="solid"/>
          </a:ln>
        </p:spPr>
      </p:sp>
      <p:sp>
        <p:nvSpPr>
          <p:cNvPr id="22" name="Shape 20"/>
          <p:cNvSpPr/>
          <p:nvPr/>
        </p:nvSpPr>
        <p:spPr>
          <a:xfrm>
            <a:off x="6629400" y="1682496"/>
            <a:ext cx="50292" cy="50292"/>
          </a:xfrm>
          <a:prstGeom prst="ellipse">
            <a:avLst/>
          </a:prstGeom>
          <a:solidFill>
            <a:srgbClr val="243127"/>
          </a:solidFill>
          <a:ln w="1270">
            <a:solidFill>
              <a:srgbClr val="243127">
                <a:alpha val="0"/>
              </a:srgbClr>
            </a:solidFill>
            <a:prstDash val="solid"/>
          </a:ln>
        </p:spPr>
      </p:sp>
      <p:sp>
        <p:nvSpPr>
          <p:cNvPr id="23" name="Shape 21"/>
          <p:cNvSpPr/>
          <p:nvPr/>
        </p:nvSpPr>
        <p:spPr>
          <a:xfrm>
            <a:off x="7059168" y="1682496"/>
            <a:ext cx="50292" cy="50292"/>
          </a:xfrm>
          <a:prstGeom prst="ellipse">
            <a:avLst/>
          </a:prstGeom>
          <a:solidFill>
            <a:srgbClr val="243127"/>
          </a:solidFill>
          <a:ln w="1270">
            <a:solidFill>
              <a:srgbClr val="243127">
                <a:alpha val="0"/>
              </a:srgbClr>
            </a:solidFill>
            <a:prstDash val="solid"/>
          </a:ln>
        </p:spPr>
      </p:sp>
      <p:sp>
        <p:nvSpPr>
          <p:cNvPr id="24" name="Shape 22"/>
          <p:cNvSpPr/>
          <p:nvPr/>
        </p:nvSpPr>
        <p:spPr>
          <a:xfrm>
            <a:off x="7488936" y="1682496"/>
            <a:ext cx="50292" cy="50292"/>
          </a:xfrm>
          <a:prstGeom prst="ellipse">
            <a:avLst/>
          </a:prstGeom>
          <a:solidFill>
            <a:srgbClr val="243127"/>
          </a:solidFill>
          <a:ln w="1270">
            <a:solidFill>
              <a:srgbClr val="243127">
                <a:alpha val="0"/>
              </a:srgbClr>
            </a:solidFill>
            <a:prstDash val="solid"/>
          </a:ln>
        </p:spPr>
      </p:sp>
      <p:sp>
        <p:nvSpPr>
          <p:cNvPr id="25" name="Shape 23"/>
          <p:cNvSpPr/>
          <p:nvPr/>
        </p:nvSpPr>
        <p:spPr>
          <a:xfrm>
            <a:off x="7918704" y="1682496"/>
            <a:ext cx="50292" cy="50292"/>
          </a:xfrm>
          <a:prstGeom prst="ellipse">
            <a:avLst/>
          </a:prstGeom>
          <a:solidFill>
            <a:srgbClr val="243127"/>
          </a:solidFill>
          <a:ln w="1270">
            <a:solidFill>
              <a:srgbClr val="243127">
                <a:alpha val="0"/>
              </a:srgbClr>
            </a:solidFill>
            <a:prstDash val="solid"/>
          </a:ln>
        </p:spPr>
      </p:sp>
      <p:sp>
        <p:nvSpPr>
          <p:cNvPr id="26" name="Shape 24"/>
          <p:cNvSpPr/>
          <p:nvPr/>
        </p:nvSpPr>
        <p:spPr>
          <a:xfrm>
            <a:off x="8348472" y="1682496"/>
            <a:ext cx="50292" cy="50292"/>
          </a:xfrm>
          <a:prstGeom prst="ellipse">
            <a:avLst/>
          </a:prstGeom>
          <a:solidFill>
            <a:srgbClr val="243127"/>
          </a:solidFill>
          <a:ln w="1270">
            <a:solidFill>
              <a:srgbClr val="243127">
                <a:alpha val="0"/>
              </a:srgbClr>
            </a:solidFill>
            <a:prstDash val="solid"/>
          </a:ln>
        </p:spPr>
      </p:sp>
      <p:sp>
        <p:nvSpPr>
          <p:cNvPr id="27" name="Shape 25"/>
          <p:cNvSpPr/>
          <p:nvPr/>
        </p:nvSpPr>
        <p:spPr>
          <a:xfrm>
            <a:off x="8778240" y="1682496"/>
            <a:ext cx="50292" cy="50292"/>
          </a:xfrm>
          <a:prstGeom prst="ellipse">
            <a:avLst/>
          </a:prstGeom>
          <a:solidFill>
            <a:srgbClr val="CBB3E8"/>
          </a:solidFill>
          <a:ln w="1270">
            <a:solidFill>
              <a:srgbClr val="CBB3E8">
                <a:alpha val="0"/>
              </a:srgbClr>
            </a:solidFill>
            <a:prstDash val="solid"/>
          </a:ln>
        </p:spPr>
      </p:sp>
      <p:sp>
        <p:nvSpPr>
          <p:cNvPr id="28" name="Shape 26"/>
          <p:cNvSpPr/>
          <p:nvPr/>
        </p:nvSpPr>
        <p:spPr>
          <a:xfrm>
            <a:off x="9208008" y="1682496"/>
            <a:ext cx="50292" cy="50292"/>
          </a:xfrm>
          <a:prstGeom prst="ellipse">
            <a:avLst/>
          </a:prstGeom>
          <a:solidFill>
            <a:srgbClr val="243127"/>
          </a:solidFill>
          <a:ln w="1270">
            <a:solidFill>
              <a:srgbClr val="243127">
                <a:alpha val="0"/>
              </a:srgbClr>
            </a:solidFill>
            <a:prstDash val="solid"/>
          </a:ln>
        </p:spPr>
      </p:sp>
      <p:sp>
        <p:nvSpPr>
          <p:cNvPr id="29" name="Shape 27"/>
          <p:cNvSpPr/>
          <p:nvPr/>
        </p:nvSpPr>
        <p:spPr>
          <a:xfrm>
            <a:off x="9637776" y="1682496"/>
            <a:ext cx="50292" cy="50292"/>
          </a:xfrm>
          <a:prstGeom prst="ellipse">
            <a:avLst/>
          </a:prstGeom>
          <a:solidFill>
            <a:srgbClr val="243127"/>
          </a:solidFill>
          <a:ln w="1270">
            <a:solidFill>
              <a:srgbClr val="243127">
                <a:alpha val="0"/>
              </a:srgbClr>
            </a:solidFill>
            <a:prstDash val="solid"/>
          </a:ln>
        </p:spPr>
      </p:sp>
      <p:sp>
        <p:nvSpPr>
          <p:cNvPr id="30" name="Shape 28"/>
          <p:cNvSpPr/>
          <p:nvPr/>
        </p:nvSpPr>
        <p:spPr>
          <a:xfrm>
            <a:off x="10067544" y="1682496"/>
            <a:ext cx="50292" cy="50292"/>
          </a:xfrm>
          <a:prstGeom prst="ellipse">
            <a:avLst/>
          </a:prstGeom>
          <a:solidFill>
            <a:srgbClr val="243127"/>
          </a:solidFill>
          <a:ln w="1270">
            <a:solidFill>
              <a:srgbClr val="243127">
                <a:alpha val="0"/>
              </a:srgbClr>
            </a:solidFill>
            <a:prstDash val="solid"/>
          </a:ln>
        </p:spPr>
      </p:sp>
      <p:sp>
        <p:nvSpPr>
          <p:cNvPr id="31" name="Shape 29"/>
          <p:cNvSpPr/>
          <p:nvPr/>
        </p:nvSpPr>
        <p:spPr>
          <a:xfrm>
            <a:off x="10497312" y="1682496"/>
            <a:ext cx="50292" cy="50292"/>
          </a:xfrm>
          <a:prstGeom prst="ellipse">
            <a:avLst/>
          </a:prstGeom>
          <a:solidFill>
            <a:srgbClr val="243127"/>
          </a:solidFill>
          <a:ln w="1270">
            <a:solidFill>
              <a:srgbClr val="243127">
                <a:alpha val="0"/>
              </a:srgbClr>
            </a:solidFill>
            <a:prstDash val="solid"/>
          </a:ln>
        </p:spPr>
      </p:sp>
      <p:sp>
        <p:nvSpPr>
          <p:cNvPr id="32" name="Shape 30"/>
          <p:cNvSpPr/>
          <p:nvPr/>
        </p:nvSpPr>
        <p:spPr>
          <a:xfrm>
            <a:off x="6629400" y="2157984"/>
            <a:ext cx="50292" cy="50292"/>
          </a:xfrm>
          <a:prstGeom prst="ellipse">
            <a:avLst/>
          </a:prstGeom>
          <a:solidFill>
            <a:srgbClr val="243127"/>
          </a:solidFill>
          <a:ln w="1270">
            <a:solidFill>
              <a:srgbClr val="243127">
                <a:alpha val="0"/>
              </a:srgbClr>
            </a:solidFill>
            <a:prstDash val="solid"/>
          </a:ln>
        </p:spPr>
      </p:sp>
      <p:sp>
        <p:nvSpPr>
          <p:cNvPr id="33" name="Shape 31"/>
          <p:cNvSpPr/>
          <p:nvPr/>
        </p:nvSpPr>
        <p:spPr>
          <a:xfrm>
            <a:off x="7059168" y="2157984"/>
            <a:ext cx="50292" cy="50292"/>
          </a:xfrm>
          <a:prstGeom prst="ellipse">
            <a:avLst/>
          </a:prstGeom>
          <a:solidFill>
            <a:srgbClr val="243127"/>
          </a:solidFill>
          <a:ln w="1270">
            <a:solidFill>
              <a:srgbClr val="243127">
                <a:alpha val="0"/>
              </a:srgbClr>
            </a:solidFill>
            <a:prstDash val="solid"/>
          </a:ln>
        </p:spPr>
      </p:sp>
      <p:sp>
        <p:nvSpPr>
          <p:cNvPr id="34" name="Shape 32"/>
          <p:cNvSpPr/>
          <p:nvPr/>
        </p:nvSpPr>
        <p:spPr>
          <a:xfrm>
            <a:off x="7488936" y="2157984"/>
            <a:ext cx="50292" cy="50292"/>
          </a:xfrm>
          <a:prstGeom prst="ellipse">
            <a:avLst/>
          </a:prstGeom>
          <a:solidFill>
            <a:srgbClr val="243127"/>
          </a:solidFill>
          <a:ln w="1270">
            <a:solidFill>
              <a:srgbClr val="243127">
                <a:alpha val="0"/>
              </a:srgbClr>
            </a:solidFill>
            <a:prstDash val="solid"/>
          </a:ln>
        </p:spPr>
      </p:sp>
      <p:sp>
        <p:nvSpPr>
          <p:cNvPr id="35" name="Shape 33"/>
          <p:cNvSpPr/>
          <p:nvPr/>
        </p:nvSpPr>
        <p:spPr>
          <a:xfrm>
            <a:off x="7918704" y="2157984"/>
            <a:ext cx="50292" cy="50292"/>
          </a:xfrm>
          <a:prstGeom prst="ellipse">
            <a:avLst/>
          </a:prstGeom>
          <a:solidFill>
            <a:srgbClr val="243127"/>
          </a:solidFill>
          <a:ln w="1270">
            <a:solidFill>
              <a:srgbClr val="243127">
                <a:alpha val="0"/>
              </a:srgbClr>
            </a:solidFill>
            <a:prstDash val="solid"/>
          </a:ln>
        </p:spPr>
      </p:sp>
      <p:sp>
        <p:nvSpPr>
          <p:cNvPr id="36" name="Shape 34"/>
          <p:cNvSpPr/>
          <p:nvPr/>
        </p:nvSpPr>
        <p:spPr>
          <a:xfrm>
            <a:off x="8348472" y="2157984"/>
            <a:ext cx="50292" cy="50292"/>
          </a:xfrm>
          <a:prstGeom prst="ellipse">
            <a:avLst/>
          </a:prstGeom>
          <a:solidFill>
            <a:srgbClr val="D4FF3F"/>
          </a:solidFill>
          <a:ln w="1270">
            <a:solidFill>
              <a:srgbClr val="D4FF3F">
                <a:alpha val="0"/>
              </a:srgbClr>
            </a:solidFill>
            <a:prstDash val="solid"/>
          </a:ln>
        </p:spPr>
      </p:sp>
      <p:sp>
        <p:nvSpPr>
          <p:cNvPr id="37" name="Shape 35"/>
          <p:cNvSpPr/>
          <p:nvPr/>
        </p:nvSpPr>
        <p:spPr>
          <a:xfrm>
            <a:off x="8778240" y="2157984"/>
            <a:ext cx="50292" cy="50292"/>
          </a:xfrm>
          <a:prstGeom prst="ellipse">
            <a:avLst/>
          </a:prstGeom>
          <a:solidFill>
            <a:srgbClr val="243127"/>
          </a:solidFill>
          <a:ln w="1270">
            <a:solidFill>
              <a:srgbClr val="243127">
                <a:alpha val="0"/>
              </a:srgbClr>
            </a:solidFill>
            <a:prstDash val="solid"/>
          </a:ln>
        </p:spPr>
      </p:sp>
      <p:sp>
        <p:nvSpPr>
          <p:cNvPr id="38" name="Shape 36"/>
          <p:cNvSpPr/>
          <p:nvPr/>
        </p:nvSpPr>
        <p:spPr>
          <a:xfrm>
            <a:off x="9208008" y="2157984"/>
            <a:ext cx="50292" cy="50292"/>
          </a:xfrm>
          <a:prstGeom prst="ellipse">
            <a:avLst/>
          </a:prstGeom>
          <a:solidFill>
            <a:srgbClr val="243127"/>
          </a:solidFill>
          <a:ln w="1270">
            <a:solidFill>
              <a:srgbClr val="243127">
                <a:alpha val="0"/>
              </a:srgbClr>
            </a:solidFill>
            <a:prstDash val="solid"/>
          </a:ln>
        </p:spPr>
      </p:sp>
      <p:sp>
        <p:nvSpPr>
          <p:cNvPr id="39" name="Shape 37"/>
          <p:cNvSpPr/>
          <p:nvPr/>
        </p:nvSpPr>
        <p:spPr>
          <a:xfrm>
            <a:off x="9637776" y="2157984"/>
            <a:ext cx="50292" cy="50292"/>
          </a:xfrm>
          <a:prstGeom prst="ellipse">
            <a:avLst/>
          </a:prstGeom>
          <a:solidFill>
            <a:srgbClr val="243127"/>
          </a:solidFill>
          <a:ln w="1270">
            <a:solidFill>
              <a:srgbClr val="243127">
                <a:alpha val="0"/>
              </a:srgbClr>
            </a:solidFill>
            <a:prstDash val="solid"/>
          </a:ln>
        </p:spPr>
      </p:sp>
      <p:sp>
        <p:nvSpPr>
          <p:cNvPr id="40" name="Shape 38"/>
          <p:cNvSpPr/>
          <p:nvPr/>
        </p:nvSpPr>
        <p:spPr>
          <a:xfrm>
            <a:off x="10067544" y="2157984"/>
            <a:ext cx="50292" cy="50292"/>
          </a:xfrm>
          <a:prstGeom prst="ellipse">
            <a:avLst/>
          </a:prstGeom>
          <a:solidFill>
            <a:srgbClr val="243127"/>
          </a:solidFill>
          <a:ln w="1270">
            <a:solidFill>
              <a:srgbClr val="243127">
                <a:alpha val="0"/>
              </a:srgbClr>
            </a:solidFill>
            <a:prstDash val="solid"/>
          </a:ln>
        </p:spPr>
      </p:sp>
      <p:sp>
        <p:nvSpPr>
          <p:cNvPr id="41" name="Shape 39"/>
          <p:cNvSpPr/>
          <p:nvPr/>
        </p:nvSpPr>
        <p:spPr>
          <a:xfrm>
            <a:off x="10497312" y="2157984"/>
            <a:ext cx="50292" cy="50292"/>
          </a:xfrm>
          <a:prstGeom prst="ellipse">
            <a:avLst/>
          </a:prstGeom>
          <a:solidFill>
            <a:srgbClr val="243127"/>
          </a:solidFill>
          <a:ln w="1270">
            <a:solidFill>
              <a:srgbClr val="243127">
                <a:alpha val="0"/>
              </a:srgbClr>
            </a:solidFill>
            <a:prstDash val="solid"/>
          </a:ln>
        </p:spPr>
      </p:sp>
      <p:sp>
        <p:nvSpPr>
          <p:cNvPr id="42" name="Shape 40"/>
          <p:cNvSpPr/>
          <p:nvPr/>
        </p:nvSpPr>
        <p:spPr>
          <a:xfrm>
            <a:off x="6629400" y="2633472"/>
            <a:ext cx="50292" cy="50292"/>
          </a:xfrm>
          <a:prstGeom prst="ellipse">
            <a:avLst/>
          </a:prstGeom>
          <a:solidFill>
            <a:srgbClr val="243127"/>
          </a:solidFill>
          <a:ln w="1270">
            <a:solidFill>
              <a:srgbClr val="243127">
                <a:alpha val="0"/>
              </a:srgbClr>
            </a:solidFill>
            <a:prstDash val="solid"/>
          </a:ln>
        </p:spPr>
      </p:sp>
      <p:sp>
        <p:nvSpPr>
          <p:cNvPr id="43" name="Shape 41"/>
          <p:cNvSpPr/>
          <p:nvPr/>
        </p:nvSpPr>
        <p:spPr>
          <a:xfrm>
            <a:off x="7059168" y="2633472"/>
            <a:ext cx="50292" cy="50292"/>
          </a:xfrm>
          <a:prstGeom prst="ellipse">
            <a:avLst/>
          </a:prstGeom>
          <a:solidFill>
            <a:srgbClr val="243127"/>
          </a:solidFill>
          <a:ln w="1270">
            <a:solidFill>
              <a:srgbClr val="243127">
                <a:alpha val="0"/>
              </a:srgbClr>
            </a:solidFill>
            <a:prstDash val="solid"/>
          </a:ln>
        </p:spPr>
      </p:sp>
      <p:sp>
        <p:nvSpPr>
          <p:cNvPr id="44" name="Shape 42"/>
          <p:cNvSpPr/>
          <p:nvPr/>
        </p:nvSpPr>
        <p:spPr>
          <a:xfrm>
            <a:off x="7488936" y="2633472"/>
            <a:ext cx="50292" cy="50292"/>
          </a:xfrm>
          <a:prstGeom prst="ellipse">
            <a:avLst/>
          </a:prstGeom>
          <a:solidFill>
            <a:srgbClr val="243127"/>
          </a:solidFill>
          <a:ln w="1270">
            <a:solidFill>
              <a:srgbClr val="243127">
                <a:alpha val="0"/>
              </a:srgbClr>
            </a:solidFill>
            <a:prstDash val="solid"/>
          </a:ln>
        </p:spPr>
      </p:sp>
      <p:sp>
        <p:nvSpPr>
          <p:cNvPr id="45" name="Shape 43"/>
          <p:cNvSpPr/>
          <p:nvPr/>
        </p:nvSpPr>
        <p:spPr>
          <a:xfrm>
            <a:off x="7918704" y="2633472"/>
            <a:ext cx="50292" cy="50292"/>
          </a:xfrm>
          <a:prstGeom prst="ellipse">
            <a:avLst/>
          </a:prstGeom>
          <a:solidFill>
            <a:srgbClr val="243127"/>
          </a:solidFill>
          <a:ln w="1270">
            <a:solidFill>
              <a:srgbClr val="243127">
                <a:alpha val="0"/>
              </a:srgbClr>
            </a:solidFill>
            <a:prstDash val="solid"/>
          </a:ln>
        </p:spPr>
      </p:sp>
      <p:sp>
        <p:nvSpPr>
          <p:cNvPr id="46" name="Shape 44"/>
          <p:cNvSpPr/>
          <p:nvPr/>
        </p:nvSpPr>
        <p:spPr>
          <a:xfrm>
            <a:off x="8348472" y="2633472"/>
            <a:ext cx="50292" cy="50292"/>
          </a:xfrm>
          <a:prstGeom prst="ellipse">
            <a:avLst/>
          </a:prstGeom>
          <a:solidFill>
            <a:srgbClr val="243127"/>
          </a:solidFill>
          <a:ln w="1270">
            <a:solidFill>
              <a:srgbClr val="243127">
                <a:alpha val="0"/>
              </a:srgbClr>
            </a:solidFill>
            <a:prstDash val="solid"/>
          </a:ln>
        </p:spPr>
      </p:sp>
      <p:sp>
        <p:nvSpPr>
          <p:cNvPr id="47" name="Shape 45"/>
          <p:cNvSpPr/>
          <p:nvPr/>
        </p:nvSpPr>
        <p:spPr>
          <a:xfrm>
            <a:off x="8778240" y="2633472"/>
            <a:ext cx="50292" cy="50292"/>
          </a:xfrm>
          <a:prstGeom prst="ellipse">
            <a:avLst/>
          </a:prstGeom>
          <a:solidFill>
            <a:srgbClr val="243127"/>
          </a:solidFill>
          <a:ln w="1270">
            <a:solidFill>
              <a:srgbClr val="243127">
                <a:alpha val="0"/>
              </a:srgbClr>
            </a:solidFill>
            <a:prstDash val="solid"/>
          </a:ln>
        </p:spPr>
      </p:sp>
      <p:sp>
        <p:nvSpPr>
          <p:cNvPr id="48" name="Shape 46"/>
          <p:cNvSpPr/>
          <p:nvPr/>
        </p:nvSpPr>
        <p:spPr>
          <a:xfrm>
            <a:off x="9208008" y="2633472"/>
            <a:ext cx="50292" cy="50292"/>
          </a:xfrm>
          <a:prstGeom prst="ellipse">
            <a:avLst/>
          </a:prstGeom>
          <a:solidFill>
            <a:srgbClr val="243127"/>
          </a:solidFill>
          <a:ln w="1270">
            <a:solidFill>
              <a:srgbClr val="243127">
                <a:alpha val="0"/>
              </a:srgbClr>
            </a:solidFill>
            <a:prstDash val="solid"/>
          </a:ln>
        </p:spPr>
      </p:sp>
      <p:sp>
        <p:nvSpPr>
          <p:cNvPr id="49" name="Shape 47"/>
          <p:cNvSpPr/>
          <p:nvPr/>
        </p:nvSpPr>
        <p:spPr>
          <a:xfrm>
            <a:off x="9637776" y="2633472"/>
            <a:ext cx="50292" cy="50292"/>
          </a:xfrm>
          <a:prstGeom prst="ellipse">
            <a:avLst/>
          </a:prstGeom>
          <a:solidFill>
            <a:srgbClr val="243127"/>
          </a:solidFill>
          <a:ln w="1270">
            <a:solidFill>
              <a:srgbClr val="243127">
                <a:alpha val="0"/>
              </a:srgbClr>
            </a:solidFill>
            <a:prstDash val="solid"/>
          </a:ln>
        </p:spPr>
      </p:sp>
      <p:sp>
        <p:nvSpPr>
          <p:cNvPr id="50" name="Shape 48"/>
          <p:cNvSpPr/>
          <p:nvPr/>
        </p:nvSpPr>
        <p:spPr>
          <a:xfrm>
            <a:off x="10067544" y="2633472"/>
            <a:ext cx="50292" cy="50292"/>
          </a:xfrm>
          <a:prstGeom prst="ellipse">
            <a:avLst/>
          </a:prstGeom>
          <a:solidFill>
            <a:srgbClr val="243127"/>
          </a:solidFill>
          <a:ln w="1270">
            <a:solidFill>
              <a:srgbClr val="243127">
                <a:alpha val="0"/>
              </a:srgbClr>
            </a:solidFill>
            <a:prstDash val="solid"/>
          </a:ln>
        </p:spPr>
      </p:sp>
      <p:sp>
        <p:nvSpPr>
          <p:cNvPr id="51" name="Shape 49"/>
          <p:cNvSpPr/>
          <p:nvPr/>
        </p:nvSpPr>
        <p:spPr>
          <a:xfrm>
            <a:off x="10497312" y="2633472"/>
            <a:ext cx="50292" cy="50292"/>
          </a:xfrm>
          <a:prstGeom prst="ellipse">
            <a:avLst/>
          </a:prstGeom>
          <a:solidFill>
            <a:srgbClr val="243127"/>
          </a:solidFill>
          <a:ln w="1270">
            <a:solidFill>
              <a:srgbClr val="243127">
                <a:alpha val="0"/>
              </a:srgbClr>
            </a:solidFill>
            <a:prstDash val="solid"/>
          </a:ln>
        </p:spPr>
      </p:sp>
      <p:sp>
        <p:nvSpPr>
          <p:cNvPr id="52" name="Shape 50"/>
          <p:cNvSpPr/>
          <p:nvPr/>
        </p:nvSpPr>
        <p:spPr>
          <a:xfrm>
            <a:off x="6629400" y="3108960"/>
            <a:ext cx="50292" cy="50292"/>
          </a:xfrm>
          <a:prstGeom prst="ellipse">
            <a:avLst/>
          </a:prstGeom>
          <a:solidFill>
            <a:srgbClr val="243127"/>
          </a:solidFill>
          <a:ln w="1270">
            <a:solidFill>
              <a:srgbClr val="243127">
                <a:alpha val="0"/>
              </a:srgbClr>
            </a:solidFill>
            <a:prstDash val="solid"/>
          </a:ln>
        </p:spPr>
      </p:sp>
      <p:sp>
        <p:nvSpPr>
          <p:cNvPr id="53" name="Shape 51"/>
          <p:cNvSpPr/>
          <p:nvPr/>
        </p:nvSpPr>
        <p:spPr>
          <a:xfrm>
            <a:off x="7059168" y="3108960"/>
            <a:ext cx="50292" cy="50292"/>
          </a:xfrm>
          <a:prstGeom prst="ellipse">
            <a:avLst/>
          </a:prstGeom>
          <a:solidFill>
            <a:srgbClr val="243127"/>
          </a:solidFill>
          <a:ln w="1270">
            <a:solidFill>
              <a:srgbClr val="243127">
                <a:alpha val="0"/>
              </a:srgbClr>
            </a:solidFill>
            <a:prstDash val="solid"/>
          </a:ln>
        </p:spPr>
      </p:sp>
      <p:sp>
        <p:nvSpPr>
          <p:cNvPr id="54" name="Shape 52"/>
          <p:cNvSpPr/>
          <p:nvPr/>
        </p:nvSpPr>
        <p:spPr>
          <a:xfrm>
            <a:off x="7488936" y="3108960"/>
            <a:ext cx="50292" cy="50292"/>
          </a:xfrm>
          <a:prstGeom prst="ellipse">
            <a:avLst/>
          </a:prstGeom>
          <a:solidFill>
            <a:srgbClr val="243127"/>
          </a:solidFill>
          <a:ln w="1270">
            <a:solidFill>
              <a:srgbClr val="243127">
                <a:alpha val="0"/>
              </a:srgbClr>
            </a:solidFill>
            <a:prstDash val="solid"/>
          </a:ln>
        </p:spPr>
      </p:sp>
      <p:sp>
        <p:nvSpPr>
          <p:cNvPr id="55" name="Shape 53"/>
          <p:cNvSpPr/>
          <p:nvPr/>
        </p:nvSpPr>
        <p:spPr>
          <a:xfrm>
            <a:off x="7918704" y="3108960"/>
            <a:ext cx="50292" cy="50292"/>
          </a:xfrm>
          <a:prstGeom prst="ellipse">
            <a:avLst/>
          </a:prstGeom>
          <a:solidFill>
            <a:srgbClr val="243127"/>
          </a:solidFill>
          <a:ln w="1270">
            <a:solidFill>
              <a:srgbClr val="243127">
                <a:alpha val="0"/>
              </a:srgbClr>
            </a:solidFill>
            <a:prstDash val="solid"/>
          </a:ln>
        </p:spPr>
      </p:sp>
      <p:sp>
        <p:nvSpPr>
          <p:cNvPr id="56" name="Shape 54"/>
          <p:cNvSpPr/>
          <p:nvPr/>
        </p:nvSpPr>
        <p:spPr>
          <a:xfrm>
            <a:off x="8348472" y="3108960"/>
            <a:ext cx="50292" cy="50292"/>
          </a:xfrm>
          <a:prstGeom prst="ellipse">
            <a:avLst/>
          </a:prstGeom>
          <a:solidFill>
            <a:srgbClr val="243127"/>
          </a:solidFill>
          <a:ln w="1270">
            <a:solidFill>
              <a:srgbClr val="243127">
                <a:alpha val="0"/>
              </a:srgbClr>
            </a:solidFill>
            <a:prstDash val="solid"/>
          </a:ln>
        </p:spPr>
      </p:sp>
      <p:sp>
        <p:nvSpPr>
          <p:cNvPr id="57" name="Shape 55"/>
          <p:cNvSpPr/>
          <p:nvPr/>
        </p:nvSpPr>
        <p:spPr>
          <a:xfrm>
            <a:off x="8778240" y="3108960"/>
            <a:ext cx="50292" cy="50292"/>
          </a:xfrm>
          <a:prstGeom prst="ellipse">
            <a:avLst/>
          </a:prstGeom>
          <a:solidFill>
            <a:srgbClr val="243127"/>
          </a:solidFill>
          <a:ln w="1270">
            <a:solidFill>
              <a:srgbClr val="243127">
                <a:alpha val="0"/>
              </a:srgbClr>
            </a:solidFill>
            <a:prstDash val="solid"/>
          </a:ln>
        </p:spPr>
      </p:sp>
      <p:sp>
        <p:nvSpPr>
          <p:cNvPr id="58" name="Shape 56"/>
          <p:cNvSpPr/>
          <p:nvPr/>
        </p:nvSpPr>
        <p:spPr>
          <a:xfrm>
            <a:off x="9208008" y="3108960"/>
            <a:ext cx="50292" cy="50292"/>
          </a:xfrm>
          <a:prstGeom prst="ellipse">
            <a:avLst/>
          </a:prstGeom>
          <a:solidFill>
            <a:srgbClr val="243127"/>
          </a:solidFill>
          <a:ln w="1270">
            <a:solidFill>
              <a:srgbClr val="243127">
                <a:alpha val="0"/>
              </a:srgbClr>
            </a:solidFill>
            <a:prstDash val="solid"/>
          </a:ln>
        </p:spPr>
      </p:sp>
      <p:sp>
        <p:nvSpPr>
          <p:cNvPr id="59" name="Shape 57"/>
          <p:cNvSpPr/>
          <p:nvPr/>
        </p:nvSpPr>
        <p:spPr>
          <a:xfrm>
            <a:off x="9637776" y="3108960"/>
            <a:ext cx="50292" cy="50292"/>
          </a:xfrm>
          <a:prstGeom prst="ellipse">
            <a:avLst/>
          </a:prstGeom>
          <a:solidFill>
            <a:srgbClr val="243127"/>
          </a:solidFill>
          <a:ln w="1270">
            <a:solidFill>
              <a:srgbClr val="243127">
                <a:alpha val="0"/>
              </a:srgbClr>
            </a:solidFill>
            <a:prstDash val="solid"/>
          </a:ln>
        </p:spPr>
      </p:sp>
      <p:sp>
        <p:nvSpPr>
          <p:cNvPr id="60" name="Shape 58"/>
          <p:cNvSpPr/>
          <p:nvPr/>
        </p:nvSpPr>
        <p:spPr>
          <a:xfrm>
            <a:off x="10067544" y="3108960"/>
            <a:ext cx="50292" cy="50292"/>
          </a:xfrm>
          <a:prstGeom prst="ellipse">
            <a:avLst/>
          </a:prstGeom>
          <a:solidFill>
            <a:srgbClr val="D4FF3F"/>
          </a:solidFill>
          <a:ln w="1270">
            <a:solidFill>
              <a:srgbClr val="D4FF3F">
                <a:alpha val="0"/>
              </a:srgbClr>
            </a:solidFill>
            <a:prstDash val="solid"/>
          </a:ln>
        </p:spPr>
      </p:sp>
      <p:sp>
        <p:nvSpPr>
          <p:cNvPr id="61" name="Shape 59"/>
          <p:cNvSpPr/>
          <p:nvPr/>
        </p:nvSpPr>
        <p:spPr>
          <a:xfrm>
            <a:off x="10497312" y="3108960"/>
            <a:ext cx="50292" cy="50292"/>
          </a:xfrm>
          <a:prstGeom prst="ellipse">
            <a:avLst/>
          </a:prstGeom>
          <a:solidFill>
            <a:srgbClr val="243127"/>
          </a:solidFill>
          <a:ln w="1270">
            <a:solidFill>
              <a:srgbClr val="243127">
                <a:alpha val="0"/>
              </a:srgbClr>
            </a:solidFill>
            <a:prstDash val="solid"/>
          </a:ln>
        </p:spPr>
      </p:sp>
      <p:sp>
        <p:nvSpPr>
          <p:cNvPr id="62" name="Shape 60"/>
          <p:cNvSpPr/>
          <p:nvPr/>
        </p:nvSpPr>
        <p:spPr>
          <a:xfrm>
            <a:off x="6629400" y="3584448"/>
            <a:ext cx="50292" cy="50292"/>
          </a:xfrm>
          <a:prstGeom prst="ellipse">
            <a:avLst/>
          </a:prstGeom>
          <a:solidFill>
            <a:srgbClr val="243127"/>
          </a:solidFill>
          <a:ln w="1270">
            <a:solidFill>
              <a:srgbClr val="243127">
                <a:alpha val="0"/>
              </a:srgbClr>
            </a:solidFill>
            <a:prstDash val="solid"/>
          </a:ln>
        </p:spPr>
      </p:sp>
      <p:sp>
        <p:nvSpPr>
          <p:cNvPr id="63" name="Shape 61"/>
          <p:cNvSpPr/>
          <p:nvPr/>
        </p:nvSpPr>
        <p:spPr>
          <a:xfrm>
            <a:off x="7059168" y="3584448"/>
            <a:ext cx="50292" cy="50292"/>
          </a:xfrm>
          <a:prstGeom prst="ellipse">
            <a:avLst/>
          </a:prstGeom>
          <a:solidFill>
            <a:srgbClr val="243127"/>
          </a:solidFill>
          <a:ln w="1270">
            <a:solidFill>
              <a:srgbClr val="243127">
                <a:alpha val="0"/>
              </a:srgbClr>
            </a:solidFill>
            <a:prstDash val="solid"/>
          </a:ln>
        </p:spPr>
      </p:sp>
      <p:sp>
        <p:nvSpPr>
          <p:cNvPr id="64" name="Shape 62"/>
          <p:cNvSpPr/>
          <p:nvPr/>
        </p:nvSpPr>
        <p:spPr>
          <a:xfrm>
            <a:off x="7488936" y="3584448"/>
            <a:ext cx="50292" cy="50292"/>
          </a:xfrm>
          <a:prstGeom prst="ellipse">
            <a:avLst/>
          </a:prstGeom>
          <a:solidFill>
            <a:srgbClr val="CBB3E8"/>
          </a:solidFill>
          <a:ln w="1270">
            <a:solidFill>
              <a:srgbClr val="CBB3E8">
                <a:alpha val="0"/>
              </a:srgbClr>
            </a:solidFill>
            <a:prstDash val="solid"/>
          </a:ln>
        </p:spPr>
      </p:sp>
      <p:sp>
        <p:nvSpPr>
          <p:cNvPr id="65" name="Shape 63"/>
          <p:cNvSpPr/>
          <p:nvPr/>
        </p:nvSpPr>
        <p:spPr>
          <a:xfrm>
            <a:off x="7918704" y="3584448"/>
            <a:ext cx="50292" cy="50292"/>
          </a:xfrm>
          <a:prstGeom prst="ellipse">
            <a:avLst/>
          </a:prstGeom>
          <a:solidFill>
            <a:srgbClr val="243127"/>
          </a:solidFill>
          <a:ln w="1270">
            <a:solidFill>
              <a:srgbClr val="243127">
                <a:alpha val="0"/>
              </a:srgbClr>
            </a:solidFill>
            <a:prstDash val="solid"/>
          </a:ln>
        </p:spPr>
      </p:sp>
      <p:sp>
        <p:nvSpPr>
          <p:cNvPr id="66" name="Shape 64"/>
          <p:cNvSpPr/>
          <p:nvPr/>
        </p:nvSpPr>
        <p:spPr>
          <a:xfrm>
            <a:off x="8348472" y="3584448"/>
            <a:ext cx="50292" cy="50292"/>
          </a:xfrm>
          <a:prstGeom prst="ellipse">
            <a:avLst/>
          </a:prstGeom>
          <a:solidFill>
            <a:srgbClr val="243127"/>
          </a:solidFill>
          <a:ln w="1270">
            <a:solidFill>
              <a:srgbClr val="243127">
                <a:alpha val="0"/>
              </a:srgbClr>
            </a:solidFill>
            <a:prstDash val="solid"/>
          </a:ln>
        </p:spPr>
      </p:sp>
      <p:sp>
        <p:nvSpPr>
          <p:cNvPr id="67" name="Shape 65"/>
          <p:cNvSpPr/>
          <p:nvPr/>
        </p:nvSpPr>
        <p:spPr>
          <a:xfrm>
            <a:off x="8778240" y="3584448"/>
            <a:ext cx="50292" cy="50292"/>
          </a:xfrm>
          <a:prstGeom prst="ellipse">
            <a:avLst/>
          </a:prstGeom>
          <a:solidFill>
            <a:srgbClr val="243127"/>
          </a:solidFill>
          <a:ln w="1270">
            <a:solidFill>
              <a:srgbClr val="243127">
                <a:alpha val="0"/>
              </a:srgbClr>
            </a:solidFill>
            <a:prstDash val="solid"/>
          </a:ln>
        </p:spPr>
      </p:sp>
      <p:sp>
        <p:nvSpPr>
          <p:cNvPr id="68" name="Shape 66"/>
          <p:cNvSpPr/>
          <p:nvPr/>
        </p:nvSpPr>
        <p:spPr>
          <a:xfrm>
            <a:off x="9208008" y="3584448"/>
            <a:ext cx="50292" cy="50292"/>
          </a:xfrm>
          <a:prstGeom prst="ellipse">
            <a:avLst/>
          </a:prstGeom>
          <a:solidFill>
            <a:srgbClr val="243127"/>
          </a:solidFill>
          <a:ln w="1270">
            <a:solidFill>
              <a:srgbClr val="243127">
                <a:alpha val="0"/>
              </a:srgbClr>
            </a:solidFill>
            <a:prstDash val="solid"/>
          </a:ln>
        </p:spPr>
      </p:sp>
      <p:sp>
        <p:nvSpPr>
          <p:cNvPr id="69" name="Shape 67"/>
          <p:cNvSpPr/>
          <p:nvPr/>
        </p:nvSpPr>
        <p:spPr>
          <a:xfrm>
            <a:off x="9637776" y="3584448"/>
            <a:ext cx="50292" cy="50292"/>
          </a:xfrm>
          <a:prstGeom prst="ellipse">
            <a:avLst/>
          </a:prstGeom>
          <a:solidFill>
            <a:srgbClr val="243127"/>
          </a:solidFill>
          <a:ln w="1270">
            <a:solidFill>
              <a:srgbClr val="243127">
                <a:alpha val="0"/>
              </a:srgbClr>
            </a:solidFill>
            <a:prstDash val="solid"/>
          </a:ln>
        </p:spPr>
      </p:sp>
      <p:sp>
        <p:nvSpPr>
          <p:cNvPr id="70" name="Shape 68"/>
          <p:cNvSpPr/>
          <p:nvPr/>
        </p:nvSpPr>
        <p:spPr>
          <a:xfrm>
            <a:off x="10067544" y="3584448"/>
            <a:ext cx="50292" cy="50292"/>
          </a:xfrm>
          <a:prstGeom prst="ellipse">
            <a:avLst/>
          </a:prstGeom>
          <a:solidFill>
            <a:srgbClr val="243127"/>
          </a:solidFill>
          <a:ln w="1270">
            <a:solidFill>
              <a:srgbClr val="243127">
                <a:alpha val="0"/>
              </a:srgbClr>
            </a:solidFill>
            <a:prstDash val="solid"/>
          </a:ln>
        </p:spPr>
      </p:sp>
      <p:sp>
        <p:nvSpPr>
          <p:cNvPr id="71" name="Shape 69"/>
          <p:cNvSpPr/>
          <p:nvPr/>
        </p:nvSpPr>
        <p:spPr>
          <a:xfrm>
            <a:off x="10497312" y="3584448"/>
            <a:ext cx="50292" cy="50292"/>
          </a:xfrm>
          <a:prstGeom prst="ellipse">
            <a:avLst/>
          </a:prstGeom>
          <a:solidFill>
            <a:srgbClr val="243127"/>
          </a:solidFill>
          <a:ln w="1270">
            <a:solidFill>
              <a:srgbClr val="243127">
                <a:alpha val="0"/>
              </a:srgbClr>
            </a:solidFill>
            <a:prstDash val="solid"/>
          </a:ln>
        </p:spPr>
      </p:sp>
      <p:sp>
        <p:nvSpPr>
          <p:cNvPr id="72" name="Shape 70"/>
          <p:cNvSpPr/>
          <p:nvPr/>
        </p:nvSpPr>
        <p:spPr>
          <a:xfrm>
            <a:off x="6629400" y="4059936"/>
            <a:ext cx="50292" cy="50292"/>
          </a:xfrm>
          <a:prstGeom prst="ellipse">
            <a:avLst/>
          </a:prstGeom>
          <a:solidFill>
            <a:srgbClr val="243127"/>
          </a:solidFill>
          <a:ln w="1270">
            <a:solidFill>
              <a:srgbClr val="243127">
                <a:alpha val="0"/>
              </a:srgbClr>
            </a:solidFill>
            <a:prstDash val="solid"/>
          </a:ln>
        </p:spPr>
      </p:sp>
      <p:sp>
        <p:nvSpPr>
          <p:cNvPr id="73" name="Shape 71"/>
          <p:cNvSpPr/>
          <p:nvPr/>
        </p:nvSpPr>
        <p:spPr>
          <a:xfrm>
            <a:off x="7059168" y="4059936"/>
            <a:ext cx="50292" cy="50292"/>
          </a:xfrm>
          <a:prstGeom prst="ellipse">
            <a:avLst/>
          </a:prstGeom>
          <a:solidFill>
            <a:srgbClr val="243127"/>
          </a:solidFill>
          <a:ln w="1270">
            <a:solidFill>
              <a:srgbClr val="243127">
                <a:alpha val="0"/>
              </a:srgbClr>
            </a:solidFill>
            <a:prstDash val="solid"/>
          </a:ln>
        </p:spPr>
      </p:sp>
      <p:sp>
        <p:nvSpPr>
          <p:cNvPr id="74" name="Shape 72"/>
          <p:cNvSpPr/>
          <p:nvPr/>
        </p:nvSpPr>
        <p:spPr>
          <a:xfrm>
            <a:off x="7488936" y="4059936"/>
            <a:ext cx="50292" cy="50292"/>
          </a:xfrm>
          <a:prstGeom prst="ellipse">
            <a:avLst/>
          </a:prstGeom>
          <a:solidFill>
            <a:srgbClr val="243127"/>
          </a:solidFill>
          <a:ln w="1270">
            <a:solidFill>
              <a:srgbClr val="243127">
                <a:alpha val="0"/>
              </a:srgbClr>
            </a:solidFill>
            <a:prstDash val="solid"/>
          </a:ln>
        </p:spPr>
      </p:sp>
      <p:sp>
        <p:nvSpPr>
          <p:cNvPr id="75" name="Shape 73"/>
          <p:cNvSpPr/>
          <p:nvPr/>
        </p:nvSpPr>
        <p:spPr>
          <a:xfrm>
            <a:off x="7918704" y="4059936"/>
            <a:ext cx="50292" cy="50292"/>
          </a:xfrm>
          <a:prstGeom prst="ellipse">
            <a:avLst/>
          </a:prstGeom>
          <a:solidFill>
            <a:srgbClr val="243127"/>
          </a:solidFill>
          <a:ln w="1270">
            <a:solidFill>
              <a:srgbClr val="243127">
                <a:alpha val="0"/>
              </a:srgbClr>
            </a:solidFill>
            <a:prstDash val="solid"/>
          </a:ln>
        </p:spPr>
      </p:sp>
      <p:sp>
        <p:nvSpPr>
          <p:cNvPr id="76" name="Shape 74"/>
          <p:cNvSpPr/>
          <p:nvPr/>
        </p:nvSpPr>
        <p:spPr>
          <a:xfrm>
            <a:off x="8348472" y="4059936"/>
            <a:ext cx="50292" cy="50292"/>
          </a:xfrm>
          <a:prstGeom prst="ellipse">
            <a:avLst/>
          </a:prstGeom>
          <a:solidFill>
            <a:srgbClr val="243127"/>
          </a:solidFill>
          <a:ln w="1270">
            <a:solidFill>
              <a:srgbClr val="243127">
                <a:alpha val="0"/>
              </a:srgbClr>
            </a:solidFill>
            <a:prstDash val="solid"/>
          </a:ln>
        </p:spPr>
      </p:sp>
      <p:sp>
        <p:nvSpPr>
          <p:cNvPr id="77" name="Shape 75"/>
          <p:cNvSpPr/>
          <p:nvPr/>
        </p:nvSpPr>
        <p:spPr>
          <a:xfrm>
            <a:off x="8778240" y="4059936"/>
            <a:ext cx="50292" cy="50292"/>
          </a:xfrm>
          <a:prstGeom prst="ellipse">
            <a:avLst/>
          </a:prstGeom>
          <a:solidFill>
            <a:srgbClr val="243127"/>
          </a:solidFill>
          <a:ln w="1270">
            <a:solidFill>
              <a:srgbClr val="243127">
                <a:alpha val="0"/>
              </a:srgbClr>
            </a:solidFill>
            <a:prstDash val="solid"/>
          </a:ln>
        </p:spPr>
      </p:sp>
      <p:sp>
        <p:nvSpPr>
          <p:cNvPr id="78" name="Shape 76"/>
          <p:cNvSpPr/>
          <p:nvPr/>
        </p:nvSpPr>
        <p:spPr>
          <a:xfrm>
            <a:off x="9208008" y="4059936"/>
            <a:ext cx="50292" cy="50292"/>
          </a:xfrm>
          <a:prstGeom prst="ellipse">
            <a:avLst/>
          </a:prstGeom>
          <a:solidFill>
            <a:srgbClr val="D4FF3F"/>
          </a:solidFill>
          <a:ln w="1270">
            <a:solidFill>
              <a:srgbClr val="D4FF3F">
                <a:alpha val="0"/>
              </a:srgbClr>
            </a:solidFill>
            <a:prstDash val="solid"/>
          </a:ln>
        </p:spPr>
      </p:sp>
      <p:sp>
        <p:nvSpPr>
          <p:cNvPr id="79" name="Shape 77"/>
          <p:cNvSpPr/>
          <p:nvPr/>
        </p:nvSpPr>
        <p:spPr>
          <a:xfrm>
            <a:off x="9637776" y="4059936"/>
            <a:ext cx="50292" cy="50292"/>
          </a:xfrm>
          <a:prstGeom prst="ellipse">
            <a:avLst/>
          </a:prstGeom>
          <a:solidFill>
            <a:srgbClr val="243127"/>
          </a:solidFill>
          <a:ln w="1270">
            <a:solidFill>
              <a:srgbClr val="243127">
                <a:alpha val="0"/>
              </a:srgbClr>
            </a:solidFill>
            <a:prstDash val="solid"/>
          </a:ln>
        </p:spPr>
      </p:sp>
      <p:sp>
        <p:nvSpPr>
          <p:cNvPr id="80" name="Shape 78"/>
          <p:cNvSpPr/>
          <p:nvPr/>
        </p:nvSpPr>
        <p:spPr>
          <a:xfrm>
            <a:off x="10067544" y="4059936"/>
            <a:ext cx="50292" cy="50292"/>
          </a:xfrm>
          <a:prstGeom prst="ellipse">
            <a:avLst/>
          </a:prstGeom>
          <a:solidFill>
            <a:srgbClr val="243127"/>
          </a:solidFill>
          <a:ln w="1270">
            <a:solidFill>
              <a:srgbClr val="243127">
                <a:alpha val="0"/>
              </a:srgbClr>
            </a:solidFill>
            <a:prstDash val="solid"/>
          </a:ln>
        </p:spPr>
      </p:sp>
      <p:sp>
        <p:nvSpPr>
          <p:cNvPr id="81" name="Shape 79"/>
          <p:cNvSpPr/>
          <p:nvPr/>
        </p:nvSpPr>
        <p:spPr>
          <a:xfrm>
            <a:off x="10497312" y="4059936"/>
            <a:ext cx="50292" cy="50292"/>
          </a:xfrm>
          <a:prstGeom prst="ellipse">
            <a:avLst/>
          </a:prstGeom>
          <a:solidFill>
            <a:srgbClr val="243127"/>
          </a:solidFill>
          <a:ln w="1270">
            <a:solidFill>
              <a:srgbClr val="243127">
                <a:alpha val="0"/>
              </a:srgbClr>
            </a:solidFill>
            <a:prstDash val="solid"/>
          </a:ln>
        </p:spPr>
      </p:sp>
      <p:sp>
        <p:nvSpPr>
          <p:cNvPr id="82" name="Shape 80"/>
          <p:cNvSpPr/>
          <p:nvPr/>
        </p:nvSpPr>
        <p:spPr>
          <a:xfrm>
            <a:off x="6629400" y="4535424"/>
            <a:ext cx="50292" cy="50292"/>
          </a:xfrm>
          <a:prstGeom prst="ellipse">
            <a:avLst/>
          </a:prstGeom>
          <a:solidFill>
            <a:srgbClr val="243127"/>
          </a:solidFill>
          <a:ln w="1270">
            <a:solidFill>
              <a:srgbClr val="243127">
                <a:alpha val="0"/>
              </a:srgbClr>
            </a:solidFill>
            <a:prstDash val="solid"/>
          </a:ln>
        </p:spPr>
      </p:sp>
      <p:sp>
        <p:nvSpPr>
          <p:cNvPr id="83" name="Shape 81"/>
          <p:cNvSpPr/>
          <p:nvPr/>
        </p:nvSpPr>
        <p:spPr>
          <a:xfrm>
            <a:off x="7059168" y="4535424"/>
            <a:ext cx="50292" cy="50292"/>
          </a:xfrm>
          <a:prstGeom prst="ellipse">
            <a:avLst/>
          </a:prstGeom>
          <a:solidFill>
            <a:srgbClr val="243127"/>
          </a:solidFill>
          <a:ln w="1270">
            <a:solidFill>
              <a:srgbClr val="243127">
                <a:alpha val="0"/>
              </a:srgbClr>
            </a:solidFill>
            <a:prstDash val="solid"/>
          </a:ln>
        </p:spPr>
      </p:sp>
      <p:sp>
        <p:nvSpPr>
          <p:cNvPr id="84" name="Shape 82"/>
          <p:cNvSpPr/>
          <p:nvPr/>
        </p:nvSpPr>
        <p:spPr>
          <a:xfrm>
            <a:off x="7488936" y="4535424"/>
            <a:ext cx="50292" cy="50292"/>
          </a:xfrm>
          <a:prstGeom prst="ellipse">
            <a:avLst/>
          </a:prstGeom>
          <a:solidFill>
            <a:srgbClr val="243127"/>
          </a:solidFill>
          <a:ln w="1270">
            <a:solidFill>
              <a:srgbClr val="243127">
                <a:alpha val="0"/>
              </a:srgbClr>
            </a:solidFill>
            <a:prstDash val="solid"/>
          </a:ln>
        </p:spPr>
      </p:sp>
      <p:sp>
        <p:nvSpPr>
          <p:cNvPr id="85" name="Shape 83"/>
          <p:cNvSpPr/>
          <p:nvPr/>
        </p:nvSpPr>
        <p:spPr>
          <a:xfrm>
            <a:off x="7918704" y="4535424"/>
            <a:ext cx="50292" cy="50292"/>
          </a:xfrm>
          <a:prstGeom prst="ellipse">
            <a:avLst/>
          </a:prstGeom>
          <a:solidFill>
            <a:srgbClr val="243127"/>
          </a:solidFill>
          <a:ln w="1270">
            <a:solidFill>
              <a:srgbClr val="243127">
                <a:alpha val="0"/>
              </a:srgbClr>
            </a:solidFill>
            <a:prstDash val="solid"/>
          </a:ln>
        </p:spPr>
      </p:sp>
      <p:sp>
        <p:nvSpPr>
          <p:cNvPr id="86" name="Shape 84"/>
          <p:cNvSpPr/>
          <p:nvPr/>
        </p:nvSpPr>
        <p:spPr>
          <a:xfrm>
            <a:off x="8348472" y="4535424"/>
            <a:ext cx="50292" cy="50292"/>
          </a:xfrm>
          <a:prstGeom prst="ellipse">
            <a:avLst/>
          </a:prstGeom>
          <a:solidFill>
            <a:srgbClr val="243127"/>
          </a:solidFill>
          <a:ln w="1270">
            <a:solidFill>
              <a:srgbClr val="243127">
                <a:alpha val="0"/>
              </a:srgbClr>
            </a:solidFill>
            <a:prstDash val="solid"/>
          </a:ln>
        </p:spPr>
      </p:sp>
      <p:sp>
        <p:nvSpPr>
          <p:cNvPr id="87" name="Shape 85"/>
          <p:cNvSpPr/>
          <p:nvPr/>
        </p:nvSpPr>
        <p:spPr>
          <a:xfrm>
            <a:off x="8778240" y="4535424"/>
            <a:ext cx="50292" cy="50292"/>
          </a:xfrm>
          <a:prstGeom prst="ellipse">
            <a:avLst/>
          </a:prstGeom>
          <a:solidFill>
            <a:srgbClr val="243127"/>
          </a:solidFill>
          <a:ln w="1270">
            <a:solidFill>
              <a:srgbClr val="243127">
                <a:alpha val="0"/>
              </a:srgbClr>
            </a:solidFill>
            <a:prstDash val="solid"/>
          </a:ln>
        </p:spPr>
      </p:sp>
      <p:sp>
        <p:nvSpPr>
          <p:cNvPr id="88" name="Shape 86"/>
          <p:cNvSpPr/>
          <p:nvPr/>
        </p:nvSpPr>
        <p:spPr>
          <a:xfrm>
            <a:off x="9208008" y="4535424"/>
            <a:ext cx="50292" cy="50292"/>
          </a:xfrm>
          <a:prstGeom prst="ellipse">
            <a:avLst/>
          </a:prstGeom>
          <a:solidFill>
            <a:srgbClr val="243127"/>
          </a:solidFill>
          <a:ln w="1270">
            <a:solidFill>
              <a:srgbClr val="243127">
                <a:alpha val="0"/>
              </a:srgbClr>
            </a:solidFill>
            <a:prstDash val="solid"/>
          </a:ln>
        </p:spPr>
      </p:sp>
      <p:sp>
        <p:nvSpPr>
          <p:cNvPr id="89" name="Shape 87"/>
          <p:cNvSpPr/>
          <p:nvPr/>
        </p:nvSpPr>
        <p:spPr>
          <a:xfrm>
            <a:off x="9637776" y="4535424"/>
            <a:ext cx="50292" cy="50292"/>
          </a:xfrm>
          <a:prstGeom prst="ellipse">
            <a:avLst/>
          </a:prstGeom>
          <a:solidFill>
            <a:srgbClr val="243127"/>
          </a:solidFill>
          <a:ln w="1270">
            <a:solidFill>
              <a:srgbClr val="243127">
                <a:alpha val="0"/>
              </a:srgbClr>
            </a:solidFill>
            <a:prstDash val="solid"/>
          </a:ln>
        </p:spPr>
      </p:sp>
      <p:sp>
        <p:nvSpPr>
          <p:cNvPr id="90" name="Shape 88"/>
          <p:cNvSpPr/>
          <p:nvPr/>
        </p:nvSpPr>
        <p:spPr>
          <a:xfrm>
            <a:off x="10067544" y="4535424"/>
            <a:ext cx="50292" cy="50292"/>
          </a:xfrm>
          <a:prstGeom prst="ellipse">
            <a:avLst/>
          </a:prstGeom>
          <a:solidFill>
            <a:srgbClr val="243127"/>
          </a:solidFill>
          <a:ln w="1270">
            <a:solidFill>
              <a:srgbClr val="243127">
                <a:alpha val="0"/>
              </a:srgbClr>
            </a:solidFill>
            <a:prstDash val="solid"/>
          </a:ln>
        </p:spPr>
      </p:sp>
      <p:sp>
        <p:nvSpPr>
          <p:cNvPr id="91" name="Shape 89"/>
          <p:cNvSpPr/>
          <p:nvPr/>
        </p:nvSpPr>
        <p:spPr>
          <a:xfrm>
            <a:off x="10497312" y="4535424"/>
            <a:ext cx="50292" cy="50292"/>
          </a:xfrm>
          <a:prstGeom prst="ellipse">
            <a:avLst/>
          </a:prstGeom>
          <a:solidFill>
            <a:srgbClr val="243127"/>
          </a:solidFill>
          <a:ln w="1270">
            <a:solidFill>
              <a:srgbClr val="243127">
                <a:alpha val="0"/>
              </a:srgbClr>
            </a:solidFill>
            <a:prstDash val="solid"/>
          </a:ln>
        </p:spPr>
      </p:sp>
      <p:sp>
        <p:nvSpPr>
          <p:cNvPr id="92" name="Shape 90"/>
          <p:cNvSpPr/>
          <p:nvPr/>
        </p:nvSpPr>
        <p:spPr>
          <a:xfrm>
            <a:off x="621792" y="457200"/>
            <a:ext cx="68580" cy="68580"/>
          </a:xfrm>
          <a:prstGeom prst="rect">
            <a:avLst/>
          </a:prstGeom>
          <a:solidFill>
            <a:srgbClr val="D4FF3F"/>
          </a:solidFill>
          <a:ln w="1270">
            <a:solidFill>
              <a:srgbClr val="D4FF3F">
                <a:alpha val="0"/>
              </a:srgbClr>
            </a:solidFill>
            <a:prstDash val="solid"/>
          </a:ln>
        </p:spPr>
      </p:sp>
      <p:sp>
        <p:nvSpPr>
          <p:cNvPr id="93" name="Shape 91"/>
          <p:cNvSpPr/>
          <p:nvPr/>
        </p:nvSpPr>
        <p:spPr>
          <a:xfrm>
            <a:off x="740664" y="457200"/>
            <a:ext cx="68580" cy="68580"/>
          </a:xfrm>
          <a:prstGeom prst="rect">
            <a:avLst/>
          </a:prstGeom>
          <a:solidFill>
            <a:srgbClr val="D4FF3F"/>
          </a:solidFill>
          <a:ln w="1270">
            <a:solidFill>
              <a:srgbClr val="D4FF3F">
                <a:alpha val="0"/>
              </a:srgbClr>
            </a:solidFill>
            <a:prstDash val="solid"/>
          </a:ln>
        </p:spPr>
      </p:sp>
      <p:sp>
        <p:nvSpPr>
          <p:cNvPr id="94" name="Shape 92"/>
          <p:cNvSpPr/>
          <p:nvPr/>
        </p:nvSpPr>
        <p:spPr>
          <a:xfrm>
            <a:off x="859536" y="457200"/>
            <a:ext cx="68580" cy="68580"/>
          </a:xfrm>
          <a:prstGeom prst="rect">
            <a:avLst/>
          </a:prstGeom>
          <a:solidFill>
            <a:srgbClr val="CBB3E8"/>
          </a:solidFill>
          <a:ln w="1270">
            <a:solidFill>
              <a:srgbClr val="CBB3E8">
                <a:alpha val="0"/>
              </a:srgbClr>
            </a:solidFill>
            <a:prstDash val="solid"/>
          </a:ln>
        </p:spPr>
      </p:sp>
      <p:sp>
        <p:nvSpPr>
          <p:cNvPr id="95" name="Shape 93"/>
          <p:cNvSpPr/>
          <p:nvPr/>
        </p:nvSpPr>
        <p:spPr>
          <a:xfrm>
            <a:off x="621792" y="576072"/>
            <a:ext cx="68580" cy="68580"/>
          </a:xfrm>
          <a:prstGeom prst="rect">
            <a:avLst/>
          </a:prstGeom>
          <a:solidFill>
            <a:srgbClr val="F4F5EF"/>
          </a:solidFill>
          <a:ln w="1270">
            <a:solidFill>
              <a:srgbClr val="F4F5EF">
                <a:alpha val="0"/>
              </a:srgbClr>
            </a:solidFill>
            <a:prstDash val="solid"/>
          </a:ln>
        </p:spPr>
      </p:sp>
      <p:sp>
        <p:nvSpPr>
          <p:cNvPr id="96" name="Shape 94"/>
          <p:cNvSpPr/>
          <p:nvPr/>
        </p:nvSpPr>
        <p:spPr>
          <a:xfrm>
            <a:off x="740664" y="576072"/>
            <a:ext cx="68580" cy="68580"/>
          </a:xfrm>
          <a:prstGeom prst="rect">
            <a:avLst/>
          </a:prstGeom>
          <a:solidFill>
            <a:srgbClr val="D4FF3F"/>
          </a:solidFill>
          <a:ln w="1270">
            <a:solidFill>
              <a:srgbClr val="D4FF3F">
                <a:alpha val="0"/>
              </a:srgbClr>
            </a:solidFill>
            <a:prstDash val="solid"/>
          </a:ln>
        </p:spPr>
      </p:sp>
      <p:sp>
        <p:nvSpPr>
          <p:cNvPr id="97" name="Shape 95"/>
          <p:cNvSpPr/>
          <p:nvPr/>
        </p:nvSpPr>
        <p:spPr>
          <a:xfrm>
            <a:off x="859536" y="576072"/>
            <a:ext cx="68580" cy="68580"/>
          </a:xfrm>
          <a:prstGeom prst="rect">
            <a:avLst/>
          </a:prstGeom>
          <a:solidFill>
            <a:srgbClr val="F4F5EF"/>
          </a:solidFill>
          <a:ln w="1270">
            <a:solidFill>
              <a:srgbClr val="F4F5EF">
                <a:alpha val="0"/>
              </a:srgbClr>
            </a:solidFill>
            <a:prstDash val="solid"/>
          </a:ln>
        </p:spPr>
      </p:sp>
      <p:sp>
        <p:nvSpPr>
          <p:cNvPr id="98" name="Text 96"/>
          <p:cNvSpPr txBox="1"/>
          <p:nvPr/>
        </p:nvSpPr>
        <p:spPr>
          <a:xfrm>
            <a:off x="1033272" y="434340"/>
            <a:ext cx="1234440" cy="237744"/>
          </a:xfrm>
          <a:prstGeom prst="rect">
            <a:avLst/>
          </a:prstGeom>
          <a:noFill/>
          <a:ln/>
        </p:spPr>
        <p:txBody>
          <a:bodyPr wrap="square" lIns="0" tIns="0" rIns="0" bIns="0" rtlCol="0" anchor="ctr">
            <a:normAutofit/>
          </a:bodyPr>
          <a:lstStyle/>
          <a:p>
            <a:pPr algn="l" indent="0" marL="0">
              <a:buNone/>
            </a:pPr>
            <a:r>
              <a:rPr lang="en-US" sz="1300" b="1" spc="110" kern="0" dirty="0">
                <a:solidFill>
                  <a:srgbClr val="F4F5EF"/>
                </a:solidFill>
                <a:latin typeface="Inter" pitchFamily="34" charset="0"/>
                <a:ea typeface="Inter" pitchFamily="34" charset="-122"/>
                <a:cs typeface="Inter" pitchFamily="34" charset="-120"/>
              </a:rPr>
              <a:t>RISKORA</a:t>
            </a:r>
            <a:endParaRPr lang="en-US" sz="1300" dirty="0"/>
          </a:p>
        </p:txBody>
      </p:sp>
      <p:sp>
        <p:nvSpPr>
          <p:cNvPr id="99" name="Shape 97"/>
          <p:cNvSpPr/>
          <p:nvPr/>
        </p:nvSpPr>
        <p:spPr>
          <a:xfrm>
            <a:off x="630936" y="1170432"/>
            <a:ext cx="1618488" cy="283464"/>
          </a:xfrm>
          <a:prstGeom prst="roundRect">
            <a:avLst/>
          </a:prstGeom>
          <a:solidFill>
            <a:srgbClr val="202D24"/>
          </a:solidFill>
          <a:ln w="1270">
            <a:solidFill>
              <a:srgbClr val="202D24">
                <a:alpha val="0"/>
              </a:srgbClr>
            </a:solidFill>
            <a:prstDash val="solid"/>
          </a:ln>
        </p:spPr>
      </p:sp>
      <p:sp>
        <p:nvSpPr>
          <p:cNvPr id="100" name="Text 98"/>
          <p:cNvSpPr txBox="1"/>
          <p:nvPr/>
        </p:nvSpPr>
        <p:spPr>
          <a:xfrm>
            <a:off x="740664" y="1188720"/>
            <a:ext cx="1399032" cy="228600"/>
          </a:xfrm>
          <a:prstGeom prst="rect">
            <a:avLst/>
          </a:prstGeom>
          <a:noFill/>
          <a:ln/>
        </p:spPr>
        <p:txBody>
          <a:bodyPr wrap="square" lIns="0" tIns="0" rIns="0" bIns="0" rtlCol="0" anchor="ctr">
            <a:normAutofit/>
          </a:bodyPr>
          <a:lstStyle/>
          <a:p>
            <a:pPr algn="ctr" indent="0" marL="0">
              <a:buNone/>
            </a:pPr>
            <a:r>
              <a:rPr lang="en-US" sz="830" b="1" spc="60" kern="0" dirty="0">
                <a:solidFill>
                  <a:srgbClr val="D4FF3F"/>
                </a:solidFill>
                <a:latin typeface="Inter" pitchFamily="34" charset="0"/>
                <a:ea typeface="Inter" pitchFamily="34" charset="-122"/>
                <a:cs typeface="Inter" pitchFamily="34" charset="-120"/>
              </a:rPr>
              <a:t>RESEARCH PROTOTYPE</a:t>
            </a:r>
            <a:endParaRPr lang="en-US" sz="830" dirty="0"/>
          </a:p>
        </p:txBody>
      </p:sp>
      <p:sp>
        <p:nvSpPr>
          <p:cNvPr id="101" name="Text 99"/>
          <p:cNvSpPr txBox="1"/>
          <p:nvPr/>
        </p:nvSpPr>
        <p:spPr>
          <a:xfrm>
            <a:off x="603504" y="1719072"/>
            <a:ext cx="6080760" cy="1783080"/>
          </a:xfrm>
          <a:prstGeom prst="rect">
            <a:avLst/>
          </a:prstGeom>
          <a:noFill/>
          <a:ln/>
        </p:spPr>
        <p:txBody>
          <a:bodyPr wrap="square" lIns="0" tIns="0" rIns="0" bIns="0" rtlCol="0" anchor="t">
            <a:normAutofit/>
          </a:bodyPr>
          <a:lstStyle/>
          <a:p>
            <a:pPr algn="l" indent="0" marL="0">
              <a:lnSpc>
                <a:spcPct val="91000"/>
              </a:lnSpc>
              <a:buNone/>
            </a:pPr>
            <a:r>
              <a:rPr lang="en-US" sz="3950" b="1" dirty="0">
                <a:solidFill>
                  <a:srgbClr val="F4F5EF"/>
                </a:solidFill>
                <a:latin typeface="Inter Display" pitchFamily="34" charset="0"/>
                <a:ea typeface="Inter Display" pitchFamily="34" charset="-122"/>
                <a:cs typeface="Inter Display" pitchFamily="34" charset="-120"/>
              </a:rPr>
              <a:t>See what a fund</a:t>
            </a:r>
            <a:endParaRPr lang="en-US" sz="3950" dirty="0"/>
          </a:p>
          <a:p>
            <a:pPr algn="l" indent="0" marL="0">
              <a:lnSpc>
                <a:spcPct val="91000"/>
              </a:lnSpc>
              <a:buNone/>
            </a:pPr>
            <a:r>
              <a:rPr lang="en-US" sz="3950" b="1" dirty="0">
                <a:solidFill>
                  <a:srgbClr val="F4F5EF"/>
                </a:solidFill>
                <a:latin typeface="Inter Display" pitchFamily="34" charset="0"/>
                <a:ea typeface="Inter Display" pitchFamily="34" charset="-122"/>
                <a:cs typeface="Inter Display" pitchFamily="34" charset="-120"/>
              </a:rPr>
              <a:t>may hold next.</a:t>
            </a:r>
            <a:endParaRPr lang="en-US" sz="3950" dirty="0"/>
          </a:p>
        </p:txBody>
      </p:sp>
      <p:sp>
        <p:nvSpPr>
          <p:cNvPr id="102" name="Text 100"/>
          <p:cNvSpPr txBox="1"/>
          <p:nvPr/>
        </p:nvSpPr>
        <p:spPr>
          <a:xfrm>
            <a:off x="640080" y="3694176"/>
            <a:ext cx="5212080" cy="676656"/>
          </a:xfrm>
          <a:prstGeom prst="rect">
            <a:avLst/>
          </a:prstGeom>
          <a:noFill/>
          <a:ln/>
        </p:spPr>
        <p:txBody>
          <a:bodyPr wrap="square" lIns="0" tIns="0" rIns="0" bIns="0" rtlCol="0" anchor="t">
            <a:normAutofit/>
          </a:bodyPr>
          <a:lstStyle/>
          <a:p>
            <a:pPr algn="l" indent="0" marL="0">
              <a:buNone/>
            </a:pPr>
            <a:r>
              <a:rPr lang="en-US" sz="1800" dirty="0">
                <a:solidFill>
                  <a:srgbClr val="C5CEC6"/>
                </a:solidFill>
                <a:latin typeface="Inter" pitchFamily="34" charset="0"/>
                <a:ea typeface="Inter" pitchFamily="34" charset="-122"/>
                <a:cs typeface="Inter" pitchFamily="34" charset="-120"/>
              </a:rPr>
              <a:t>A disclosure-first research layer for Indian equity mutual funds.</a:t>
            </a:r>
            <a:endParaRPr lang="en-US" sz="1800" dirty="0"/>
          </a:p>
        </p:txBody>
      </p:sp>
      <p:sp>
        <p:nvSpPr>
          <p:cNvPr id="103" name="Shape 101"/>
          <p:cNvSpPr/>
          <p:nvPr/>
        </p:nvSpPr>
        <p:spPr>
          <a:xfrm>
            <a:off x="640080" y="4773168"/>
            <a:ext cx="5257800" cy="0"/>
          </a:xfrm>
          <a:prstGeom prst="line">
            <a:avLst/>
          </a:prstGeom>
          <a:noFill/>
          <a:ln w="12700">
            <a:solidFill>
              <a:srgbClr val="324036"/>
            </a:solidFill>
            <a:prstDash val="solid"/>
            <a:headEnd type="none"/>
            <a:tailEnd type="none"/>
          </a:ln>
        </p:spPr>
      </p:sp>
      <p:sp>
        <p:nvSpPr>
          <p:cNvPr id="104" name="Text 102"/>
          <p:cNvSpPr txBox="1"/>
          <p:nvPr/>
        </p:nvSpPr>
        <p:spPr>
          <a:xfrm>
            <a:off x="640080" y="5001768"/>
            <a:ext cx="2560320" cy="182880"/>
          </a:xfrm>
          <a:prstGeom prst="rect">
            <a:avLst/>
          </a:prstGeom>
          <a:noFill/>
          <a:ln/>
        </p:spPr>
        <p:txBody>
          <a:bodyPr wrap="square" lIns="0" tIns="0" rIns="0" bIns="0" rtlCol="0" anchor="ctr">
            <a:normAutofit/>
          </a:bodyPr>
          <a:lstStyle/>
          <a:p>
            <a:pPr algn="l" indent="0" marL="0">
              <a:buNone/>
            </a:pPr>
            <a:r>
              <a:rPr lang="en-US" sz="860" b="1" spc="100" kern="0" dirty="0">
                <a:solidFill>
                  <a:srgbClr val="8F9A91"/>
                </a:solidFill>
                <a:latin typeface="Inter" pitchFamily="34" charset="0"/>
                <a:ea typeface="Inter" pitchFamily="34" charset="-122"/>
                <a:cs typeface="Inter" pitchFamily="34" charset="-120"/>
              </a:rPr>
              <a:t>FROM RETROSPECTIVE HOLDINGS</a:t>
            </a:r>
            <a:endParaRPr lang="en-US" sz="860" dirty="0"/>
          </a:p>
        </p:txBody>
      </p:sp>
      <p:sp>
        <p:nvSpPr>
          <p:cNvPr id="105" name="Text 103"/>
          <p:cNvSpPr txBox="1"/>
          <p:nvPr/>
        </p:nvSpPr>
        <p:spPr>
          <a:xfrm>
            <a:off x="640080" y="5257800"/>
            <a:ext cx="4206240" cy="219456"/>
          </a:xfrm>
          <a:prstGeom prst="rect">
            <a:avLst/>
          </a:prstGeom>
          <a:noFill/>
          <a:ln/>
        </p:spPr>
        <p:txBody>
          <a:bodyPr wrap="square" lIns="0" tIns="0" rIns="0" bIns="0" rtlCol="0" anchor="ctr">
            <a:normAutofit/>
          </a:bodyPr>
          <a:lstStyle/>
          <a:p>
            <a:pPr algn="l" indent="0" marL="0">
              <a:buNone/>
            </a:pPr>
            <a:r>
              <a:rPr lang="en-US" sz="1010" b="1" spc="70" kern="0" dirty="0">
                <a:solidFill>
                  <a:srgbClr val="D4FF3F"/>
                </a:solidFill>
                <a:latin typeface="Inter" pitchFamily="34" charset="0"/>
                <a:ea typeface="Inter" pitchFamily="34" charset="-122"/>
                <a:cs typeface="Inter" pitchFamily="34" charset="-120"/>
              </a:rPr>
              <a:t>TO AN AUDITABLE CANDIDATE SHORTLIST</a:t>
            </a:r>
            <a:endParaRPr lang="en-US" sz="1010" dirty="0"/>
          </a:p>
        </p:txBody>
      </p:sp>
      <p:sp>
        <p:nvSpPr>
          <p:cNvPr id="106" name="Shape 104"/>
          <p:cNvSpPr/>
          <p:nvPr/>
        </p:nvSpPr>
        <p:spPr>
          <a:xfrm>
            <a:off x="6812280" y="932688"/>
            <a:ext cx="4773168" cy="4892040"/>
          </a:xfrm>
          <a:prstGeom prst="roundRect">
            <a:avLst/>
          </a:prstGeom>
          <a:solidFill>
            <a:srgbClr val="131B16"/>
          </a:solidFill>
          <a:ln w="10160">
            <a:solidFill>
              <a:srgbClr val="29372D"/>
            </a:solidFill>
            <a:prstDash val="solid"/>
          </a:ln>
        </p:spPr>
      </p:sp>
      <p:sp>
        <p:nvSpPr>
          <p:cNvPr id="107" name="Text 105"/>
          <p:cNvSpPr txBox="1"/>
          <p:nvPr/>
        </p:nvSpPr>
        <p:spPr>
          <a:xfrm>
            <a:off x="7132320" y="1225296"/>
            <a:ext cx="2194560" cy="173736"/>
          </a:xfrm>
          <a:prstGeom prst="rect">
            <a:avLst/>
          </a:prstGeom>
          <a:noFill/>
          <a:ln/>
        </p:spPr>
        <p:txBody>
          <a:bodyPr wrap="square" lIns="0" tIns="0" rIns="0" bIns="0" rtlCol="0" anchor="ctr">
            <a:normAutofit/>
          </a:bodyPr>
          <a:lstStyle/>
          <a:p>
            <a:pPr algn="l" indent="0" marL="0">
              <a:buNone/>
            </a:pPr>
            <a:r>
              <a:rPr lang="en-US" sz="850" b="1" spc="120" kern="0" dirty="0">
                <a:solidFill>
                  <a:srgbClr val="A2ACA3"/>
                </a:solidFill>
                <a:latin typeface="Inter" pitchFamily="34" charset="0"/>
                <a:ea typeface="Inter" pitchFamily="34" charset="-122"/>
                <a:cs typeface="Inter" pitchFamily="34" charset="-120"/>
              </a:rPr>
              <a:t>THE RESEARCH GAP</a:t>
            </a:r>
            <a:endParaRPr lang="en-US" sz="850" dirty="0"/>
          </a:p>
        </p:txBody>
      </p:sp>
      <p:sp>
        <p:nvSpPr>
          <p:cNvPr id="108" name="Text 106"/>
          <p:cNvSpPr txBox="1"/>
          <p:nvPr/>
        </p:nvSpPr>
        <p:spPr>
          <a:xfrm>
            <a:off x="7132320" y="1600200"/>
            <a:ext cx="3767328" cy="841248"/>
          </a:xfrm>
          <a:prstGeom prst="rect">
            <a:avLst/>
          </a:prstGeom>
          <a:noFill/>
          <a:ln/>
        </p:spPr>
        <p:txBody>
          <a:bodyPr wrap="square" lIns="0" tIns="0" rIns="0" bIns="0" rtlCol="0" anchor="t">
            <a:normAutofit/>
          </a:bodyPr>
          <a:lstStyle/>
          <a:p>
            <a:pPr algn="l" indent="0" marL="0">
              <a:buNone/>
            </a:pPr>
            <a:r>
              <a:rPr lang="en-US" sz="2200" b="1" dirty="0">
                <a:solidFill>
                  <a:srgbClr val="F4F5EF"/>
                </a:solidFill>
                <a:latin typeface="Inter" pitchFamily="34" charset="0"/>
                <a:ea typeface="Inter" pitchFamily="34" charset="-122"/>
                <a:cs typeface="Inter" pitchFamily="34" charset="-120"/>
              </a:rPr>
              <a:t>Public data.</a:t>
            </a:r>
            <a:endParaRPr lang="en-US" sz="2200" dirty="0"/>
          </a:p>
          <a:p>
            <a:pPr algn="l" indent="0" marL="0">
              <a:buNone/>
            </a:pPr>
            <a:r>
              <a:rPr lang="en-US" sz="2200" b="1" dirty="0">
                <a:solidFill>
                  <a:srgbClr val="F4F5EF"/>
                </a:solidFill>
                <a:latin typeface="Inter" pitchFamily="34" charset="0"/>
                <a:ea typeface="Inter" pitchFamily="34" charset="-122"/>
                <a:cs typeface="Inter" pitchFamily="34" charset="-120"/>
              </a:rPr>
              <a:t>Forward-looking questions.</a:t>
            </a:r>
            <a:endParaRPr lang="en-US" sz="2200" dirty="0"/>
          </a:p>
        </p:txBody>
      </p:sp>
      <p:sp>
        <p:nvSpPr>
          <p:cNvPr id="109" name="Shape 107"/>
          <p:cNvSpPr/>
          <p:nvPr/>
        </p:nvSpPr>
        <p:spPr>
          <a:xfrm>
            <a:off x="7360920" y="3127248"/>
            <a:ext cx="3611880" cy="0"/>
          </a:xfrm>
          <a:prstGeom prst="line">
            <a:avLst/>
          </a:prstGeom>
          <a:noFill/>
          <a:ln w="13970">
            <a:solidFill>
              <a:srgbClr val="526253"/>
            </a:solidFill>
            <a:prstDash val="solid"/>
            <a:headEnd type="none"/>
            <a:tailEnd type="none"/>
          </a:ln>
        </p:spPr>
      </p:sp>
      <p:sp>
        <p:nvSpPr>
          <p:cNvPr id="110" name="Shape 108"/>
          <p:cNvSpPr/>
          <p:nvPr/>
        </p:nvSpPr>
        <p:spPr>
          <a:xfrm>
            <a:off x="7310628" y="3076956"/>
            <a:ext cx="100584" cy="100584"/>
          </a:xfrm>
          <a:prstGeom prst="ellipse">
            <a:avLst/>
          </a:prstGeom>
          <a:solidFill>
            <a:srgbClr val="8B9A8D"/>
          </a:solidFill>
          <a:ln w="1270">
            <a:solidFill>
              <a:srgbClr val="8B9A8D">
                <a:alpha val="0"/>
              </a:srgbClr>
            </a:solidFill>
            <a:prstDash val="solid"/>
          </a:ln>
        </p:spPr>
      </p:sp>
      <p:sp>
        <p:nvSpPr>
          <p:cNvPr id="111" name="Shape 109"/>
          <p:cNvSpPr/>
          <p:nvPr/>
        </p:nvSpPr>
        <p:spPr>
          <a:xfrm>
            <a:off x="8654796" y="3076956"/>
            <a:ext cx="100584" cy="100584"/>
          </a:xfrm>
          <a:prstGeom prst="ellipse">
            <a:avLst/>
          </a:prstGeom>
          <a:solidFill>
            <a:srgbClr val="8B9A8D"/>
          </a:solidFill>
          <a:ln w="1270">
            <a:solidFill>
              <a:srgbClr val="8B9A8D">
                <a:alpha val="0"/>
              </a:srgbClr>
            </a:solidFill>
            <a:prstDash val="solid"/>
          </a:ln>
        </p:spPr>
      </p:sp>
      <p:sp>
        <p:nvSpPr>
          <p:cNvPr id="112" name="Shape 110"/>
          <p:cNvSpPr/>
          <p:nvPr/>
        </p:nvSpPr>
        <p:spPr>
          <a:xfrm>
            <a:off x="10026396" y="3076956"/>
            <a:ext cx="100584" cy="100584"/>
          </a:xfrm>
          <a:prstGeom prst="ellipse">
            <a:avLst/>
          </a:prstGeom>
          <a:solidFill>
            <a:srgbClr val="D4FF3F"/>
          </a:solidFill>
          <a:ln w="1270">
            <a:solidFill>
              <a:srgbClr val="D4FF3F">
                <a:alpha val="0"/>
              </a:srgbClr>
            </a:solidFill>
            <a:prstDash val="solid"/>
          </a:ln>
        </p:spPr>
      </p:sp>
      <p:sp>
        <p:nvSpPr>
          <p:cNvPr id="113" name="Shape 111"/>
          <p:cNvSpPr/>
          <p:nvPr/>
        </p:nvSpPr>
        <p:spPr>
          <a:xfrm>
            <a:off x="10922508" y="3076956"/>
            <a:ext cx="100584" cy="100584"/>
          </a:xfrm>
          <a:prstGeom prst="ellipse">
            <a:avLst/>
          </a:prstGeom>
          <a:solidFill>
            <a:srgbClr val="8B9A8D"/>
          </a:solidFill>
          <a:ln w="1270">
            <a:solidFill>
              <a:srgbClr val="8B9A8D">
                <a:alpha val="0"/>
              </a:srgbClr>
            </a:solidFill>
            <a:prstDash val="solid"/>
          </a:ln>
        </p:spPr>
      </p:sp>
      <p:sp>
        <p:nvSpPr>
          <p:cNvPr id="114" name="Text 112"/>
          <p:cNvSpPr txBox="1"/>
          <p:nvPr/>
        </p:nvSpPr>
        <p:spPr>
          <a:xfrm>
            <a:off x="7104888" y="3337560"/>
            <a:ext cx="1078992" cy="438912"/>
          </a:xfrm>
          <a:prstGeom prst="rect">
            <a:avLst/>
          </a:prstGeom>
          <a:noFill/>
          <a:ln/>
        </p:spPr>
        <p:txBody>
          <a:bodyPr wrap="square" lIns="0" tIns="0" rIns="0" bIns="0" rtlCol="0" anchor="t">
            <a:normAutofit/>
          </a:bodyPr>
          <a:lstStyle/>
          <a:p>
            <a:pPr algn="ctr" indent="0" marL="0">
              <a:buNone/>
            </a:pPr>
            <a:r>
              <a:rPr lang="en-US" sz="840" b="1" dirty="0">
                <a:solidFill>
                  <a:srgbClr val="B7C0B8"/>
                </a:solidFill>
                <a:latin typeface="Inter" pitchFamily="34" charset="0"/>
                <a:ea typeface="Inter" pitchFamily="34" charset="-122"/>
                <a:cs typeface="Inter" pitchFamily="34" charset="-120"/>
              </a:rPr>
              <a:t>PUBLISHED</a:t>
            </a:r>
            <a:endParaRPr lang="en-US" sz="840" dirty="0"/>
          </a:p>
          <a:p>
            <a:pPr algn="ctr" indent="0" marL="0">
              <a:buNone/>
            </a:pPr>
            <a:r>
              <a:rPr lang="en-US" sz="840" b="1" dirty="0">
                <a:solidFill>
                  <a:srgbClr val="B7C0B8"/>
                </a:solidFill>
                <a:latin typeface="Inter" pitchFamily="34" charset="0"/>
                <a:ea typeface="Inter" pitchFamily="34" charset="-122"/>
                <a:cs typeface="Inter" pitchFamily="34" charset="-120"/>
              </a:rPr>
              <a:t>SNAPSHOT</a:t>
            </a:r>
            <a:endParaRPr lang="en-US" sz="840" dirty="0"/>
          </a:p>
        </p:txBody>
      </p:sp>
      <p:sp>
        <p:nvSpPr>
          <p:cNvPr id="115" name="Text 113"/>
          <p:cNvSpPr txBox="1"/>
          <p:nvPr/>
        </p:nvSpPr>
        <p:spPr>
          <a:xfrm>
            <a:off x="8247888" y="3337560"/>
            <a:ext cx="941832" cy="438912"/>
          </a:xfrm>
          <a:prstGeom prst="rect">
            <a:avLst/>
          </a:prstGeom>
          <a:noFill/>
          <a:ln/>
        </p:spPr>
        <p:txBody>
          <a:bodyPr wrap="square" lIns="0" tIns="0" rIns="0" bIns="0" rtlCol="0" anchor="t">
            <a:normAutofit/>
          </a:bodyPr>
          <a:lstStyle/>
          <a:p>
            <a:pPr algn="ctr" indent="0" marL="0">
              <a:buNone/>
            </a:pPr>
            <a:r>
              <a:rPr lang="en-US" sz="840" b="1" dirty="0">
                <a:solidFill>
                  <a:srgbClr val="B7C0B8"/>
                </a:solidFill>
                <a:latin typeface="Inter" pitchFamily="34" charset="0"/>
                <a:ea typeface="Inter" pitchFamily="34" charset="-122"/>
                <a:cs typeface="Inter" pitchFamily="34" charset="-120"/>
              </a:rPr>
              <a:t>TIME</a:t>
            </a:r>
            <a:endParaRPr lang="en-US" sz="840" dirty="0"/>
          </a:p>
          <a:p>
            <a:pPr algn="ctr" indent="0" marL="0">
              <a:buNone/>
            </a:pPr>
            <a:r>
              <a:rPr lang="en-US" sz="840" b="1" dirty="0">
                <a:solidFill>
                  <a:srgbClr val="B7C0B8"/>
                </a:solidFill>
                <a:latin typeface="Inter" pitchFamily="34" charset="0"/>
                <a:ea typeface="Inter" pitchFamily="34" charset="-122"/>
                <a:cs typeface="Inter" pitchFamily="34" charset="-120"/>
              </a:rPr>
              <a:t>CUTOFF</a:t>
            </a:r>
            <a:endParaRPr lang="en-US" sz="840" dirty="0"/>
          </a:p>
        </p:txBody>
      </p:sp>
      <p:sp>
        <p:nvSpPr>
          <p:cNvPr id="116" name="Text 114"/>
          <p:cNvSpPr txBox="1"/>
          <p:nvPr/>
        </p:nvSpPr>
        <p:spPr>
          <a:xfrm>
            <a:off x="9610344" y="3337560"/>
            <a:ext cx="1024128" cy="438912"/>
          </a:xfrm>
          <a:prstGeom prst="rect">
            <a:avLst/>
          </a:prstGeom>
          <a:noFill/>
          <a:ln/>
        </p:spPr>
        <p:txBody>
          <a:bodyPr wrap="square" lIns="0" tIns="0" rIns="0" bIns="0" rtlCol="0" anchor="t">
            <a:normAutofit/>
          </a:bodyPr>
          <a:lstStyle/>
          <a:p>
            <a:pPr algn="ctr" indent="0" marL="0">
              <a:buNone/>
            </a:pPr>
            <a:r>
              <a:rPr lang="en-US" sz="840" b="1" dirty="0">
                <a:solidFill>
                  <a:srgbClr val="D4FF3F"/>
                </a:solidFill>
                <a:latin typeface="Inter" pitchFamily="34" charset="0"/>
                <a:ea typeface="Inter" pitchFamily="34" charset="-122"/>
                <a:cs typeface="Inter" pitchFamily="34" charset="-120"/>
              </a:rPr>
              <a:t>RANKED</a:t>
            </a:r>
            <a:endParaRPr lang="en-US" sz="840" dirty="0"/>
          </a:p>
          <a:p>
            <a:pPr algn="ctr" indent="0" marL="0">
              <a:buNone/>
            </a:pPr>
            <a:r>
              <a:rPr lang="en-US" sz="840" b="1" dirty="0">
                <a:solidFill>
                  <a:srgbClr val="D4FF3F"/>
                </a:solidFill>
                <a:latin typeface="Inter" pitchFamily="34" charset="0"/>
                <a:ea typeface="Inter" pitchFamily="34" charset="-122"/>
                <a:cs typeface="Inter" pitchFamily="34" charset="-120"/>
              </a:rPr>
              <a:t>SHORTLIST</a:t>
            </a:r>
            <a:endParaRPr lang="en-US" sz="840" dirty="0"/>
          </a:p>
        </p:txBody>
      </p:sp>
      <p:sp>
        <p:nvSpPr>
          <p:cNvPr id="117" name="Text 115"/>
          <p:cNvSpPr txBox="1"/>
          <p:nvPr/>
        </p:nvSpPr>
        <p:spPr>
          <a:xfrm>
            <a:off x="10561320" y="3337560"/>
            <a:ext cx="777240" cy="438912"/>
          </a:xfrm>
          <a:prstGeom prst="rect">
            <a:avLst/>
          </a:prstGeom>
          <a:noFill/>
          <a:ln/>
        </p:spPr>
        <p:txBody>
          <a:bodyPr wrap="square" lIns="0" tIns="0" rIns="0" bIns="0" rtlCol="0" anchor="t">
            <a:normAutofit/>
          </a:bodyPr>
          <a:lstStyle/>
          <a:p>
            <a:pPr algn="ctr" indent="0" marL="0">
              <a:buNone/>
            </a:pPr>
            <a:r>
              <a:rPr lang="en-US" sz="840" b="1" dirty="0">
                <a:solidFill>
                  <a:srgbClr val="B7C0B8"/>
                </a:solidFill>
                <a:latin typeface="Inter" pitchFamily="34" charset="0"/>
                <a:ea typeface="Inter" pitchFamily="34" charset="-122"/>
                <a:cs typeface="Inter" pitchFamily="34" charset="-120"/>
              </a:rPr>
              <a:t>LATER</a:t>
            </a:r>
            <a:endParaRPr lang="en-US" sz="840" dirty="0"/>
          </a:p>
          <a:p>
            <a:pPr algn="ctr" indent="0" marL="0">
              <a:buNone/>
            </a:pPr>
            <a:r>
              <a:rPr lang="en-US" sz="840" b="1" dirty="0">
                <a:solidFill>
                  <a:srgbClr val="B7C0B8"/>
                </a:solidFill>
                <a:latin typeface="Inter" pitchFamily="34" charset="0"/>
                <a:ea typeface="Inter" pitchFamily="34" charset="-122"/>
                <a:cs typeface="Inter" pitchFamily="34" charset="-120"/>
              </a:rPr>
              <a:t>DISCLOSURE</a:t>
            </a:r>
            <a:endParaRPr lang="en-US" sz="840" dirty="0"/>
          </a:p>
        </p:txBody>
      </p:sp>
      <p:sp>
        <p:nvSpPr>
          <p:cNvPr id="118" name="Text 116"/>
          <p:cNvSpPr txBox="1"/>
          <p:nvPr/>
        </p:nvSpPr>
        <p:spPr>
          <a:xfrm>
            <a:off x="7132320" y="4169664"/>
            <a:ext cx="2240280" cy="182880"/>
          </a:xfrm>
          <a:prstGeom prst="rect">
            <a:avLst/>
          </a:prstGeom>
          <a:noFill/>
          <a:ln/>
        </p:spPr>
        <p:txBody>
          <a:bodyPr wrap="square" lIns="0" tIns="0" rIns="0" bIns="0" rtlCol="0" anchor="ctr">
            <a:normAutofit/>
          </a:bodyPr>
          <a:lstStyle/>
          <a:p>
            <a:pPr algn="l" indent="0" marL="0">
              <a:buNone/>
            </a:pPr>
            <a:r>
              <a:rPr lang="en-US" sz="830" b="1" spc="100" kern="0" dirty="0">
                <a:solidFill>
                  <a:srgbClr val="A2ACA3"/>
                </a:solidFill>
                <a:latin typeface="Inter" pitchFamily="34" charset="0"/>
                <a:ea typeface="Inter" pitchFamily="34" charset="-122"/>
                <a:cs typeface="Inter" pitchFamily="34" charset="-120"/>
              </a:rPr>
              <a:t>EVIDENCE BEFORE SCORES</a:t>
            </a:r>
            <a:endParaRPr lang="en-US" sz="830" dirty="0"/>
          </a:p>
        </p:txBody>
      </p:sp>
      <p:sp>
        <p:nvSpPr>
          <p:cNvPr id="119" name="Text 117"/>
          <p:cNvSpPr txBox="1"/>
          <p:nvPr/>
        </p:nvSpPr>
        <p:spPr>
          <a:xfrm>
            <a:off x="7132320" y="4489704"/>
            <a:ext cx="1508760" cy="182880"/>
          </a:xfrm>
          <a:prstGeom prst="rect">
            <a:avLst/>
          </a:prstGeom>
          <a:noFill/>
          <a:ln/>
        </p:spPr>
        <p:txBody>
          <a:bodyPr wrap="square" lIns="0" tIns="0" rIns="0" bIns="0" rtlCol="0" anchor="ctr">
            <a:normAutofit/>
          </a:bodyPr>
          <a:lstStyle/>
          <a:p>
            <a:pPr algn="l" indent="0" marL="0">
              <a:buNone/>
            </a:pPr>
            <a:r>
              <a:rPr lang="en-US" sz="970" dirty="0">
                <a:solidFill>
                  <a:srgbClr val="DCE3DD"/>
                </a:solidFill>
                <a:latin typeface="Inter" pitchFamily="34" charset="0"/>
                <a:ea typeface="Inter" pitchFamily="34" charset="-122"/>
                <a:cs typeface="Inter" pitchFamily="34" charset="-120"/>
              </a:rPr>
              <a:t>Holdings history</a:t>
            </a:r>
            <a:endParaRPr lang="en-US" sz="970" dirty="0"/>
          </a:p>
        </p:txBody>
      </p:sp>
      <p:sp>
        <p:nvSpPr>
          <p:cNvPr id="120" name="Shape 118"/>
          <p:cNvSpPr/>
          <p:nvPr/>
        </p:nvSpPr>
        <p:spPr>
          <a:xfrm>
            <a:off x="8778240" y="4535424"/>
            <a:ext cx="2130552" cy="91440"/>
          </a:xfrm>
          <a:prstGeom prst="roundRect">
            <a:avLst/>
          </a:prstGeom>
          <a:solidFill>
            <a:srgbClr val="2A382D"/>
          </a:solidFill>
          <a:ln w="1270">
            <a:solidFill>
              <a:srgbClr val="2A382D">
                <a:alpha val="0"/>
              </a:srgbClr>
            </a:solidFill>
            <a:prstDash val="solid"/>
          </a:ln>
        </p:spPr>
      </p:sp>
      <p:sp>
        <p:nvSpPr>
          <p:cNvPr id="121" name="Shape 119"/>
          <p:cNvSpPr/>
          <p:nvPr/>
        </p:nvSpPr>
        <p:spPr>
          <a:xfrm>
            <a:off x="8778240" y="4535424"/>
            <a:ext cx="2194560" cy="91440"/>
          </a:xfrm>
          <a:prstGeom prst="roundRect">
            <a:avLst/>
          </a:prstGeom>
          <a:solidFill>
            <a:srgbClr val="D4FF3F"/>
          </a:solidFill>
          <a:ln w="1270">
            <a:solidFill>
              <a:srgbClr val="D4FF3F">
                <a:alpha val="0"/>
              </a:srgbClr>
            </a:solidFill>
            <a:prstDash val="solid"/>
          </a:ln>
        </p:spPr>
      </p:sp>
      <p:sp>
        <p:nvSpPr>
          <p:cNvPr id="122" name="Text 120"/>
          <p:cNvSpPr txBox="1"/>
          <p:nvPr/>
        </p:nvSpPr>
        <p:spPr>
          <a:xfrm>
            <a:off x="7132320" y="4846320"/>
            <a:ext cx="1508760" cy="182880"/>
          </a:xfrm>
          <a:prstGeom prst="rect">
            <a:avLst/>
          </a:prstGeom>
          <a:noFill/>
          <a:ln/>
        </p:spPr>
        <p:txBody>
          <a:bodyPr wrap="square" lIns="0" tIns="0" rIns="0" bIns="0" rtlCol="0" anchor="ctr">
            <a:normAutofit/>
          </a:bodyPr>
          <a:lstStyle/>
          <a:p>
            <a:pPr algn="l" indent="0" marL="0">
              <a:buNone/>
            </a:pPr>
            <a:r>
              <a:rPr lang="en-US" sz="970" dirty="0">
                <a:solidFill>
                  <a:srgbClr val="DCE3DD"/>
                </a:solidFill>
                <a:latin typeface="Inter" pitchFamily="34" charset="0"/>
                <a:ea typeface="Inter" pitchFamily="34" charset="-122"/>
                <a:cs typeface="Inter" pitchFamily="34" charset="-120"/>
              </a:rPr>
              <a:t>Market observations</a:t>
            </a:r>
            <a:endParaRPr lang="en-US" sz="970" dirty="0"/>
          </a:p>
        </p:txBody>
      </p:sp>
      <p:sp>
        <p:nvSpPr>
          <p:cNvPr id="123" name="Shape 121"/>
          <p:cNvSpPr/>
          <p:nvPr/>
        </p:nvSpPr>
        <p:spPr>
          <a:xfrm>
            <a:off x="8778240" y="4892040"/>
            <a:ext cx="2130552" cy="91440"/>
          </a:xfrm>
          <a:prstGeom prst="roundRect">
            <a:avLst/>
          </a:prstGeom>
          <a:solidFill>
            <a:srgbClr val="2A382D"/>
          </a:solidFill>
          <a:ln w="1270">
            <a:solidFill>
              <a:srgbClr val="2A382D">
                <a:alpha val="0"/>
              </a:srgbClr>
            </a:solidFill>
            <a:prstDash val="solid"/>
          </a:ln>
        </p:spPr>
      </p:sp>
      <p:sp>
        <p:nvSpPr>
          <p:cNvPr id="124" name="Shape 122"/>
          <p:cNvSpPr/>
          <p:nvPr/>
        </p:nvSpPr>
        <p:spPr>
          <a:xfrm>
            <a:off x="8778240" y="4892040"/>
            <a:ext cx="1764792" cy="91440"/>
          </a:xfrm>
          <a:prstGeom prst="roundRect">
            <a:avLst/>
          </a:prstGeom>
          <a:solidFill>
            <a:srgbClr val="CBB3E8"/>
          </a:solidFill>
          <a:ln w="1270">
            <a:solidFill>
              <a:srgbClr val="CBB3E8">
                <a:alpha val="0"/>
              </a:srgbClr>
            </a:solidFill>
            <a:prstDash val="solid"/>
          </a:ln>
        </p:spPr>
      </p:sp>
      <p:sp>
        <p:nvSpPr>
          <p:cNvPr id="125" name="Text 123"/>
          <p:cNvSpPr txBox="1"/>
          <p:nvPr/>
        </p:nvSpPr>
        <p:spPr>
          <a:xfrm>
            <a:off x="7132320" y="5202936"/>
            <a:ext cx="1508760" cy="182880"/>
          </a:xfrm>
          <a:prstGeom prst="rect">
            <a:avLst/>
          </a:prstGeom>
          <a:noFill/>
          <a:ln/>
        </p:spPr>
        <p:txBody>
          <a:bodyPr wrap="square" lIns="0" tIns="0" rIns="0" bIns="0" rtlCol="0" anchor="ctr">
            <a:normAutofit/>
          </a:bodyPr>
          <a:lstStyle/>
          <a:p>
            <a:pPr algn="l" indent="0" marL="0">
              <a:buNone/>
            </a:pPr>
            <a:r>
              <a:rPr lang="en-US" sz="970" dirty="0">
                <a:solidFill>
                  <a:srgbClr val="DCE3DD"/>
                </a:solidFill>
                <a:latin typeface="Inter" pitchFamily="34" charset="0"/>
                <a:ea typeface="Inter" pitchFamily="34" charset="-122"/>
                <a:cs typeface="Inter" pitchFamily="34" charset="-120"/>
              </a:rPr>
              <a:t>Source traceability</a:t>
            </a:r>
            <a:endParaRPr lang="en-US" sz="970" dirty="0"/>
          </a:p>
        </p:txBody>
      </p:sp>
      <p:sp>
        <p:nvSpPr>
          <p:cNvPr id="126" name="Shape 124"/>
          <p:cNvSpPr/>
          <p:nvPr/>
        </p:nvSpPr>
        <p:spPr>
          <a:xfrm>
            <a:off x="8778240" y="5248656"/>
            <a:ext cx="2130552" cy="91440"/>
          </a:xfrm>
          <a:prstGeom prst="roundRect">
            <a:avLst/>
          </a:prstGeom>
          <a:solidFill>
            <a:srgbClr val="2A382D"/>
          </a:solidFill>
          <a:ln w="1270">
            <a:solidFill>
              <a:srgbClr val="2A382D">
                <a:alpha val="0"/>
              </a:srgbClr>
            </a:solidFill>
            <a:prstDash val="solid"/>
          </a:ln>
        </p:spPr>
      </p:sp>
      <p:sp>
        <p:nvSpPr>
          <p:cNvPr id="127" name="Shape 125"/>
          <p:cNvSpPr/>
          <p:nvPr/>
        </p:nvSpPr>
        <p:spPr>
          <a:xfrm>
            <a:off x="8778240" y="5248656"/>
            <a:ext cx="2862072" cy="91440"/>
          </a:xfrm>
          <a:prstGeom prst="roundRect">
            <a:avLst/>
          </a:prstGeom>
          <a:solidFill>
            <a:srgbClr val="84A18A"/>
          </a:solidFill>
          <a:ln w="1270">
            <a:solidFill>
              <a:srgbClr val="84A18A">
                <a:alpha val="0"/>
              </a:srgbClr>
            </a:solidFill>
            <a:prstDash val="solid"/>
          </a:ln>
        </p:spPr>
      </p:sp>
      <p:sp>
        <p:nvSpPr>
          <p:cNvPr id="128" name="Text 126"/>
          <p:cNvSpPr txBox="1"/>
          <p:nvPr/>
        </p:nvSpPr>
        <p:spPr>
          <a:xfrm>
            <a:off x="7132320" y="5541264"/>
            <a:ext cx="3931920" cy="182880"/>
          </a:xfrm>
          <a:prstGeom prst="rect">
            <a:avLst/>
          </a:prstGeom>
          <a:noFill/>
          <a:ln/>
        </p:spPr>
        <p:txBody>
          <a:bodyPr wrap="square" lIns="0" tIns="0" rIns="0" bIns="0" rtlCol="0" anchor="ctr">
            <a:normAutofit/>
          </a:bodyPr>
          <a:lstStyle/>
          <a:p>
            <a:pPr algn="l" indent="0" marL="0">
              <a:buNone/>
            </a:pPr>
            <a:r>
              <a:rPr lang="en-US" sz="910" i="1" dirty="0">
                <a:solidFill>
                  <a:srgbClr val="9BA79D"/>
                </a:solidFill>
                <a:latin typeface="Inter" pitchFamily="34" charset="0"/>
                <a:ea typeface="Inter" pitchFamily="34" charset="-122"/>
                <a:cs typeface="Inter" pitchFamily="34" charset="-120"/>
              </a:rPr>
              <a:t>A shortlist for research — not proof of a trade.</a:t>
            </a:r>
            <a:endParaRPr lang="en-US" sz="910" dirty="0"/>
          </a:p>
        </p:txBody>
      </p:sp>
      <p:sp>
        <p:nvSpPr>
          <p:cNvPr id="129" name="Text 127"/>
          <p:cNvSpPr txBox="1"/>
          <p:nvPr/>
        </p:nvSpPr>
        <p:spPr>
          <a:xfrm>
            <a:off x="640080" y="6291072"/>
            <a:ext cx="5806440" cy="182880"/>
          </a:xfrm>
          <a:prstGeom prst="rect">
            <a:avLst/>
          </a:prstGeom>
          <a:noFill/>
          <a:ln/>
        </p:spPr>
        <p:txBody>
          <a:bodyPr wrap="square" lIns="0" tIns="0" rIns="0" bIns="0" rtlCol="0" anchor="ctr">
            <a:normAutofit/>
          </a:bodyPr>
          <a:lstStyle/>
          <a:p>
            <a:pPr algn="l" indent="0" marL="0">
              <a:buNone/>
            </a:pPr>
            <a:r>
              <a:rPr lang="en-US" sz="950" b="1" spc="45" kern="0" dirty="0">
                <a:solidFill>
                  <a:srgbClr val="9BA79D"/>
                </a:solidFill>
                <a:latin typeface="Inter" pitchFamily="34" charset="0"/>
                <a:ea typeface="Inter" pitchFamily="34" charset="-122"/>
                <a:cs typeface="Inter" pitchFamily="34" charset="-120"/>
              </a:rPr>
              <a:t>ANSIL MUHAMMED N S   ·   MUHAMMED IHSAN K I</a:t>
            </a:r>
            <a:endParaRPr lang="en-US" sz="950" dirty="0"/>
          </a:p>
        </p:txBody>
      </p:sp>
      <p:sp>
        <p:nvSpPr>
          <p:cNvPr id="130" name="Text 128"/>
          <p:cNvSpPr txBox="1"/>
          <p:nvPr/>
        </p:nvSpPr>
        <p:spPr>
          <a:xfrm>
            <a:off x="566928" y="6492240"/>
            <a:ext cx="5029200" cy="146304"/>
          </a:xfrm>
          <a:prstGeom prst="rect">
            <a:avLst/>
          </a:prstGeom>
          <a:noFill/>
          <a:ln/>
        </p:spPr>
        <p:txBody>
          <a:bodyPr wrap="square" lIns="0" tIns="0" rIns="0" bIns="0" rtlCol="0" anchor="ctr">
            <a:normAutofit/>
          </a:bodyPr>
          <a:lstStyle/>
          <a:p>
            <a:pPr algn="l" indent="0" marL="0">
              <a:buNone/>
            </a:pPr>
            <a:r>
              <a:rPr lang="en-US" sz="820" b="1" spc="90" kern="0" dirty="0">
                <a:solidFill>
                  <a:srgbClr val="7F8D82"/>
                </a:solidFill>
                <a:latin typeface="Inter" pitchFamily="34" charset="0"/>
                <a:ea typeface="Inter" pitchFamily="34" charset="-122"/>
                <a:cs typeface="Inter" pitchFamily="34" charset="-120"/>
              </a:rPr>
              <a:t>AIBOomi STARTUP WEEKEND  ·  KOCHI 2026</a:t>
            </a:r>
            <a:endParaRPr lang="en-US" sz="820" dirty="0"/>
          </a:p>
        </p:txBody>
      </p:sp>
      <p:sp>
        <p:nvSpPr>
          <p:cNvPr id="131" name="Text 129"/>
          <p:cNvSpPr txBox="1"/>
          <p:nvPr/>
        </p:nvSpPr>
        <p:spPr>
          <a:xfrm>
            <a:off x="10991088" y="6473952"/>
            <a:ext cx="612648" cy="182880"/>
          </a:xfrm>
          <a:prstGeom prst="rect">
            <a:avLst/>
          </a:prstGeom>
          <a:noFill/>
          <a:ln/>
        </p:spPr>
        <p:txBody>
          <a:bodyPr wrap="square" lIns="0" tIns="0" rIns="0" bIns="0" rtlCol="0" anchor="ctr">
            <a:normAutofit/>
          </a:bodyPr>
          <a:lstStyle/>
          <a:p>
            <a:pPr algn="r" indent="0" marL="0">
              <a:buNone/>
            </a:pPr>
            <a:r>
              <a:rPr lang="en-US" sz="900" b="1" dirty="0">
                <a:solidFill>
                  <a:srgbClr val="7F8D82"/>
                </a:solidFill>
                <a:latin typeface="Inter" pitchFamily="34" charset="0"/>
                <a:ea typeface="Inter" pitchFamily="34" charset="-122"/>
                <a:cs typeface="Inter" pitchFamily="34" charset="-120"/>
              </a:rPr>
              <a:t>01 / 06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566928" y="265176"/>
            <a:ext cx="68580" cy="68580"/>
          </a:xfrm>
          <a:prstGeom prst="rect">
            <a:avLst/>
          </a:prstGeom>
          <a:solidFill>
            <a:srgbClr val="D4FF3F"/>
          </a:solidFill>
          <a:ln w="1270">
            <a:solidFill>
              <a:srgbClr val="D4FF3F">
                <a:alpha val="0"/>
              </a:srgbClr>
            </a:solidFill>
            <a:prstDash val="solid"/>
          </a:ln>
        </p:spPr>
      </p:sp>
      <p:sp>
        <p:nvSpPr>
          <p:cNvPr id="3" name="Shape 1"/>
          <p:cNvSpPr/>
          <p:nvPr/>
        </p:nvSpPr>
        <p:spPr>
          <a:xfrm>
            <a:off x="685800" y="265176"/>
            <a:ext cx="68580" cy="68580"/>
          </a:xfrm>
          <a:prstGeom prst="rect">
            <a:avLst/>
          </a:prstGeom>
          <a:solidFill>
            <a:srgbClr val="D4FF3F"/>
          </a:solidFill>
          <a:ln w="1270">
            <a:solidFill>
              <a:srgbClr val="D4FF3F">
                <a:alpha val="0"/>
              </a:srgbClr>
            </a:solidFill>
            <a:prstDash val="solid"/>
          </a:ln>
        </p:spPr>
      </p:sp>
      <p:sp>
        <p:nvSpPr>
          <p:cNvPr id="4" name="Shape 2"/>
          <p:cNvSpPr/>
          <p:nvPr/>
        </p:nvSpPr>
        <p:spPr>
          <a:xfrm>
            <a:off x="804672" y="265176"/>
            <a:ext cx="68580" cy="68580"/>
          </a:xfrm>
          <a:prstGeom prst="rect">
            <a:avLst/>
          </a:prstGeom>
          <a:solidFill>
            <a:srgbClr val="CBB3E8"/>
          </a:solidFill>
          <a:ln w="1270">
            <a:solidFill>
              <a:srgbClr val="CBB3E8">
                <a:alpha val="0"/>
              </a:srgbClr>
            </a:solidFill>
            <a:prstDash val="solid"/>
          </a:ln>
        </p:spPr>
      </p:sp>
      <p:sp>
        <p:nvSpPr>
          <p:cNvPr id="5" name="Shape 3"/>
          <p:cNvSpPr/>
          <p:nvPr/>
        </p:nvSpPr>
        <p:spPr>
          <a:xfrm>
            <a:off x="566928" y="384048"/>
            <a:ext cx="68580" cy="68580"/>
          </a:xfrm>
          <a:prstGeom prst="rect">
            <a:avLst/>
          </a:prstGeom>
          <a:solidFill>
            <a:srgbClr val="F4F5EF"/>
          </a:solidFill>
          <a:ln w="1270">
            <a:solidFill>
              <a:srgbClr val="F4F5EF">
                <a:alpha val="0"/>
              </a:srgbClr>
            </a:solidFill>
            <a:prstDash val="solid"/>
          </a:ln>
        </p:spPr>
      </p:sp>
      <p:sp>
        <p:nvSpPr>
          <p:cNvPr id="6" name="Shape 4"/>
          <p:cNvSpPr/>
          <p:nvPr/>
        </p:nvSpPr>
        <p:spPr>
          <a:xfrm>
            <a:off x="685800" y="384048"/>
            <a:ext cx="68580" cy="68580"/>
          </a:xfrm>
          <a:prstGeom prst="rect">
            <a:avLst/>
          </a:prstGeom>
          <a:solidFill>
            <a:srgbClr val="D4FF3F"/>
          </a:solidFill>
          <a:ln w="1270">
            <a:solidFill>
              <a:srgbClr val="D4FF3F">
                <a:alpha val="0"/>
              </a:srgbClr>
            </a:solidFill>
            <a:prstDash val="solid"/>
          </a:ln>
        </p:spPr>
      </p:sp>
      <p:sp>
        <p:nvSpPr>
          <p:cNvPr id="7" name="Shape 5"/>
          <p:cNvSpPr/>
          <p:nvPr/>
        </p:nvSpPr>
        <p:spPr>
          <a:xfrm>
            <a:off x="804672" y="384048"/>
            <a:ext cx="68580" cy="68580"/>
          </a:xfrm>
          <a:prstGeom prst="rect">
            <a:avLst/>
          </a:prstGeom>
          <a:solidFill>
            <a:srgbClr val="F4F5EF"/>
          </a:solidFill>
          <a:ln w="1270">
            <a:solidFill>
              <a:srgbClr val="F4F5EF">
                <a:alpha val="0"/>
              </a:srgbClr>
            </a:solidFill>
            <a:prstDash val="solid"/>
          </a:ln>
        </p:spPr>
      </p:sp>
      <p:sp>
        <p:nvSpPr>
          <p:cNvPr id="8" name="Text 6"/>
          <p:cNvSpPr txBox="1"/>
          <p:nvPr/>
        </p:nvSpPr>
        <p:spPr>
          <a:xfrm>
            <a:off x="978408" y="242316"/>
            <a:ext cx="1234440" cy="237744"/>
          </a:xfrm>
          <a:prstGeom prst="rect">
            <a:avLst/>
          </a:prstGeom>
          <a:noFill/>
          <a:ln/>
        </p:spPr>
        <p:txBody>
          <a:bodyPr wrap="square" lIns="0" tIns="0" rIns="0" bIns="0" rtlCol="0" anchor="ctr">
            <a:normAutofit/>
          </a:bodyPr>
          <a:lstStyle/>
          <a:p>
            <a:pPr algn="l" indent="0" marL="0">
              <a:buNone/>
            </a:pPr>
            <a:r>
              <a:rPr lang="en-US" sz="1300" b="1" spc="110" kern="0" dirty="0">
                <a:solidFill>
                  <a:srgbClr val="0D120F"/>
                </a:solidFill>
                <a:latin typeface="Inter" pitchFamily="34" charset="0"/>
                <a:ea typeface="Inter" pitchFamily="34" charset="-122"/>
                <a:cs typeface="Inter" pitchFamily="34" charset="-120"/>
              </a:rPr>
              <a:t>RISKORA</a:t>
            </a:r>
            <a:endParaRPr lang="en-US" sz="1300" dirty="0"/>
          </a:p>
        </p:txBody>
      </p:sp>
      <p:sp>
        <p:nvSpPr>
          <p:cNvPr id="9" name="Text 7"/>
          <p:cNvSpPr txBox="1"/>
          <p:nvPr/>
        </p:nvSpPr>
        <p:spPr>
          <a:xfrm>
            <a:off x="8503920" y="283464"/>
            <a:ext cx="3108960" cy="164592"/>
          </a:xfrm>
          <a:prstGeom prst="rect">
            <a:avLst/>
          </a:prstGeom>
          <a:noFill/>
          <a:ln/>
        </p:spPr>
        <p:txBody>
          <a:bodyPr wrap="square" lIns="0" tIns="0" rIns="0" bIns="0" rtlCol="0" anchor="ctr">
            <a:normAutofit/>
          </a:bodyPr>
          <a:lstStyle/>
          <a:p>
            <a:pPr algn="r" indent="0" marL="0">
              <a:buNone/>
            </a:pPr>
            <a:r>
              <a:rPr lang="en-US" sz="870" b="1" spc="140" kern="0" dirty="0">
                <a:solidFill>
                  <a:srgbClr val="69736A"/>
                </a:solidFill>
                <a:latin typeface="Inter" pitchFamily="34" charset="0"/>
                <a:ea typeface="Inter" pitchFamily="34" charset="-122"/>
                <a:cs typeface="Inter" pitchFamily="34" charset="-120"/>
              </a:rPr>
              <a:t>01 / PROBLEM</a:t>
            </a:r>
            <a:endParaRPr lang="en-US" sz="870" dirty="0"/>
          </a:p>
        </p:txBody>
      </p:sp>
      <p:sp>
        <p:nvSpPr>
          <p:cNvPr id="10" name="Shape 8"/>
          <p:cNvSpPr/>
          <p:nvPr/>
        </p:nvSpPr>
        <p:spPr>
          <a:xfrm>
            <a:off x="566928" y="658368"/>
            <a:ext cx="11064240" cy="0"/>
          </a:xfrm>
          <a:prstGeom prst="line">
            <a:avLst/>
          </a:prstGeom>
          <a:noFill/>
          <a:ln w="10160">
            <a:solidFill>
              <a:srgbClr val="DDE2D9"/>
            </a:solidFill>
            <a:prstDash val="solid"/>
            <a:headEnd type="none"/>
            <a:tailEnd type="none"/>
          </a:ln>
        </p:spPr>
      </p:sp>
      <p:sp>
        <p:nvSpPr>
          <p:cNvPr id="11" name="Text 9"/>
          <p:cNvSpPr txBox="1"/>
          <p:nvPr/>
        </p:nvSpPr>
        <p:spPr>
          <a:xfrm>
            <a:off x="566928" y="868680"/>
            <a:ext cx="11018520" cy="658368"/>
          </a:xfrm>
          <a:prstGeom prst="rect">
            <a:avLst/>
          </a:prstGeom>
          <a:noFill/>
          <a:ln/>
        </p:spPr>
        <p:txBody>
          <a:bodyPr wrap="square" lIns="0" tIns="0" rIns="0" bIns="0" rtlCol="0" anchor="ctr">
            <a:normAutofit/>
          </a:bodyPr>
          <a:lstStyle/>
          <a:p>
            <a:pPr algn="l" indent="0" marL="0">
              <a:buNone/>
            </a:pPr>
            <a:r>
              <a:rPr lang="en-US" sz="2900" b="1" dirty="0">
                <a:solidFill>
                  <a:srgbClr val="0D120F"/>
                </a:solidFill>
                <a:latin typeface="Inter Display" pitchFamily="34" charset="0"/>
                <a:ea typeface="Inter Display" pitchFamily="34" charset="-122"/>
                <a:cs typeface="Inter Display" pitchFamily="34" charset="-120"/>
              </a:rPr>
              <a:t>Fund portfolios are public. Research still happens in hindsight.</a:t>
            </a:r>
            <a:endParaRPr lang="en-US" sz="2900" dirty="0"/>
          </a:p>
        </p:txBody>
      </p:sp>
      <p:sp>
        <p:nvSpPr>
          <p:cNvPr id="12" name="Text 10"/>
          <p:cNvSpPr txBox="1"/>
          <p:nvPr/>
        </p:nvSpPr>
        <p:spPr>
          <a:xfrm>
            <a:off x="585216" y="1572768"/>
            <a:ext cx="10698480" cy="384048"/>
          </a:xfrm>
          <a:prstGeom prst="rect">
            <a:avLst/>
          </a:prstGeom>
          <a:noFill/>
          <a:ln/>
        </p:spPr>
        <p:txBody>
          <a:bodyPr wrap="square" lIns="0" tIns="0" rIns="0" bIns="0" rtlCol="0" anchor="t">
            <a:normAutofit/>
          </a:bodyPr>
          <a:lstStyle/>
          <a:p>
            <a:pPr algn="l" indent="0" marL="0">
              <a:buNone/>
            </a:pPr>
            <a:r>
              <a:rPr lang="en-US" sz="1320" dirty="0">
                <a:solidFill>
                  <a:srgbClr val="69736A"/>
                </a:solidFill>
                <a:latin typeface="Inter" pitchFamily="34" charset="0"/>
                <a:ea typeface="Inter" pitchFamily="34" charset="-122"/>
                <a:cs typeface="Inter" pitchFamily="34" charset="-120"/>
              </a:rPr>
              <a:t>A month-end statement shows a position after it appears. It does not tell an analyst when or why the fund bought it.</a:t>
            </a:r>
            <a:endParaRPr lang="en-US" sz="1320" dirty="0"/>
          </a:p>
        </p:txBody>
      </p:sp>
      <p:sp>
        <p:nvSpPr>
          <p:cNvPr id="13" name="Text 11"/>
          <p:cNvSpPr txBox="1"/>
          <p:nvPr/>
        </p:nvSpPr>
        <p:spPr>
          <a:xfrm>
            <a:off x="566928" y="6492240"/>
            <a:ext cx="5029200" cy="146304"/>
          </a:xfrm>
          <a:prstGeom prst="rect">
            <a:avLst/>
          </a:prstGeom>
          <a:noFill/>
          <a:ln/>
        </p:spPr>
        <p:txBody>
          <a:bodyPr wrap="square" lIns="0" tIns="0" rIns="0" bIns="0" rtlCol="0" anchor="ctr">
            <a:normAutofit/>
          </a:bodyPr>
          <a:lstStyle/>
          <a:p>
            <a:pPr algn="l" indent="0" marL="0">
              <a:buNone/>
            </a:pPr>
            <a:r>
              <a:rPr lang="en-US" sz="820" b="1" spc="90" kern="0" dirty="0">
                <a:solidFill>
                  <a:srgbClr val="7A837A"/>
                </a:solidFill>
                <a:latin typeface="Inter" pitchFamily="34" charset="0"/>
                <a:ea typeface="Inter" pitchFamily="34" charset="-122"/>
                <a:cs typeface="Inter" pitchFamily="34" charset="-120"/>
              </a:rPr>
              <a:t>AIBOomi STARTUP WEEKEND  ·  KOCHI 2026</a:t>
            </a:r>
            <a:endParaRPr lang="en-US" sz="820" dirty="0"/>
          </a:p>
        </p:txBody>
      </p:sp>
      <p:sp>
        <p:nvSpPr>
          <p:cNvPr id="14" name="Text 12"/>
          <p:cNvSpPr txBox="1"/>
          <p:nvPr/>
        </p:nvSpPr>
        <p:spPr>
          <a:xfrm>
            <a:off x="10991088" y="6473952"/>
            <a:ext cx="612648" cy="182880"/>
          </a:xfrm>
          <a:prstGeom prst="rect">
            <a:avLst/>
          </a:prstGeom>
          <a:noFill/>
          <a:ln/>
        </p:spPr>
        <p:txBody>
          <a:bodyPr wrap="square" lIns="0" tIns="0" rIns="0" bIns="0" rtlCol="0" anchor="ctr">
            <a:normAutofit/>
          </a:bodyPr>
          <a:lstStyle/>
          <a:p>
            <a:pPr algn="r" indent="0" marL="0">
              <a:buNone/>
            </a:pPr>
            <a:r>
              <a:rPr lang="en-US" sz="900" b="1" dirty="0">
                <a:solidFill>
                  <a:srgbClr val="7A837A"/>
                </a:solidFill>
                <a:latin typeface="Inter" pitchFamily="34" charset="0"/>
                <a:ea typeface="Inter" pitchFamily="34" charset="-122"/>
                <a:cs typeface="Inter" pitchFamily="34" charset="-120"/>
              </a:rPr>
              <a:t>02 / 06</a:t>
            </a:r>
            <a:endParaRPr lang="en-US" sz="900" dirty="0"/>
          </a:p>
        </p:txBody>
      </p:sp>
      <p:sp>
        <p:nvSpPr>
          <p:cNvPr id="15" name="Shape 13"/>
          <p:cNvSpPr/>
          <p:nvPr/>
        </p:nvSpPr>
        <p:spPr>
          <a:xfrm>
            <a:off x="603504" y="2212848"/>
            <a:ext cx="2862072" cy="1627632"/>
          </a:xfrm>
          <a:prstGeom prst="roundRect">
            <a:avLst/>
          </a:prstGeom>
          <a:solidFill>
            <a:srgbClr val="FFFFFF"/>
          </a:solidFill>
          <a:ln w="10160">
            <a:solidFill>
              <a:srgbClr val="DDE2D9"/>
            </a:solidFill>
            <a:prstDash val="solid"/>
          </a:ln>
        </p:spPr>
      </p:sp>
      <p:sp>
        <p:nvSpPr>
          <p:cNvPr id="16" name="Shape 14"/>
          <p:cNvSpPr/>
          <p:nvPr/>
        </p:nvSpPr>
        <p:spPr>
          <a:xfrm>
            <a:off x="822960" y="2423160"/>
            <a:ext cx="1133856" cy="283464"/>
          </a:xfrm>
          <a:prstGeom prst="roundRect">
            <a:avLst/>
          </a:prstGeom>
          <a:solidFill>
            <a:srgbClr val="E6F0E7"/>
          </a:solidFill>
          <a:ln w="1270">
            <a:solidFill>
              <a:srgbClr val="E6F0E7">
                <a:alpha val="0"/>
              </a:srgbClr>
            </a:solidFill>
            <a:prstDash val="solid"/>
          </a:ln>
        </p:spPr>
      </p:sp>
      <p:sp>
        <p:nvSpPr>
          <p:cNvPr id="17" name="Text 15"/>
          <p:cNvSpPr txBox="1"/>
          <p:nvPr/>
        </p:nvSpPr>
        <p:spPr>
          <a:xfrm>
            <a:off x="932688" y="2441448"/>
            <a:ext cx="914400" cy="228600"/>
          </a:xfrm>
          <a:prstGeom prst="rect">
            <a:avLst/>
          </a:prstGeom>
          <a:noFill/>
          <a:ln/>
        </p:spPr>
        <p:txBody>
          <a:bodyPr wrap="square" lIns="0" tIns="0" rIns="0" bIns="0" rtlCol="0" anchor="ctr">
            <a:normAutofit/>
          </a:bodyPr>
          <a:lstStyle/>
          <a:p>
            <a:pPr algn="ctr" indent="0" marL="0">
              <a:buNone/>
            </a:pPr>
            <a:r>
              <a:rPr lang="en-US" sz="830" b="1" spc="60" kern="0" dirty="0">
                <a:solidFill>
                  <a:srgbClr val="2F6B4D"/>
                </a:solidFill>
                <a:latin typeface="Inter" pitchFamily="34" charset="0"/>
                <a:ea typeface="Inter" pitchFamily="34" charset="-122"/>
                <a:cs typeface="Inter" pitchFamily="34" charset="-120"/>
              </a:rPr>
              <a:t>SNAPSHOT 01</a:t>
            </a:r>
            <a:endParaRPr lang="en-US" sz="830" dirty="0"/>
          </a:p>
        </p:txBody>
      </p:sp>
      <p:sp>
        <p:nvSpPr>
          <p:cNvPr id="18" name="Text 16"/>
          <p:cNvSpPr txBox="1"/>
          <p:nvPr/>
        </p:nvSpPr>
        <p:spPr>
          <a:xfrm>
            <a:off x="822960" y="2807208"/>
            <a:ext cx="1097280" cy="320040"/>
          </a:xfrm>
          <a:prstGeom prst="rect">
            <a:avLst/>
          </a:prstGeom>
          <a:noFill/>
          <a:ln/>
        </p:spPr>
        <p:txBody>
          <a:bodyPr wrap="square" lIns="0" tIns="0" rIns="0" bIns="0" rtlCol="0" anchor="ctr">
            <a:normAutofit/>
          </a:bodyPr>
          <a:lstStyle/>
          <a:p>
            <a:pPr algn="l" indent="0" marL="0">
              <a:buNone/>
            </a:pPr>
            <a:r>
              <a:rPr lang="en-US" sz="2200" b="1" dirty="0">
                <a:solidFill>
                  <a:srgbClr val="0D120F"/>
                </a:solidFill>
                <a:latin typeface="Inter" pitchFamily="34" charset="0"/>
                <a:ea typeface="Inter" pitchFamily="34" charset="-122"/>
                <a:cs typeface="Inter" pitchFamily="34" charset="-120"/>
              </a:rPr>
              <a:t>31 AUG</a:t>
            </a:r>
            <a:endParaRPr lang="en-US" sz="2200" dirty="0"/>
          </a:p>
        </p:txBody>
      </p:sp>
      <p:sp>
        <p:nvSpPr>
          <p:cNvPr id="19" name="Text 17"/>
          <p:cNvSpPr txBox="1"/>
          <p:nvPr/>
        </p:nvSpPr>
        <p:spPr>
          <a:xfrm>
            <a:off x="822960" y="3209544"/>
            <a:ext cx="2194560" cy="219456"/>
          </a:xfrm>
          <a:prstGeom prst="rect">
            <a:avLst/>
          </a:prstGeom>
          <a:noFill/>
          <a:ln/>
        </p:spPr>
        <p:txBody>
          <a:bodyPr wrap="square" lIns="0" tIns="0" rIns="0" bIns="0" rtlCol="0" anchor="ctr">
            <a:normAutofit/>
          </a:bodyPr>
          <a:lstStyle/>
          <a:p>
            <a:pPr algn="l" indent="0" marL="0">
              <a:buNone/>
            </a:pPr>
            <a:r>
              <a:rPr lang="en-US" sz="1100" dirty="0">
                <a:solidFill>
                  <a:srgbClr val="69736A"/>
                </a:solidFill>
                <a:latin typeface="Inter" pitchFamily="34" charset="0"/>
                <a:ea typeface="Inter" pitchFamily="34" charset="-122"/>
                <a:cs typeface="Inter" pitchFamily="34" charset="-120"/>
              </a:rPr>
              <a:t>Disclosed holdings</a:t>
            </a:r>
            <a:endParaRPr lang="en-US" sz="1100" dirty="0"/>
          </a:p>
        </p:txBody>
      </p:sp>
      <p:sp>
        <p:nvSpPr>
          <p:cNvPr id="20" name="Shape 18"/>
          <p:cNvSpPr/>
          <p:nvPr/>
        </p:nvSpPr>
        <p:spPr>
          <a:xfrm>
            <a:off x="2386584" y="2816352"/>
            <a:ext cx="685800" cy="64008"/>
          </a:xfrm>
          <a:prstGeom prst="roundRect">
            <a:avLst/>
          </a:prstGeom>
          <a:solidFill>
            <a:srgbClr val="B8C6BB"/>
          </a:solidFill>
          <a:ln w="1270">
            <a:solidFill>
              <a:srgbClr val="B8C6BB">
                <a:alpha val="0"/>
              </a:srgbClr>
            </a:solidFill>
            <a:prstDash val="solid"/>
          </a:ln>
        </p:spPr>
      </p:sp>
      <p:sp>
        <p:nvSpPr>
          <p:cNvPr id="21" name="Shape 19"/>
          <p:cNvSpPr/>
          <p:nvPr/>
        </p:nvSpPr>
        <p:spPr>
          <a:xfrm>
            <a:off x="2386584" y="3044952"/>
            <a:ext cx="612648" cy="64008"/>
          </a:xfrm>
          <a:prstGeom prst="roundRect">
            <a:avLst/>
          </a:prstGeom>
          <a:solidFill>
            <a:srgbClr val="DFE5DD"/>
          </a:solidFill>
          <a:ln w="1270">
            <a:solidFill>
              <a:srgbClr val="DFE5DD">
                <a:alpha val="0"/>
              </a:srgbClr>
            </a:solidFill>
            <a:prstDash val="solid"/>
          </a:ln>
        </p:spPr>
      </p:sp>
      <p:sp>
        <p:nvSpPr>
          <p:cNvPr id="22" name="Shape 20"/>
          <p:cNvSpPr/>
          <p:nvPr/>
        </p:nvSpPr>
        <p:spPr>
          <a:xfrm>
            <a:off x="2386584" y="3273552"/>
            <a:ext cx="539496" cy="64008"/>
          </a:xfrm>
          <a:prstGeom prst="roundRect">
            <a:avLst/>
          </a:prstGeom>
          <a:solidFill>
            <a:srgbClr val="DFE5DD"/>
          </a:solidFill>
          <a:ln w="1270">
            <a:solidFill>
              <a:srgbClr val="DFE5DD">
                <a:alpha val="0"/>
              </a:srgbClr>
            </a:solidFill>
            <a:prstDash val="solid"/>
          </a:ln>
        </p:spPr>
      </p:sp>
      <p:sp>
        <p:nvSpPr>
          <p:cNvPr id="23" name="Shape 21"/>
          <p:cNvSpPr/>
          <p:nvPr/>
        </p:nvSpPr>
        <p:spPr>
          <a:xfrm>
            <a:off x="3639312" y="2999232"/>
            <a:ext cx="1042416" cy="0"/>
          </a:xfrm>
          <a:prstGeom prst="line">
            <a:avLst/>
          </a:prstGeom>
          <a:noFill/>
          <a:ln w="22860">
            <a:solidFill>
              <a:srgbClr val="2F6B4D"/>
            </a:solidFill>
            <a:prstDash val="solid"/>
            <a:headEnd type="none"/>
            <a:tailEnd type="none"/>
          </a:ln>
        </p:spPr>
      </p:sp>
      <p:sp>
        <p:nvSpPr>
          <p:cNvPr id="24" name="Shape 22"/>
          <p:cNvSpPr/>
          <p:nvPr/>
        </p:nvSpPr>
        <p:spPr>
          <a:xfrm>
            <a:off x="4480560" y="2871216"/>
            <a:ext cx="256032" cy="256032"/>
          </a:xfrm>
          <a:prstGeom prst="chevron">
            <a:avLst/>
          </a:prstGeom>
          <a:solidFill>
            <a:srgbClr val="2F6B4D"/>
          </a:solidFill>
          <a:ln w="1270">
            <a:solidFill>
              <a:srgbClr val="2F6B4D">
                <a:alpha val="0"/>
              </a:srgbClr>
            </a:solidFill>
            <a:prstDash val="solid"/>
          </a:ln>
        </p:spPr>
      </p:sp>
      <p:sp>
        <p:nvSpPr>
          <p:cNvPr id="25" name="Text 23"/>
          <p:cNvSpPr txBox="1"/>
          <p:nvPr/>
        </p:nvSpPr>
        <p:spPr>
          <a:xfrm>
            <a:off x="3657600" y="2496312"/>
            <a:ext cx="914400" cy="384048"/>
          </a:xfrm>
          <a:prstGeom prst="rect">
            <a:avLst/>
          </a:prstGeom>
          <a:noFill/>
          <a:ln/>
        </p:spPr>
        <p:txBody>
          <a:bodyPr wrap="square" lIns="0" tIns="0" rIns="0" bIns="0" rtlCol="0" anchor="t">
            <a:normAutofit/>
          </a:bodyPr>
          <a:lstStyle/>
          <a:p>
            <a:pPr algn="ctr" indent="0" marL="0">
              <a:buNone/>
            </a:pPr>
            <a:r>
              <a:rPr lang="en-US" sz="800" b="1" dirty="0">
                <a:solidFill>
                  <a:srgbClr val="69736A"/>
                </a:solidFill>
                <a:latin typeface="Inter" pitchFamily="34" charset="0"/>
                <a:ea typeface="Inter" pitchFamily="34" charset="-122"/>
                <a:cs typeface="Inter" pitchFamily="34" charset="-120"/>
              </a:rPr>
              <a:t>MANUAL</a:t>
            </a:r>
            <a:endParaRPr lang="en-US" sz="800" dirty="0"/>
          </a:p>
          <a:p>
            <a:pPr algn="ctr" indent="0" marL="0">
              <a:buNone/>
            </a:pPr>
            <a:r>
              <a:rPr lang="en-US" sz="800" b="1" dirty="0">
                <a:solidFill>
                  <a:srgbClr val="69736A"/>
                </a:solidFill>
                <a:latin typeface="Inter" pitchFamily="34" charset="0"/>
                <a:ea typeface="Inter" pitchFamily="34" charset="-122"/>
                <a:cs typeface="Inter" pitchFamily="34" charset="-120"/>
              </a:rPr>
              <a:t>RECONCILIATION</a:t>
            </a:r>
            <a:endParaRPr lang="en-US" sz="800" dirty="0"/>
          </a:p>
        </p:txBody>
      </p:sp>
      <p:sp>
        <p:nvSpPr>
          <p:cNvPr id="26" name="Shape 24"/>
          <p:cNvSpPr/>
          <p:nvPr/>
        </p:nvSpPr>
        <p:spPr>
          <a:xfrm>
            <a:off x="4809744" y="2212848"/>
            <a:ext cx="2862072" cy="1627632"/>
          </a:xfrm>
          <a:prstGeom prst="roundRect">
            <a:avLst/>
          </a:prstGeom>
          <a:solidFill>
            <a:srgbClr val="FFFFFF"/>
          </a:solidFill>
          <a:ln w="10160">
            <a:solidFill>
              <a:srgbClr val="DDE2D9"/>
            </a:solidFill>
            <a:prstDash val="solid"/>
          </a:ln>
        </p:spPr>
      </p:sp>
      <p:sp>
        <p:nvSpPr>
          <p:cNvPr id="27" name="Shape 25"/>
          <p:cNvSpPr/>
          <p:nvPr/>
        </p:nvSpPr>
        <p:spPr>
          <a:xfrm>
            <a:off x="5029200" y="2423160"/>
            <a:ext cx="1133856" cy="283464"/>
          </a:xfrm>
          <a:prstGeom prst="roundRect">
            <a:avLst/>
          </a:prstGeom>
          <a:solidFill>
            <a:srgbClr val="EFE8F8"/>
          </a:solidFill>
          <a:ln w="1270">
            <a:solidFill>
              <a:srgbClr val="EFE8F8">
                <a:alpha val="0"/>
              </a:srgbClr>
            </a:solidFill>
            <a:prstDash val="solid"/>
          </a:ln>
        </p:spPr>
      </p:sp>
      <p:sp>
        <p:nvSpPr>
          <p:cNvPr id="28" name="Text 26"/>
          <p:cNvSpPr txBox="1"/>
          <p:nvPr/>
        </p:nvSpPr>
        <p:spPr>
          <a:xfrm>
            <a:off x="5138928" y="2441448"/>
            <a:ext cx="914400" cy="228600"/>
          </a:xfrm>
          <a:prstGeom prst="rect">
            <a:avLst/>
          </a:prstGeom>
          <a:noFill/>
          <a:ln/>
        </p:spPr>
        <p:txBody>
          <a:bodyPr wrap="square" lIns="0" tIns="0" rIns="0" bIns="0" rtlCol="0" anchor="ctr">
            <a:normAutofit/>
          </a:bodyPr>
          <a:lstStyle/>
          <a:p>
            <a:pPr algn="ctr" indent="0" marL="0">
              <a:buNone/>
            </a:pPr>
            <a:r>
              <a:rPr lang="en-US" sz="830" b="1" spc="60" kern="0" dirty="0">
                <a:solidFill>
                  <a:srgbClr val="6A4A8D"/>
                </a:solidFill>
                <a:latin typeface="Inter" pitchFamily="34" charset="0"/>
                <a:ea typeface="Inter" pitchFamily="34" charset="-122"/>
                <a:cs typeface="Inter" pitchFamily="34" charset="-120"/>
              </a:rPr>
              <a:t>SNAPSHOT 02</a:t>
            </a:r>
            <a:endParaRPr lang="en-US" sz="830" dirty="0"/>
          </a:p>
        </p:txBody>
      </p:sp>
      <p:sp>
        <p:nvSpPr>
          <p:cNvPr id="29" name="Text 27"/>
          <p:cNvSpPr txBox="1"/>
          <p:nvPr/>
        </p:nvSpPr>
        <p:spPr>
          <a:xfrm>
            <a:off x="5029200" y="2807208"/>
            <a:ext cx="1097280" cy="320040"/>
          </a:xfrm>
          <a:prstGeom prst="rect">
            <a:avLst/>
          </a:prstGeom>
          <a:noFill/>
          <a:ln/>
        </p:spPr>
        <p:txBody>
          <a:bodyPr wrap="square" lIns="0" tIns="0" rIns="0" bIns="0" rtlCol="0" anchor="ctr">
            <a:normAutofit/>
          </a:bodyPr>
          <a:lstStyle/>
          <a:p>
            <a:pPr algn="l" indent="0" marL="0">
              <a:buNone/>
            </a:pPr>
            <a:r>
              <a:rPr lang="en-US" sz="2200" b="1" dirty="0">
                <a:solidFill>
                  <a:srgbClr val="0D120F"/>
                </a:solidFill>
                <a:latin typeface="Inter" pitchFamily="34" charset="0"/>
                <a:ea typeface="Inter" pitchFamily="34" charset="-122"/>
                <a:cs typeface="Inter" pitchFamily="34" charset="-120"/>
              </a:rPr>
              <a:t>30 SEP</a:t>
            </a:r>
            <a:endParaRPr lang="en-US" sz="2200" dirty="0"/>
          </a:p>
        </p:txBody>
      </p:sp>
      <p:sp>
        <p:nvSpPr>
          <p:cNvPr id="30" name="Text 28"/>
          <p:cNvSpPr txBox="1"/>
          <p:nvPr/>
        </p:nvSpPr>
        <p:spPr>
          <a:xfrm>
            <a:off x="5029200" y="3209544"/>
            <a:ext cx="2240280" cy="219456"/>
          </a:xfrm>
          <a:prstGeom prst="rect">
            <a:avLst/>
          </a:prstGeom>
          <a:noFill/>
          <a:ln/>
        </p:spPr>
        <p:txBody>
          <a:bodyPr wrap="square" lIns="0" tIns="0" rIns="0" bIns="0" rtlCol="0" anchor="ctr">
            <a:normAutofit/>
          </a:bodyPr>
          <a:lstStyle/>
          <a:p>
            <a:pPr algn="l" indent="0" marL="0">
              <a:buNone/>
            </a:pPr>
            <a:r>
              <a:rPr lang="en-US" sz="1100" dirty="0">
                <a:solidFill>
                  <a:srgbClr val="69736A"/>
                </a:solidFill>
                <a:latin typeface="Inter" pitchFamily="34" charset="0"/>
                <a:ea typeface="Inter" pitchFamily="34" charset="-122"/>
                <a:cs typeface="Inter" pitchFamily="34" charset="-120"/>
              </a:rPr>
              <a:t>Newly disclosed positions</a:t>
            </a:r>
            <a:endParaRPr lang="en-US" sz="1100" dirty="0"/>
          </a:p>
        </p:txBody>
      </p:sp>
      <p:sp>
        <p:nvSpPr>
          <p:cNvPr id="31" name="Shape 29"/>
          <p:cNvSpPr/>
          <p:nvPr/>
        </p:nvSpPr>
        <p:spPr>
          <a:xfrm>
            <a:off x="6848856" y="2816352"/>
            <a:ext cx="612648" cy="64008"/>
          </a:xfrm>
          <a:prstGeom prst="roundRect">
            <a:avLst/>
          </a:prstGeom>
          <a:solidFill>
            <a:srgbClr val="DFE5DD"/>
          </a:solidFill>
          <a:ln w="1270">
            <a:solidFill>
              <a:srgbClr val="DFE5DD">
                <a:alpha val="0"/>
              </a:srgbClr>
            </a:solidFill>
            <a:prstDash val="solid"/>
          </a:ln>
        </p:spPr>
      </p:sp>
      <p:sp>
        <p:nvSpPr>
          <p:cNvPr id="32" name="Shape 30"/>
          <p:cNvSpPr/>
          <p:nvPr/>
        </p:nvSpPr>
        <p:spPr>
          <a:xfrm>
            <a:off x="6848856" y="3044952"/>
            <a:ext cx="612648" cy="64008"/>
          </a:xfrm>
          <a:prstGeom prst="roundRect">
            <a:avLst/>
          </a:prstGeom>
          <a:solidFill>
            <a:srgbClr val="CBB3E8"/>
          </a:solidFill>
          <a:ln w="1270">
            <a:solidFill>
              <a:srgbClr val="CBB3E8">
                <a:alpha val="0"/>
              </a:srgbClr>
            </a:solidFill>
            <a:prstDash val="solid"/>
          </a:ln>
        </p:spPr>
      </p:sp>
      <p:sp>
        <p:nvSpPr>
          <p:cNvPr id="33" name="Shape 31"/>
          <p:cNvSpPr/>
          <p:nvPr/>
        </p:nvSpPr>
        <p:spPr>
          <a:xfrm>
            <a:off x="6848856" y="3273552"/>
            <a:ext cx="612648" cy="64008"/>
          </a:xfrm>
          <a:prstGeom prst="roundRect">
            <a:avLst/>
          </a:prstGeom>
          <a:solidFill>
            <a:srgbClr val="DFE5DD"/>
          </a:solidFill>
          <a:ln w="1270">
            <a:solidFill>
              <a:srgbClr val="DFE5DD">
                <a:alpha val="0"/>
              </a:srgbClr>
            </a:solidFill>
            <a:prstDash val="solid"/>
          </a:ln>
        </p:spPr>
      </p:sp>
      <p:sp>
        <p:nvSpPr>
          <p:cNvPr id="34" name="Shape 32"/>
          <p:cNvSpPr/>
          <p:nvPr/>
        </p:nvSpPr>
        <p:spPr>
          <a:xfrm>
            <a:off x="7991856" y="2212848"/>
            <a:ext cx="3566160" cy="1627632"/>
          </a:xfrm>
          <a:prstGeom prst="roundRect">
            <a:avLst/>
          </a:prstGeom>
          <a:solidFill>
            <a:srgbClr val="0D120F"/>
          </a:solidFill>
          <a:ln w="10160">
            <a:solidFill>
              <a:srgbClr val="0D120F"/>
            </a:solidFill>
            <a:prstDash val="solid"/>
          </a:ln>
        </p:spPr>
      </p:sp>
      <p:sp>
        <p:nvSpPr>
          <p:cNvPr id="35" name="Text 33"/>
          <p:cNvSpPr txBox="1"/>
          <p:nvPr/>
        </p:nvSpPr>
        <p:spPr>
          <a:xfrm>
            <a:off x="8266176" y="2487168"/>
            <a:ext cx="2194560" cy="164592"/>
          </a:xfrm>
          <a:prstGeom prst="rect">
            <a:avLst/>
          </a:prstGeom>
          <a:noFill/>
          <a:ln/>
        </p:spPr>
        <p:txBody>
          <a:bodyPr wrap="square" lIns="0" tIns="0" rIns="0" bIns="0" rtlCol="0" anchor="ctr">
            <a:normAutofit/>
          </a:bodyPr>
          <a:lstStyle/>
          <a:p>
            <a:pPr algn="l" indent="0" marL="0">
              <a:buNone/>
            </a:pPr>
            <a:r>
              <a:rPr lang="en-US" sz="850" b="1" spc="130" kern="0" dirty="0">
                <a:solidFill>
                  <a:srgbClr val="D4FF3F"/>
                </a:solidFill>
                <a:latin typeface="Inter" pitchFamily="34" charset="0"/>
                <a:ea typeface="Inter" pitchFamily="34" charset="-122"/>
                <a:cs typeface="Inter" pitchFamily="34" charset="-120"/>
              </a:rPr>
              <a:t>THE CORE GAP</a:t>
            </a:r>
            <a:endParaRPr lang="en-US" sz="850" dirty="0"/>
          </a:p>
        </p:txBody>
      </p:sp>
      <p:sp>
        <p:nvSpPr>
          <p:cNvPr id="36" name="Text 34"/>
          <p:cNvSpPr txBox="1"/>
          <p:nvPr/>
        </p:nvSpPr>
        <p:spPr>
          <a:xfrm>
            <a:off x="8266176" y="2788920"/>
            <a:ext cx="2788920" cy="658368"/>
          </a:xfrm>
          <a:prstGeom prst="rect">
            <a:avLst/>
          </a:prstGeom>
          <a:noFill/>
          <a:ln/>
        </p:spPr>
        <p:txBody>
          <a:bodyPr wrap="square" lIns="0" tIns="0" rIns="0" bIns="0" rtlCol="0" anchor="t">
            <a:normAutofit/>
          </a:bodyPr>
          <a:lstStyle/>
          <a:p>
            <a:pPr algn="l" indent="0" marL="0">
              <a:buNone/>
            </a:pPr>
            <a:r>
              <a:rPr lang="en-US" sz="1750" b="1" dirty="0">
                <a:solidFill>
                  <a:srgbClr val="F4F5EF"/>
                </a:solidFill>
                <a:latin typeface="Inter" pitchFamily="34" charset="0"/>
                <a:ea typeface="Inter" pitchFamily="34" charset="-122"/>
                <a:cs typeface="Inter" pitchFamily="34" charset="-120"/>
              </a:rPr>
              <a:t>A new holding is a disclosed change — not a trade record.</a:t>
            </a:r>
            <a:endParaRPr lang="en-US" sz="1750" dirty="0"/>
          </a:p>
        </p:txBody>
      </p:sp>
      <p:sp>
        <p:nvSpPr>
          <p:cNvPr id="37" name="Shape 35"/>
          <p:cNvSpPr/>
          <p:nvPr/>
        </p:nvSpPr>
        <p:spPr>
          <a:xfrm>
            <a:off x="603504" y="4224528"/>
            <a:ext cx="3456432" cy="1280160"/>
          </a:xfrm>
          <a:prstGeom prst="roundRect">
            <a:avLst/>
          </a:prstGeom>
          <a:solidFill>
            <a:srgbClr val="FFFFFF"/>
          </a:solidFill>
          <a:ln w="10160">
            <a:solidFill>
              <a:srgbClr val="DDE2D9"/>
            </a:solidFill>
            <a:prstDash val="solid"/>
          </a:ln>
        </p:spPr>
      </p:sp>
      <p:sp>
        <p:nvSpPr>
          <p:cNvPr id="38" name="Text 36"/>
          <p:cNvSpPr txBox="1"/>
          <p:nvPr/>
        </p:nvSpPr>
        <p:spPr>
          <a:xfrm>
            <a:off x="813816" y="4434840"/>
            <a:ext cx="411480" cy="219456"/>
          </a:xfrm>
          <a:prstGeom prst="rect">
            <a:avLst/>
          </a:prstGeom>
          <a:noFill/>
          <a:ln/>
        </p:spPr>
        <p:txBody>
          <a:bodyPr wrap="square" lIns="0" tIns="0" rIns="0" bIns="0" rtlCol="0" anchor="ctr">
            <a:normAutofit/>
          </a:bodyPr>
          <a:lstStyle/>
          <a:p>
            <a:pPr algn="l" indent="0" marL="0">
              <a:buNone/>
            </a:pPr>
            <a:r>
              <a:rPr lang="en-US" sz="1100" b="1" dirty="0">
                <a:solidFill>
                  <a:srgbClr val="2F6B4D"/>
                </a:solidFill>
                <a:latin typeface="Inter" pitchFamily="34" charset="0"/>
                <a:ea typeface="Inter" pitchFamily="34" charset="-122"/>
                <a:cs typeface="Inter" pitchFamily="34" charset="-120"/>
              </a:rPr>
              <a:t>01</a:t>
            </a:r>
            <a:endParaRPr lang="en-US" sz="1100" dirty="0"/>
          </a:p>
        </p:txBody>
      </p:sp>
      <p:sp>
        <p:nvSpPr>
          <p:cNvPr id="39" name="Text 37"/>
          <p:cNvSpPr txBox="1"/>
          <p:nvPr/>
        </p:nvSpPr>
        <p:spPr>
          <a:xfrm>
            <a:off x="1307592" y="4389120"/>
            <a:ext cx="2468880" cy="246888"/>
          </a:xfrm>
          <a:prstGeom prst="rect">
            <a:avLst/>
          </a:prstGeom>
          <a:noFill/>
          <a:ln/>
        </p:spPr>
        <p:txBody>
          <a:bodyPr wrap="square" lIns="0" tIns="0" rIns="0" bIns="0" rtlCol="0" anchor="ctr">
            <a:normAutofit/>
          </a:bodyPr>
          <a:lstStyle/>
          <a:p>
            <a:pPr algn="l" indent="0" marL="0">
              <a:buNone/>
            </a:pPr>
            <a:r>
              <a:rPr lang="en-US" sz="1500" b="1" dirty="0">
                <a:solidFill>
                  <a:srgbClr val="0D120F"/>
                </a:solidFill>
                <a:latin typeface="Inter" pitchFamily="34" charset="0"/>
                <a:ea typeface="Inter" pitchFamily="34" charset="-122"/>
                <a:cs typeface="Inter" pitchFamily="34" charset="-120"/>
              </a:rPr>
              <a:t>Manual comparison</a:t>
            </a:r>
            <a:endParaRPr lang="en-US" sz="1500" dirty="0"/>
          </a:p>
        </p:txBody>
      </p:sp>
      <p:sp>
        <p:nvSpPr>
          <p:cNvPr id="40" name="Text 38"/>
          <p:cNvSpPr txBox="1"/>
          <p:nvPr/>
        </p:nvSpPr>
        <p:spPr>
          <a:xfrm>
            <a:off x="1307592" y="4709160"/>
            <a:ext cx="2487168" cy="502920"/>
          </a:xfrm>
          <a:prstGeom prst="rect">
            <a:avLst/>
          </a:prstGeom>
          <a:noFill/>
          <a:ln/>
        </p:spPr>
        <p:txBody>
          <a:bodyPr wrap="square" lIns="0" tIns="0" rIns="0" bIns="0" rtlCol="0" anchor="t">
            <a:normAutofit/>
          </a:bodyPr>
          <a:lstStyle/>
          <a:p>
            <a:pPr algn="l" indent="0" marL="0">
              <a:buNone/>
            </a:pPr>
            <a:r>
              <a:rPr lang="en-US" sz="1050" dirty="0">
                <a:solidFill>
                  <a:srgbClr val="69736A"/>
                </a:solidFill>
                <a:latin typeface="Inter" pitchFamily="34" charset="0"/>
                <a:ea typeface="Inter" pitchFamily="34" charset="-122"/>
                <a:cs typeface="Inter" pitchFamily="34" charset="-120"/>
              </a:rPr>
              <a:t>Files, identifiers and weight changes must be reconciled.</a:t>
            </a:r>
            <a:endParaRPr lang="en-US" sz="1050" dirty="0"/>
          </a:p>
        </p:txBody>
      </p:sp>
      <p:sp>
        <p:nvSpPr>
          <p:cNvPr id="41" name="Shape 39"/>
          <p:cNvSpPr/>
          <p:nvPr/>
        </p:nvSpPr>
        <p:spPr>
          <a:xfrm>
            <a:off x="4315968" y="4224528"/>
            <a:ext cx="3456432" cy="1280160"/>
          </a:xfrm>
          <a:prstGeom prst="roundRect">
            <a:avLst/>
          </a:prstGeom>
          <a:solidFill>
            <a:srgbClr val="FFFFFF"/>
          </a:solidFill>
          <a:ln w="10160">
            <a:solidFill>
              <a:srgbClr val="DDE2D9"/>
            </a:solidFill>
            <a:prstDash val="solid"/>
          </a:ln>
        </p:spPr>
      </p:sp>
      <p:sp>
        <p:nvSpPr>
          <p:cNvPr id="42" name="Text 40"/>
          <p:cNvSpPr txBox="1"/>
          <p:nvPr/>
        </p:nvSpPr>
        <p:spPr>
          <a:xfrm>
            <a:off x="4526280" y="4434840"/>
            <a:ext cx="411480" cy="219456"/>
          </a:xfrm>
          <a:prstGeom prst="rect">
            <a:avLst/>
          </a:prstGeom>
          <a:noFill/>
          <a:ln/>
        </p:spPr>
        <p:txBody>
          <a:bodyPr wrap="square" lIns="0" tIns="0" rIns="0" bIns="0" rtlCol="0" anchor="ctr">
            <a:normAutofit/>
          </a:bodyPr>
          <a:lstStyle/>
          <a:p>
            <a:pPr algn="l" indent="0" marL="0">
              <a:buNone/>
            </a:pPr>
            <a:r>
              <a:rPr lang="en-US" sz="1100" b="1" dirty="0">
                <a:solidFill>
                  <a:srgbClr val="2F6B4D"/>
                </a:solidFill>
                <a:latin typeface="Inter" pitchFamily="34" charset="0"/>
                <a:ea typeface="Inter" pitchFamily="34" charset="-122"/>
                <a:cs typeface="Inter" pitchFamily="34" charset="-120"/>
              </a:rPr>
              <a:t>02</a:t>
            </a:r>
            <a:endParaRPr lang="en-US" sz="1100" dirty="0"/>
          </a:p>
        </p:txBody>
      </p:sp>
      <p:sp>
        <p:nvSpPr>
          <p:cNvPr id="43" name="Text 41"/>
          <p:cNvSpPr txBox="1"/>
          <p:nvPr/>
        </p:nvSpPr>
        <p:spPr>
          <a:xfrm>
            <a:off x="5020056" y="4389120"/>
            <a:ext cx="2468880" cy="246888"/>
          </a:xfrm>
          <a:prstGeom prst="rect">
            <a:avLst/>
          </a:prstGeom>
          <a:noFill/>
          <a:ln/>
        </p:spPr>
        <p:txBody>
          <a:bodyPr wrap="square" lIns="0" tIns="0" rIns="0" bIns="0" rtlCol="0" anchor="ctr">
            <a:normAutofit/>
          </a:bodyPr>
          <a:lstStyle/>
          <a:p>
            <a:pPr algn="l" indent="0" marL="0">
              <a:buNone/>
            </a:pPr>
            <a:r>
              <a:rPr lang="en-US" sz="1500" b="1" dirty="0">
                <a:solidFill>
                  <a:srgbClr val="0D120F"/>
                </a:solidFill>
                <a:latin typeface="Inter" pitchFamily="34" charset="0"/>
                <a:ea typeface="Inter" pitchFamily="34" charset="-122"/>
                <a:cs typeface="Inter" pitchFamily="34" charset="-120"/>
              </a:rPr>
              <a:t>Timing uncertainty</a:t>
            </a:r>
            <a:endParaRPr lang="en-US" sz="1500" dirty="0"/>
          </a:p>
        </p:txBody>
      </p:sp>
      <p:sp>
        <p:nvSpPr>
          <p:cNvPr id="44" name="Text 42"/>
          <p:cNvSpPr txBox="1"/>
          <p:nvPr/>
        </p:nvSpPr>
        <p:spPr>
          <a:xfrm>
            <a:off x="5020056" y="4709160"/>
            <a:ext cx="2487168" cy="502920"/>
          </a:xfrm>
          <a:prstGeom prst="rect">
            <a:avLst/>
          </a:prstGeom>
          <a:noFill/>
          <a:ln/>
        </p:spPr>
        <p:txBody>
          <a:bodyPr wrap="square" lIns="0" tIns="0" rIns="0" bIns="0" rtlCol="0" anchor="t">
            <a:normAutofit/>
          </a:bodyPr>
          <a:lstStyle/>
          <a:p>
            <a:pPr algn="l" indent="0" marL="0">
              <a:buNone/>
            </a:pPr>
            <a:r>
              <a:rPr lang="en-US" sz="1050" dirty="0">
                <a:solidFill>
                  <a:srgbClr val="69736A"/>
                </a:solidFill>
                <a:latin typeface="Inter" pitchFamily="34" charset="0"/>
                <a:ea typeface="Inter" pitchFamily="34" charset="-122"/>
                <a:cs typeface="Inter" pitchFamily="34" charset="-120"/>
              </a:rPr>
              <a:t>Report date and public release date are not the same.</a:t>
            </a:r>
            <a:endParaRPr lang="en-US" sz="1050" dirty="0"/>
          </a:p>
        </p:txBody>
      </p:sp>
      <p:sp>
        <p:nvSpPr>
          <p:cNvPr id="45" name="Shape 43"/>
          <p:cNvSpPr/>
          <p:nvPr/>
        </p:nvSpPr>
        <p:spPr>
          <a:xfrm>
            <a:off x="8028432" y="4224528"/>
            <a:ext cx="3456432" cy="1280160"/>
          </a:xfrm>
          <a:prstGeom prst="roundRect">
            <a:avLst/>
          </a:prstGeom>
          <a:solidFill>
            <a:srgbClr val="E6F0E7"/>
          </a:solidFill>
          <a:ln w="10160">
            <a:solidFill>
              <a:srgbClr val="DDE2D9"/>
            </a:solidFill>
            <a:prstDash val="solid"/>
          </a:ln>
        </p:spPr>
      </p:sp>
      <p:sp>
        <p:nvSpPr>
          <p:cNvPr id="46" name="Text 44"/>
          <p:cNvSpPr txBox="1"/>
          <p:nvPr/>
        </p:nvSpPr>
        <p:spPr>
          <a:xfrm>
            <a:off x="8238744" y="4434840"/>
            <a:ext cx="411480" cy="219456"/>
          </a:xfrm>
          <a:prstGeom prst="rect">
            <a:avLst/>
          </a:prstGeom>
          <a:noFill/>
          <a:ln/>
        </p:spPr>
        <p:txBody>
          <a:bodyPr wrap="square" lIns="0" tIns="0" rIns="0" bIns="0" rtlCol="0" anchor="ctr">
            <a:normAutofit/>
          </a:bodyPr>
          <a:lstStyle/>
          <a:p>
            <a:pPr algn="l" indent="0" marL="0">
              <a:buNone/>
            </a:pPr>
            <a:r>
              <a:rPr lang="en-US" sz="1100" b="1" dirty="0">
                <a:solidFill>
                  <a:srgbClr val="2F6B4D"/>
                </a:solidFill>
                <a:latin typeface="Inter" pitchFamily="34" charset="0"/>
                <a:ea typeface="Inter" pitchFamily="34" charset="-122"/>
                <a:cs typeface="Inter" pitchFamily="34" charset="-120"/>
              </a:rPr>
              <a:t>03</a:t>
            </a:r>
            <a:endParaRPr lang="en-US" sz="1100" dirty="0"/>
          </a:p>
        </p:txBody>
      </p:sp>
      <p:sp>
        <p:nvSpPr>
          <p:cNvPr id="47" name="Text 45"/>
          <p:cNvSpPr txBox="1"/>
          <p:nvPr/>
        </p:nvSpPr>
        <p:spPr>
          <a:xfrm>
            <a:off x="8732520" y="4389120"/>
            <a:ext cx="2468880" cy="246888"/>
          </a:xfrm>
          <a:prstGeom prst="rect">
            <a:avLst/>
          </a:prstGeom>
          <a:noFill/>
          <a:ln/>
        </p:spPr>
        <p:txBody>
          <a:bodyPr wrap="square" lIns="0" tIns="0" rIns="0" bIns="0" rtlCol="0" anchor="ctr">
            <a:normAutofit/>
          </a:bodyPr>
          <a:lstStyle/>
          <a:p>
            <a:pPr algn="l" indent="0" marL="0">
              <a:buNone/>
            </a:pPr>
            <a:r>
              <a:rPr lang="en-US" sz="1500" b="1" dirty="0">
                <a:solidFill>
                  <a:srgbClr val="0D120F"/>
                </a:solidFill>
                <a:latin typeface="Inter" pitchFamily="34" charset="0"/>
                <a:ea typeface="Inter" pitchFamily="34" charset="-122"/>
                <a:cs typeface="Inter" pitchFamily="34" charset="-120"/>
              </a:rPr>
              <a:t>Scattered evidence</a:t>
            </a:r>
            <a:endParaRPr lang="en-US" sz="1500" dirty="0"/>
          </a:p>
        </p:txBody>
      </p:sp>
      <p:sp>
        <p:nvSpPr>
          <p:cNvPr id="48" name="Text 46"/>
          <p:cNvSpPr txBox="1"/>
          <p:nvPr/>
        </p:nvSpPr>
        <p:spPr>
          <a:xfrm>
            <a:off x="8732520" y="4709160"/>
            <a:ext cx="2487168" cy="502920"/>
          </a:xfrm>
          <a:prstGeom prst="rect">
            <a:avLst/>
          </a:prstGeom>
          <a:noFill/>
          <a:ln/>
        </p:spPr>
        <p:txBody>
          <a:bodyPr wrap="square" lIns="0" tIns="0" rIns="0" bIns="0" rtlCol="0" anchor="t">
            <a:normAutofit/>
          </a:bodyPr>
          <a:lstStyle/>
          <a:p>
            <a:pPr algn="l" indent="0" marL="0">
              <a:buNone/>
            </a:pPr>
            <a:r>
              <a:rPr lang="en-US" sz="1050" dirty="0">
                <a:solidFill>
                  <a:srgbClr val="69736A"/>
                </a:solidFill>
                <a:latin typeface="Inter" pitchFamily="34" charset="0"/>
                <a:ea typeface="Inter" pitchFamily="34" charset="-122"/>
                <a:cs typeface="Inter" pitchFamily="34" charset="-120"/>
              </a:rPr>
              <a:t>A ranked name needs a traceable reason to investigate.</a:t>
            </a:r>
            <a:endParaRPr lang="en-US" sz="1050" dirty="0"/>
          </a:p>
        </p:txBody>
      </p:sp>
      <p:sp>
        <p:nvSpPr>
          <p:cNvPr id="49" name="Text 47"/>
          <p:cNvSpPr txBox="1"/>
          <p:nvPr/>
        </p:nvSpPr>
        <p:spPr>
          <a:xfrm>
            <a:off x="621792" y="5852160"/>
            <a:ext cx="10789920" cy="274320"/>
          </a:xfrm>
          <a:prstGeom prst="rect">
            <a:avLst/>
          </a:prstGeom>
          <a:noFill/>
          <a:ln/>
        </p:spPr>
        <p:txBody>
          <a:bodyPr wrap="square" lIns="0" tIns="0" rIns="0" bIns="0" rtlCol="0" anchor="ctr">
            <a:normAutofit/>
          </a:bodyPr>
          <a:lstStyle/>
          <a:p>
            <a:pPr algn="l" indent="0" marL="0">
              <a:buNone/>
            </a:pPr>
            <a:r>
              <a:rPr lang="en-US" sz="1600" b="1" dirty="0">
                <a:solidFill>
                  <a:srgbClr val="2F6B4D"/>
                </a:solidFill>
                <a:latin typeface="Inter" pitchFamily="34" charset="0"/>
                <a:ea typeface="Inter" pitchFamily="34" charset="-122"/>
                <a:cs typeface="Inter" pitchFamily="34" charset="-120"/>
              </a:rPr>
              <a:t>Riskora starts with the part we can test: the next disclosed position.</a:t>
            </a:r>
            <a:endParaRPr lang="en-US" sz="1600" dirty="0"/>
          </a:p>
        </p:txBody>
      </p:sp>
      <p:sp>
        <p:nvSpPr>
          <p:cNvPr id="25" name="Slide Number Placeholder 0"/>
          <p:cNvSpPr>
            <a:spLocks noGrp="1"/>
          </p:cNvSpPr>
          <p:nvPr>
            <p:ph type="sldNum" sz="quarter" idx="4294967295"/>
          </p:nvPr>
        </p:nvSpPr>
        <p:spPr>
          <a:xfrm>
            <a:off x="11109960" y="651967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788078"/>
                </a:solidFill>
                <a:latin typeface="Inter"/>
                <a:ea typeface="Inter"/>
                <a:cs typeface="Inter"/>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20F"/>
        </a:solidFill>
      </p:bgPr>
    </p:bg>
    <p:spTree>
      <p:nvGrpSpPr>
        <p:cNvPr id="1" name=""/>
        <p:cNvGrpSpPr/>
        <p:nvPr/>
      </p:nvGrpSpPr>
      <p:grpSpPr>
        <a:xfrm>
          <a:off x="0" y="0"/>
          <a:ext cx="0" cy="0"/>
          <a:chOff x="0" y="0"/>
          <a:chExt cx="0" cy="0"/>
        </a:xfrm>
      </p:grpSpPr>
      <p:sp>
        <p:nvSpPr>
          <p:cNvPr id="2" name="Shape 0"/>
          <p:cNvSpPr/>
          <p:nvPr/>
        </p:nvSpPr>
        <p:spPr>
          <a:xfrm>
            <a:off x="585216" y="274320"/>
            <a:ext cx="68580" cy="68580"/>
          </a:xfrm>
          <a:prstGeom prst="rect">
            <a:avLst/>
          </a:prstGeom>
          <a:solidFill>
            <a:srgbClr val="D4FF3F"/>
          </a:solidFill>
          <a:ln w="1270">
            <a:solidFill>
              <a:srgbClr val="D4FF3F">
                <a:alpha val="0"/>
              </a:srgbClr>
            </a:solidFill>
            <a:prstDash val="solid"/>
          </a:ln>
        </p:spPr>
      </p:sp>
      <p:sp>
        <p:nvSpPr>
          <p:cNvPr id="3" name="Shape 1"/>
          <p:cNvSpPr/>
          <p:nvPr/>
        </p:nvSpPr>
        <p:spPr>
          <a:xfrm>
            <a:off x="704088" y="274320"/>
            <a:ext cx="68580" cy="68580"/>
          </a:xfrm>
          <a:prstGeom prst="rect">
            <a:avLst/>
          </a:prstGeom>
          <a:solidFill>
            <a:srgbClr val="D4FF3F"/>
          </a:solidFill>
          <a:ln w="1270">
            <a:solidFill>
              <a:srgbClr val="D4FF3F">
                <a:alpha val="0"/>
              </a:srgbClr>
            </a:solidFill>
            <a:prstDash val="solid"/>
          </a:ln>
        </p:spPr>
      </p:sp>
      <p:sp>
        <p:nvSpPr>
          <p:cNvPr id="4" name="Shape 2"/>
          <p:cNvSpPr/>
          <p:nvPr/>
        </p:nvSpPr>
        <p:spPr>
          <a:xfrm>
            <a:off x="822960" y="274320"/>
            <a:ext cx="68580" cy="68580"/>
          </a:xfrm>
          <a:prstGeom prst="rect">
            <a:avLst/>
          </a:prstGeom>
          <a:solidFill>
            <a:srgbClr val="CBB3E8"/>
          </a:solidFill>
          <a:ln w="1270">
            <a:solidFill>
              <a:srgbClr val="CBB3E8">
                <a:alpha val="0"/>
              </a:srgbClr>
            </a:solidFill>
            <a:prstDash val="solid"/>
          </a:ln>
        </p:spPr>
      </p:sp>
      <p:sp>
        <p:nvSpPr>
          <p:cNvPr id="5" name="Shape 3"/>
          <p:cNvSpPr/>
          <p:nvPr/>
        </p:nvSpPr>
        <p:spPr>
          <a:xfrm>
            <a:off x="585216" y="393192"/>
            <a:ext cx="68580" cy="68580"/>
          </a:xfrm>
          <a:prstGeom prst="rect">
            <a:avLst/>
          </a:prstGeom>
          <a:solidFill>
            <a:srgbClr val="F4F5EF"/>
          </a:solidFill>
          <a:ln w="1270">
            <a:solidFill>
              <a:srgbClr val="F4F5EF">
                <a:alpha val="0"/>
              </a:srgbClr>
            </a:solidFill>
            <a:prstDash val="solid"/>
          </a:ln>
        </p:spPr>
      </p:sp>
      <p:sp>
        <p:nvSpPr>
          <p:cNvPr id="6" name="Shape 4"/>
          <p:cNvSpPr/>
          <p:nvPr/>
        </p:nvSpPr>
        <p:spPr>
          <a:xfrm>
            <a:off x="704088" y="393192"/>
            <a:ext cx="68580" cy="68580"/>
          </a:xfrm>
          <a:prstGeom prst="rect">
            <a:avLst/>
          </a:prstGeom>
          <a:solidFill>
            <a:srgbClr val="D4FF3F"/>
          </a:solidFill>
          <a:ln w="1270">
            <a:solidFill>
              <a:srgbClr val="D4FF3F">
                <a:alpha val="0"/>
              </a:srgbClr>
            </a:solidFill>
            <a:prstDash val="solid"/>
          </a:ln>
        </p:spPr>
      </p:sp>
      <p:sp>
        <p:nvSpPr>
          <p:cNvPr id="7" name="Shape 5"/>
          <p:cNvSpPr/>
          <p:nvPr/>
        </p:nvSpPr>
        <p:spPr>
          <a:xfrm>
            <a:off x="822960" y="393192"/>
            <a:ext cx="68580" cy="68580"/>
          </a:xfrm>
          <a:prstGeom prst="rect">
            <a:avLst/>
          </a:prstGeom>
          <a:solidFill>
            <a:srgbClr val="F4F5EF"/>
          </a:solidFill>
          <a:ln w="1270">
            <a:solidFill>
              <a:srgbClr val="F4F5EF">
                <a:alpha val="0"/>
              </a:srgbClr>
            </a:solidFill>
            <a:prstDash val="solid"/>
          </a:ln>
        </p:spPr>
      </p:sp>
      <p:sp>
        <p:nvSpPr>
          <p:cNvPr id="8" name="Text 6"/>
          <p:cNvSpPr txBox="1"/>
          <p:nvPr/>
        </p:nvSpPr>
        <p:spPr>
          <a:xfrm>
            <a:off x="996696" y="251460"/>
            <a:ext cx="1234440" cy="237744"/>
          </a:xfrm>
          <a:prstGeom prst="rect">
            <a:avLst/>
          </a:prstGeom>
          <a:noFill/>
          <a:ln/>
        </p:spPr>
        <p:txBody>
          <a:bodyPr wrap="square" lIns="0" tIns="0" rIns="0" bIns="0" rtlCol="0" anchor="ctr">
            <a:normAutofit/>
          </a:bodyPr>
          <a:lstStyle/>
          <a:p>
            <a:pPr algn="l" indent="0" marL="0">
              <a:buNone/>
            </a:pPr>
            <a:r>
              <a:rPr lang="en-US" sz="1300" b="1" spc="110" kern="0" dirty="0">
                <a:solidFill>
                  <a:srgbClr val="F4F5EF"/>
                </a:solidFill>
                <a:latin typeface="Inter" pitchFamily="34" charset="0"/>
                <a:ea typeface="Inter" pitchFamily="34" charset="-122"/>
                <a:cs typeface="Inter" pitchFamily="34" charset="-120"/>
              </a:rPr>
              <a:t>RISKORA</a:t>
            </a:r>
            <a:endParaRPr lang="en-US" sz="1300" dirty="0"/>
          </a:p>
        </p:txBody>
      </p:sp>
      <p:sp>
        <p:nvSpPr>
          <p:cNvPr id="9" name="Text 7"/>
          <p:cNvSpPr txBox="1"/>
          <p:nvPr/>
        </p:nvSpPr>
        <p:spPr>
          <a:xfrm>
            <a:off x="8961120" y="310896"/>
            <a:ext cx="2606040" cy="164592"/>
          </a:xfrm>
          <a:prstGeom prst="rect">
            <a:avLst/>
          </a:prstGeom>
          <a:noFill/>
          <a:ln/>
        </p:spPr>
        <p:txBody>
          <a:bodyPr wrap="square" lIns="0" tIns="0" rIns="0" bIns="0" rtlCol="0" anchor="ctr">
            <a:normAutofit/>
          </a:bodyPr>
          <a:lstStyle/>
          <a:p>
            <a:pPr algn="r" indent="0" marL="0">
              <a:buNone/>
            </a:pPr>
            <a:r>
              <a:rPr lang="en-US" sz="870" b="1" spc="130" kern="0" dirty="0">
                <a:solidFill>
                  <a:srgbClr val="849187"/>
                </a:solidFill>
                <a:latin typeface="Inter" pitchFamily="34" charset="0"/>
                <a:ea typeface="Inter" pitchFamily="34" charset="-122"/>
                <a:cs typeface="Inter" pitchFamily="34" charset="-120"/>
              </a:rPr>
              <a:t>02 / PRODUCT</a:t>
            </a:r>
            <a:endParaRPr lang="en-US" sz="870" dirty="0"/>
          </a:p>
        </p:txBody>
      </p:sp>
      <p:sp>
        <p:nvSpPr>
          <p:cNvPr id="10" name="Shape 8"/>
          <p:cNvSpPr/>
          <p:nvPr/>
        </p:nvSpPr>
        <p:spPr>
          <a:xfrm>
            <a:off x="576072" y="658368"/>
            <a:ext cx="11036808" cy="0"/>
          </a:xfrm>
          <a:prstGeom prst="line">
            <a:avLst/>
          </a:prstGeom>
          <a:noFill/>
          <a:ln w="10160">
            <a:solidFill>
              <a:srgbClr val="2B362D"/>
            </a:solidFill>
            <a:prstDash val="solid"/>
            <a:headEnd type="none"/>
            <a:tailEnd type="none"/>
          </a:ln>
        </p:spPr>
      </p:sp>
      <p:sp>
        <p:nvSpPr>
          <p:cNvPr id="11" name="Text 9"/>
          <p:cNvSpPr txBox="1"/>
          <p:nvPr/>
        </p:nvSpPr>
        <p:spPr>
          <a:xfrm>
            <a:off x="603504" y="896112"/>
            <a:ext cx="5760720" cy="1097280"/>
          </a:xfrm>
          <a:prstGeom prst="rect">
            <a:avLst/>
          </a:prstGeom>
          <a:noFill/>
          <a:ln/>
        </p:spPr>
        <p:txBody>
          <a:bodyPr wrap="square" lIns="0" tIns="0" rIns="0" bIns="0" rtlCol="0" anchor="t">
            <a:normAutofit/>
          </a:bodyPr>
          <a:lstStyle/>
          <a:p>
            <a:pPr algn="l" indent="0" marL="0">
              <a:buNone/>
            </a:pPr>
            <a:r>
              <a:rPr lang="en-US" sz="3150" b="1" dirty="0">
                <a:solidFill>
                  <a:srgbClr val="F4F5EF"/>
                </a:solidFill>
                <a:latin typeface="Inter Display" pitchFamily="34" charset="0"/>
                <a:ea typeface="Inter Display" pitchFamily="34" charset="-122"/>
                <a:cs typeface="Inter Display" pitchFamily="34" charset="-120"/>
              </a:rPr>
              <a:t>From public disclosures to a</a:t>
            </a:r>
            <a:endParaRPr lang="en-US" sz="3150" dirty="0"/>
          </a:p>
          <a:p>
            <a:pPr algn="l" indent="0" marL="0">
              <a:buNone/>
            </a:pPr>
            <a:r>
              <a:rPr lang="en-US" sz="3150" b="1" dirty="0">
                <a:solidFill>
                  <a:srgbClr val="F4F5EF"/>
                </a:solidFill>
                <a:latin typeface="Inter Display" pitchFamily="34" charset="0"/>
                <a:ea typeface="Inter Display" pitchFamily="34" charset="-122"/>
                <a:cs typeface="Inter Display" pitchFamily="34" charset="-120"/>
              </a:rPr>
              <a:t>reviewable shortlist.</a:t>
            </a:r>
            <a:endParaRPr lang="en-US" sz="3150" dirty="0"/>
          </a:p>
        </p:txBody>
      </p:sp>
      <p:sp>
        <p:nvSpPr>
          <p:cNvPr id="12" name="Text 10"/>
          <p:cNvSpPr txBox="1"/>
          <p:nvPr/>
        </p:nvSpPr>
        <p:spPr>
          <a:xfrm>
            <a:off x="630936" y="2103120"/>
            <a:ext cx="5212080" cy="292608"/>
          </a:xfrm>
          <a:prstGeom prst="rect">
            <a:avLst/>
          </a:prstGeom>
          <a:noFill/>
          <a:ln/>
        </p:spPr>
        <p:txBody>
          <a:bodyPr wrap="square" lIns="0" tIns="0" rIns="0" bIns="0" rtlCol="0" anchor="ctr">
            <a:normAutofit/>
          </a:bodyPr>
          <a:lstStyle/>
          <a:p>
            <a:pPr algn="l" indent="0" marL="0">
              <a:buNone/>
            </a:pPr>
            <a:r>
              <a:rPr lang="en-US" sz="1300" dirty="0">
                <a:solidFill>
                  <a:srgbClr val="AEB8AF"/>
                </a:solidFill>
                <a:latin typeface="Inter" pitchFamily="34" charset="0"/>
                <a:ea typeface="Inter" pitchFamily="34" charset="-122"/>
                <a:cs typeface="Inter" pitchFamily="34" charset="-120"/>
              </a:rPr>
              <a:t>One disciplined research loop, from import to evidence.</a:t>
            </a:r>
            <a:endParaRPr lang="en-US" sz="1300" dirty="0"/>
          </a:p>
        </p:txBody>
      </p:sp>
      <p:sp>
        <p:nvSpPr>
          <p:cNvPr id="13" name="Shape 11"/>
          <p:cNvSpPr/>
          <p:nvPr/>
        </p:nvSpPr>
        <p:spPr>
          <a:xfrm>
            <a:off x="667512" y="2788920"/>
            <a:ext cx="292608" cy="292608"/>
          </a:xfrm>
          <a:prstGeom prst="ellipse">
            <a:avLst/>
          </a:prstGeom>
          <a:solidFill>
            <a:srgbClr val="314236"/>
          </a:solidFill>
          <a:ln w="1270">
            <a:solidFill>
              <a:srgbClr val="314236">
                <a:alpha val="0"/>
              </a:srgbClr>
            </a:solidFill>
            <a:prstDash val="solid"/>
          </a:ln>
        </p:spPr>
      </p:sp>
      <p:sp>
        <p:nvSpPr>
          <p:cNvPr id="14" name="Text 12"/>
          <p:cNvSpPr txBox="1"/>
          <p:nvPr/>
        </p:nvSpPr>
        <p:spPr>
          <a:xfrm>
            <a:off x="667512" y="2788920"/>
            <a:ext cx="292608" cy="274320"/>
          </a:xfrm>
          <a:prstGeom prst="rect">
            <a:avLst/>
          </a:prstGeom>
          <a:noFill/>
          <a:ln/>
        </p:spPr>
        <p:txBody>
          <a:bodyPr wrap="square" lIns="0" tIns="0" rIns="0" bIns="0" rtlCol="0" anchor="ctr">
            <a:normAutofit/>
          </a:bodyPr>
          <a:lstStyle/>
          <a:p>
            <a:pPr algn="ctr" indent="0" marL="0">
              <a:buNone/>
            </a:pPr>
            <a:r>
              <a:rPr lang="en-US" sz="840" b="1" dirty="0">
                <a:solidFill>
                  <a:srgbClr val="C7E5D1"/>
                </a:solidFill>
                <a:latin typeface="Inter" pitchFamily="34" charset="0"/>
                <a:ea typeface="Inter" pitchFamily="34" charset="-122"/>
                <a:cs typeface="Inter" pitchFamily="34" charset="-120"/>
              </a:rPr>
              <a:t>01</a:t>
            </a:r>
            <a:endParaRPr lang="en-US" sz="840" dirty="0"/>
          </a:p>
        </p:txBody>
      </p:sp>
      <p:sp>
        <p:nvSpPr>
          <p:cNvPr id="15" name="Text 13"/>
          <p:cNvSpPr txBox="1"/>
          <p:nvPr/>
        </p:nvSpPr>
        <p:spPr>
          <a:xfrm>
            <a:off x="1115568" y="2734056"/>
            <a:ext cx="1115568" cy="201168"/>
          </a:xfrm>
          <a:prstGeom prst="rect">
            <a:avLst/>
          </a:prstGeom>
          <a:noFill/>
          <a:ln/>
        </p:spPr>
        <p:txBody>
          <a:bodyPr wrap="square" lIns="0" tIns="0" rIns="0" bIns="0" rtlCol="0" anchor="ctr">
            <a:normAutofit/>
          </a:bodyPr>
          <a:lstStyle/>
          <a:p>
            <a:pPr algn="l" indent="0" marL="0">
              <a:buNone/>
            </a:pPr>
            <a:r>
              <a:rPr lang="en-US" sz="900" b="1" spc="100" kern="0" dirty="0">
                <a:solidFill>
                  <a:srgbClr val="B7C4B9"/>
                </a:solidFill>
                <a:latin typeface="Inter" pitchFamily="34" charset="0"/>
                <a:ea typeface="Inter" pitchFamily="34" charset="-122"/>
                <a:cs typeface="Inter" pitchFamily="34" charset="-120"/>
              </a:rPr>
              <a:t>LOAD</a:t>
            </a:r>
            <a:endParaRPr lang="en-US" sz="900" dirty="0"/>
          </a:p>
        </p:txBody>
      </p:sp>
      <p:sp>
        <p:nvSpPr>
          <p:cNvPr id="16" name="Text 14"/>
          <p:cNvSpPr txBox="1"/>
          <p:nvPr/>
        </p:nvSpPr>
        <p:spPr>
          <a:xfrm>
            <a:off x="2148840" y="2715768"/>
            <a:ext cx="3246120" cy="384048"/>
          </a:xfrm>
          <a:prstGeom prst="rect">
            <a:avLst/>
          </a:prstGeom>
          <a:noFill/>
          <a:ln/>
        </p:spPr>
        <p:txBody>
          <a:bodyPr wrap="square" lIns="0" tIns="0" rIns="0" bIns="0" rtlCol="0" anchor="t">
            <a:normAutofit/>
          </a:bodyPr>
          <a:lstStyle/>
          <a:p>
            <a:pPr algn="l" indent="0" marL="0">
              <a:buNone/>
            </a:pPr>
            <a:r>
              <a:rPr lang="en-US" sz="1210" dirty="0">
                <a:solidFill>
                  <a:srgbClr val="F4F5EF"/>
                </a:solidFill>
                <a:latin typeface="Inter" pitchFamily="34" charset="0"/>
                <a:ea typeface="Inter" pitchFamily="34" charset="-122"/>
                <a:cs typeface="Inter" pitchFamily="34" charset="-120"/>
              </a:rPr>
              <a:t>Import attributed holdings snapshots</a:t>
            </a:r>
            <a:endParaRPr lang="en-US" sz="1210" dirty="0"/>
          </a:p>
        </p:txBody>
      </p:sp>
      <p:sp>
        <p:nvSpPr>
          <p:cNvPr id="17" name="Shape 15"/>
          <p:cNvSpPr/>
          <p:nvPr/>
        </p:nvSpPr>
        <p:spPr>
          <a:xfrm>
            <a:off x="813816" y="3081528"/>
            <a:ext cx="0" cy="320040"/>
          </a:xfrm>
          <a:prstGeom prst="line">
            <a:avLst/>
          </a:prstGeom>
          <a:noFill/>
          <a:ln w="12700">
            <a:solidFill>
              <a:srgbClr val="3B4C3F"/>
            </a:solidFill>
            <a:prstDash val="solid"/>
            <a:headEnd type="none"/>
            <a:tailEnd type="none"/>
          </a:ln>
        </p:spPr>
      </p:sp>
      <p:sp>
        <p:nvSpPr>
          <p:cNvPr id="18" name="Shape 16"/>
          <p:cNvSpPr/>
          <p:nvPr/>
        </p:nvSpPr>
        <p:spPr>
          <a:xfrm>
            <a:off x="667512" y="3502152"/>
            <a:ext cx="292608" cy="292608"/>
          </a:xfrm>
          <a:prstGeom prst="ellipse">
            <a:avLst/>
          </a:prstGeom>
          <a:solidFill>
            <a:srgbClr val="314236"/>
          </a:solidFill>
          <a:ln w="1270">
            <a:solidFill>
              <a:srgbClr val="314236">
                <a:alpha val="0"/>
              </a:srgbClr>
            </a:solidFill>
            <a:prstDash val="solid"/>
          </a:ln>
        </p:spPr>
      </p:sp>
      <p:sp>
        <p:nvSpPr>
          <p:cNvPr id="19" name="Text 17"/>
          <p:cNvSpPr txBox="1"/>
          <p:nvPr/>
        </p:nvSpPr>
        <p:spPr>
          <a:xfrm>
            <a:off x="667512" y="3502152"/>
            <a:ext cx="292608" cy="274320"/>
          </a:xfrm>
          <a:prstGeom prst="rect">
            <a:avLst/>
          </a:prstGeom>
          <a:noFill/>
          <a:ln/>
        </p:spPr>
        <p:txBody>
          <a:bodyPr wrap="square" lIns="0" tIns="0" rIns="0" bIns="0" rtlCol="0" anchor="ctr">
            <a:normAutofit/>
          </a:bodyPr>
          <a:lstStyle/>
          <a:p>
            <a:pPr algn="ctr" indent="0" marL="0">
              <a:buNone/>
            </a:pPr>
            <a:r>
              <a:rPr lang="en-US" sz="840" b="1" dirty="0">
                <a:solidFill>
                  <a:srgbClr val="C7E5D1"/>
                </a:solidFill>
                <a:latin typeface="Inter" pitchFamily="34" charset="0"/>
                <a:ea typeface="Inter" pitchFamily="34" charset="-122"/>
                <a:cs typeface="Inter" pitchFamily="34" charset="-120"/>
              </a:rPr>
              <a:t>02</a:t>
            </a:r>
            <a:endParaRPr lang="en-US" sz="840" dirty="0"/>
          </a:p>
        </p:txBody>
      </p:sp>
      <p:sp>
        <p:nvSpPr>
          <p:cNvPr id="20" name="Text 18"/>
          <p:cNvSpPr txBox="1"/>
          <p:nvPr/>
        </p:nvSpPr>
        <p:spPr>
          <a:xfrm>
            <a:off x="1115568" y="3447288"/>
            <a:ext cx="1115568" cy="201168"/>
          </a:xfrm>
          <a:prstGeom prst="rect">
            <a:avLst/>
          </a:prstGeom>
          <a:noFill/>
          <a:ln/>
        </p:spPr>
        <p:txBody>
          <a:bodyPr wrap="square" lIns="0" tIns="0" rIns="0" bIns="0" rtlCol="0" anchor="ctr">
            <a:normAutofit/>
          </a:bodyPr>
          <a:lstStyle/>
          <a:p>
            <a:pPr algn="l" indent="0" marL="0">
              <a:buNone/>
            </a:pPr>
            <a:r>
              <a:rPr lang="en-US" sz="900" b="1" spc="100" kern="0" dirty="0">
                <a:solidFill>
                  <a:srgbClr val="B7C4B9"/>
                </a:solidFill>
                <a:latin typeface="Inter" pitchFamily="34" charset="0"/>
                <a:ea typeface="Inter" pitchFamily="34" charset="-122"/>
                <a:cs typeface="Inter" pitchFamily="34" charset="-120"/>
              </a:rPr>
              <a:t>VALIDATE</a:t>
            </a:r>
            <a:endParaRPr lang="en-US" sz="900" dirty="0"/>
          </a:p>
        </p:txBody>
      </p:sp>
      <p:sp>
        <p:nvSpPr>
          <p:cNvPr id="21" name="Text 19"/>
          <p:cNvSpPr txBox="1"/>
          <p:nvPr/>
        </p:nvSpPr>
        <p:spPr>
          <a:xfrm>
            <a:off x="2148840" y="3429000"/>
            <a:ext cx="3246120" cy="384048"/>
          </a:xfrm>
          <a:prstGeom prst="rect">
            <a:avLst/>
          </a:prstGeom>
          <a:noFill/>
          <a:ln/>
        </p:spPr>
        <p:txBody>
          <a:bodyPr wrap="square" lIns="0" tIns="0" rIns="0" bIns="0" rtlCol="0" anchor="t">
            <a:normAutofit/>
          </a:bodyPr>
          <a:lstStyle/>
          <a:p>
            <a:pPr algn="l" indent="0" marL="0">
              <a:buNone/>
            </a:pPr>
            <a:r>
              <a:rPr lang="en-US" sz="1210" dirty="0">
                <a:solidFill>
                  <a:srgbClr val="F4F5EF"/>
                </a:solidFill>
                <a:latin typeface="Inter" pitchFamily="34" charset="0"/>
                <a:ea typeface="Inter" pitchFamily="34" charset="-122"/>
                <a:cs typeface="Inter" pitchFamily="34" charset="-120"/>
              </a:rPr>
              <a:t>Check dates, completeness and IDs</a:t>
            </a:r>
            <a:endParaRPr lang="en-US" sz="1210" dirty="0"/>
          </a:p>
        </p:txBody>
      </p:sp>
      <p:sp>
        <p:nvSpPr>
          <p:cNvPr id="22" name="Shape 20"/>
          <p:cNvSpPr/>
          <p:nvPr/>
        </p:nvSpPr>
        <p:spPr>
          <a:xfrm>
            <a:off x="813816" y="3794760"/>
            <a:ext cx="0" cy="320040"/>
          </a:xfrm>
          <a:prstGeom prst="line">
            <a:avLst/>
          </a:prstGeom>
          <a:noFill/>
          <a:ln w="12700">
            <a:solidFill>
              <a:srgbClr val="3B4C3F"/>
            </a:solidFill>
            <a:prstDash val="solid"/>
            <a:headEnd type="none"/>
            <a:tailEnd type="none"/>
          </a:ln>
        </p:spPr>
      </p:sp>
      <p:sp>
        <p:nvSpPr>
          <p:cNvPr id="23" name="Shape 21"/>
          <p:cNvSpPr/>
          <p:nvPr/>
        </p:nvSpPr>
        <p:spPr>
          <a:xfrm>
            <a:off x="667512" y="4215384"/>
            <a:ext cx="292608" cy="292608"/>
          </a:xfrm>
          <a:prstGeom prst="ellipse">
            <a:avLst/>
          </a:prstGeom>
          <a:solidFill>
            <a:srgbClr val="314236"/>
          </a:solidFill>
          <a:ln w="1270">
            <a:solidFill>
              <a:srgbClr val="314236">
                <a:alpha val="0"/>
              </a:srgbClr>
            </a:solidFill>
            <a:prstDash val="solid"/>
          </a:ln>
        </p:spPr>
      </p:sp>
      <p:sp>
        <p:nvSpPr>
          <p:cNvPr id="24" name="Text 22"/>
          <p:cNvSpPr txBox="1"/>
          <p:nvPr/>
        </p:nvSpPr>
        <p:spPr>
          <a:xfrm>
            <a:off x="667512" y="4215384"/>
            <a:ext cx="292608" cy="274320"/>
          </a:xfrm>
          <a:prstGeom prst="rect">
            <a:avLst/>
          </a:prstGeom>
          <a:noFill/>
          <a:ln/>
        </p:spPr>
        <p:txBody>
          <a:bodyPr wrap="square" lIns="0" tIns="0" rIns="0" bIns="0" rtlCol="0" anchor="ctr">
            <a:normAutofit/>
          </a:bodyPr>
          <a:lstStyle/>
          <a:p>
            <a:pPr algn="ctr" indent="0" marL="0">
              <a:buNone/>
            </a:pPr>
            <a:r>
              <a:rPr lang="en-US" sz="840" b="1" dirty="0">
                <a:solidFill>
                  <a:srgbClr val="C7E5D1"/>
                </a:solidFill>
                <a:latin typeface="Inter" pitchFamily="34" charset="0"/>
                <a:ea typeface="Inter" pitchFamily="34" charset="-122"/>
                <a:cs typeface="Inter" pitchFamily="34" charset="-120"/>
              </a:rPr>
              <a:t>03</a:t>
            </a:r>
            <a:endParaRPr lang="en-US" sz="840" dirty="0"/>
          </a:p>
        </p:txBody>
      </p:sp>
      <p:sp>
        <p:nvSpPr>
          <p:cNvPr id="25" name="Text 23"/>
          <p:cNvSpPr txBox="1"/>
          <p:nvPr/>
        </p:nvSpPr>
        <p:spPr>
          <a:xfrm>
            <a:off x="1115568" y="4160520"/>
            <a:ext cx="1115568" cy="201168"/>
          </a:xfrm>
          <a:prstGeom prst="rect">
            <a:avLst/>
          </a:prstGeom>
          <a:noFill/>
          <a:ln/>
        </p:spPr>
        <p:txBody>
          <a:bodyPr wrap="square" lIns="0" tIns="0" rIns="0" bIns="0" rtlCol="0" anchor="ctr">
            <a:normAutofit/>
          </a:bodyPr>
          <a:lstStyle/>
          <a:p>
            <a:pPr algn="l" indent="0" marL="0">
              <a:buNone/>
            </a:pPr>
            <a:r>
              <a:rPr lang="en-US" sz="900" b="1" spc="100" kern="0" dirty="0">
                <a:solidFill>
                  <a:srgbClr val="B7C4B9"/>
                </a:solidFill>
                <a:latin typeface="Inter" pitchFamily="34" charset="0"/>
                <a:ea typeface="Inter" pitchFamily="34" charset="-122"/>
                <a:cs typeface="Inter" pitchFamily="34" charset="-120"/>
              </a:rPr>
              <a:t>EVALUATE</a:t>
            </a:r>
            <a:endParaRPr lang="en-US" sz="900" dirty="0"/>
          </a:p>
        </p:txBody>
      </p:sp>
      <p:sp>
        <p:nvSpPr>
          <p:cNvPr id="26" name="Text 24"/>
          <p:cNvSpPr txBox="1"/>
          <p:nvPr/>
        </p:nvSpPr>
        <p:spPr>
          <a:xfrm>
            <a:off x="2148840" y="4142232"/>
            <a:ext cx="3246120" cy="384048"/>
          </a:xfrm>
          <a:prstGeom prst="rect">
            <a:avLst/>
          </a:prstGeom>
          <a:noFill/>
          <a:ln/>
        </p:spPr>
        <p:txBody>
          <a:bodyPr wrap="square" lIns="0" tIns="0" rIns="0" bIns="0" rtlCol="0" anchor="t">
            <a:normAutofit/>
          </a:bodyPr>
          <a:lstStyle/>
          <a:p>
            <a:pPr algn="l" indent="0" marL="0">
              <a:buNone/>
            </a:pPr>
            <a:r>
              <a:rPr lang="en-US" sz="1210" dirty="0">
                <a:solidFill>
                  <a:srgbClr val="F4F5EF"/>
                </a:solidFill>
                <a:latin typeface="Inter" pitchFamily="34" charset="0"/>
                <a:ea typeface="Inter" pitchFamily="34" charset="-122"/>
                <a:cs typeface="Inter" pitchFamily="34" charset="-120"/>
              </a:rPr>
              <a:t>Compare against simple baselines</a:t>
            </a:r>
            <a:endParaRPr lang="en-US" sz="1210" dirty="0"/>
          </a:p>
        </p:txBody>
      </p:sp>
      <p:sp>
        <p:nvSpPr>
          <p:cNvPr id="27" name="Shape 25"/>
          <p:cNvSpPr/>
          <p:nvPr/>
        </p:nvSpPr>
        <p:spPr>
          <a:xfrm>
            <a:off x="813816" y="4507992"/>
            <a:ext cx="0" cy="320040"/>
          </a:xfrm>
          <a:prstGeom prst="line">
            <a:avLst/>
          </a:prstGeom>
          <a:noFill/>
          <a:ln w="12700">
            <a:solidFill>
              <a:srgbClr val="3B4C3F"/>
            </a:solidFill>
            <a:prstDash val="solid"/>
            <a:headEnd type="none"/>
            <a:tailEnd type="none"/>
          </a:ln>
        </p:spPr>
      </p:sp>
      <p:sp>
        <p:nvSpPr>
          <p:cNvPr id="28" name="Shape 26"/>
          <p:cNvSpPr/>
          <p:nvPr/>
        </p:nvSpPr>
        <p:spPr>
          <a:xfrm>
            <a:off x="667512" y="4928616"/>
            <a:ext cx="292608" cy="292608"/>
          </a:xfrm>
          <a:prstGeom prst="ellipse">
            <a:avLst/>
          </a:prstGeom>
          <a:solidFill>
            <a:srgbClr val="D4FF3F"/>
          </a:solidFill>
          <a:ln w="1270">
            <a:solidFill>
              <a:srgbClr val="D4FF3F">
                <a:alpha val="0"/>
              </a:srgbClr>
            </a:solidFill>
            <a:prstDash val="solid"/>
          </a:ln>
        </p:spPr>
      </p:sp>
      <p:sp>
        <p:nvSpPr>
          <p:cNvPr id="29" name="Text 27"/>
          <p:cNvSpPr txBox="1"/>
          <p:nvPr/>
        </p:nvSpPr>
        <p:spPr>
          <a:xfrm>
            <a:off x="667512" y="4928616"/>
            <a:ext cx="292608" cy="274320"/>
          </a:xfrm>
          <a:prstGeom prst="rect">
            <a:avLst/>
          </a:prstGeom>
          <a:noFill/>
          <a:ln/>
        </p:spPr>
        <p:txBody>
          <a:bodyPr wrap="square" lIns="0" tIns="0" rIns="0" bIns="0" rtlCol="0" anchor="ctr">
            <a:normAutofit/>
          </a:bodyPr>
          <a:lstStyle/>
          <a:p>
            <a:pPr algn="ctr" indent="0" marL="0">
              <a:buNone/>
            </a:pPr>
            <a:r>
              <a:rPr lang="en-US" sz="840" b="1" dirty="0">
                <a:solidFill>
                  <a:srgbClr val="0D120F"/>
                </a:solidFill>
                <a:latin typeface="Inter" pitchFamily="34" charset="0"/>
                <a:ea typeface="Inter" pitchFamily="34" charset="-122"/>
                <a:cs typeface="Inter" pitchFamily="34" charset="-120"/>
              </a:rPr>
              <a:t>04</a:t>
            </a:r>
            <a:endParaRPr lang="en-US" sz="840" dirty="0"/>
          </a:p>
        </p:txBody>
      </p:sp>
      <p:sp>
        <p:nvSpPr>
          <p:cNvPr id="30" name="Text 28"/>
          <p:cNvSpPr txBox="1"/>
          <p:nvPr/>
        </p:nvSpPr>
        <p:spPr>
          <a:xfrm>
            <a:off x="1115568" y="4873752"/>
            <a:ext cx="1115568" cy="201168"/>
          </a:xfrm>
          <a:prstGeom prst="rect">
            <a:avLst/>
          </a:prstGeom>
          <a:noFill/>
          <a:ln/>
        </p:spPr>
        <p:txBody>
          <a:bodyPr wrap="square" lIns="0" tIns="0" rIns="0" bIns="0" rtlCol="0" anchor="ctr">
            <a:normAutofit/>
          </a:bodyPr>
          <a:lstStyle/>
          <a:p>
            <a:pPr algn="l" indent="0" marL="0">
              <a:buNone/>
            </a:pPr>
            <a:r>
              <a:rPr lang="en-US" sz="900" b="1" spc="100" kern="0" dirty="0">
                <a:solidFill>
                  <a:srgbClr val="D4FF3F"/>
                </a:solidFill>
                <a:latin typeface="Inter" pitchFamily="34" charset="0"/>
                <a:ea typeface="Inter" pitchFamily="34" charset="-122"/>
                <a:cs typeface="Inter" pitchFamily="34" charset="-120"/>
              </a:rPr>
              <a:t>REVIEW</a:t>
            </a:r>
            <a:endParaRPr lang="en-US" sz="900" dirty="0"/>
          </a:p>
        </p:txBody>
      </p:sp>
      <p:sp>
        <p:nvSpPr>
          <p:cNvPr id="31" name="Text 29"/>
          <p:cNvSpPr txBox="1"/>
          <p:nvPr/>
        </p:nvSpPr>
        <p:spPr>
          <a:xfrm>
            <a:off x="2148840" y="4855464"/>
            <a:ext cx="3246120" cy="384048"/>
          </a:xfrm>
          <a:prstGeom prst="rect">
            <a:avLst/>
          </a:prstGeom>
          <a:noFill/>
          <a:ln/>
        </p:spPr>
        <p:txBody>
          <a:bodyPr wrap="square" lIns="0" tIns="0" rIns="0" bIns="0" rtlCol="0" anchor="t">
            <a:normAutofit/>
          </a:bodyPr>
          <a:lstStyle/>
          <a:p>
            <a:pPr algn="l" indent="0" marL="0">
              <a:buNone/>
            </a:pPr>
            <a:r>
              <a:rPr lang="en-US" sz="1210" dirty="0">
                <a:solidFill>
                  <a:srgbClr val="F4F5EF"/>
                </a:solidFill>
                <a:latin typeface="Inter" pitchFamily="34" charset="0"/>
                <a:ea typeface="Inter" pitchFamily="34" charset="-122"/>
                <a:cs typeface="Inter" pitchFamily="34" charset="-120"/>
              </a:rPr>
              <a:t>Rank candidates and inspect evidence</a:t>
            </a:r>
            <a:endParaRPr lang="en-US" sz="1210" dirty="0"/>
          </a:p>
        </p:txBody>
      </p:sp>
      <p:sp>
        <p:nvSpPr>
          <p:cNvPr id="32" name="Shape 30"/>
          <p:cNvSpPr/>
          <p:nvPr/>
        </p:nvSpPr>
        <p:spPr>
          <a:xfrm>
            <a:off x="5897880" y="1005840"/>
            <a:ext cx="5669280" cy="4983480"/>
          </a:xfrm>
          <a:prstGeom prst="roundRect">
            <a:avLst/>
          </a:prstGeom>
          <a:solidFill>
            <a:srgbClr val="F4F5EF"/>
          </a:solidFill>
          <a:ln w="10160">
            <a:solidFill>
              <a:srgbClr val="F4F5EF"/>
            </a:solidFill>
            <a:prstDash val="solid"/>
          </a:ln>
        </p:spPr>
      </p:sp>
      <p:sp>
        <p:nvSpPr>
          <p:cNvPr id="33" name="Shape 31"/>
          <p:cNvSpPr/>
          <p:nvPr/>
        </p:nvSpPr>
        <p:spPr>
          <a:xfrm>
            <a:off x="6144768" y="1261872"/>
            <a:ext cx="5175504" cy="438912"/>
          </a:xfrm>
          <a:prstGeom prst="roundRect">
            <a:avLst/>
          </a:prstGeom>
          <a:solidFill>
            <a:srgbClr val="0D120F"/>
          </a:solidFill>
          <a:ln w="1270">
            <a:solidFill>
              <a:srgbClr val="0D120F">
                <a:alpha val="0"/>
              </a:srgbClr>
            </a:solidFill>
            <a:prstDash val="solid"/>
          </a:ln>
        </p:spPr>
      </p:sp>
      <p:sp>
        <p:nvSpPr>
          <p:cNvPr id="34" name="Text 32"/>
          <p:cNvSpPr txBox="1"/>
          <p:nvPr/>
        </p:nvSpPr>
        <p:spPr>
          <a:xfrm>
            <a:off x="6345936" y="1389888"/>
            <a:ext cx="2999232" cy="164592"/>
          </a:xfrm>
          <a:prstGeom prst="rect">
            <a:avLst/>
          </a:prstGeom>
          <a:noFill/>
          <a:ln/>
        </p:spPr>
        <p:txBody>
          <a:bodyPr wrap="square" lIns="0" tIns="0" rIns="0" bIns="0" rtlCol="0" anchor="ctr">
            <a:normAutofit/>
          </a:bodyPr>
          <a:lstStyle/>
          <a:p>
            <a:pPr algn="l" indent="0" marL="0">
              <a:buNone/>
            </a:pPr>
            <a:r>
              <a:rPr lang="en-US" sz="820" b="1" spc="70" kern="0" dirty="0">
                <a:solidFill>
                  <a:srgbClr val="F4F5EF"/>
                </a:solidFill>
                <a:latin typeface="Inter" pitchFamily="34" charset="0"/>
                <a:ea typeface="Inter" pitchFamily="34" charset="-122"/>
                <a:cs typeface="Inter" pitchFamily="34" charset="-120"/>
              </a:rPr>
              <a:t>RISKORA  /  RESEARCH WORKSPACE</a:t>
            </a:r>
            <a:endParaRPr lang="en-US" sz="820" dirty="0"/>
          </a:p>
        </p:txBody>
      </p:sp>
      <p:sp>
        <p:nvSpPr>
          <p:cNvPr id="35" name="Shape 33"/>
          <p:cNvSpPr/>
          <p:nvPr/>
        </p:nvSpPr>
        <p:spPr>
          <a:xfrm>
            <a:off x="10808208" y="1417320"/>
            <a:ext cx="64008" cy="64008"/>
          </a:xfrm>
          <a:prstGeom prst="ellipse">
            <a:avLst/>
          </a:prstGeom>
          <a:solidFill>
            <a:srgbClr val="D4FF3F"/>
          </a:solidFill>
          <a:ln w="1270">
            <a:solidFill>
              <a:srgbClr val="D4FF3F">
                <a:alpha val="0"/>
              </a:srgbClr>
            </a:solidFill>
            <a:prstDash val="solid"/>
          </a:ln>
        </p:spPr>
      </p:sp>
      <p:sp>
        <p:nvSpPr>
          <p:cNvPr id="36" name="Shape 34"/>
          <p:cNvSpPr/>
          <p:nvPr/>
        </p:nvSpPr>
        <p:spPr>
          <a:xfrm>
            <a:off x="10936224" y="1417320"/>
            <a:ext cx="64008" cy="64008"/>
          </a:xfrm>
          <a:prstGeom prst="ellipse">
            <a:avLst/>
          </a:prstGeom>
          <a:solidFill>
            <a:srgbClr val="CBB3E8"/>
          </a:solidFill>
          <a:ln w="1270">
            <a:solidFill>
              <a:srgbClr val="CBB3E8">
                <a:alpha val="0"/>
              </a:srgbClr>
            </a:solidFill>
            <a:prstDash val="solid"/>
          </a:ln>
        </p:spPr>
      </p:sp>
      <p:sp>
        <p:nvSpPr>
          <p:cNvPr id="37" name="Shape 35"/>
          <p:cNvSpPr/>
          <p:nvPr/>
        </p:nvSpPr>
        <p:spPr>
          <a:xfrm>
            <a:off x="11064240" y="1417320"/>
            <a:ext cx="64008" cy="64008"/>
          </a:xfrm>
          <a:prstGeom prst="ellipse">
            <a:avLst/>
          </a:prstGeom>
          <a:solidFill>
            <a:srgbClr val="6E8272"/>
          </a:solidFill>
          <a:ln w="1270">
            <a:solidFill>
              <a:srgbClr val="6E8272">
                <a:alpha val="0"/>
              </a:srgbClr>
            </a:solidFill>
            <a:prstDash val="solid"/>
          </a:ln>
        </p:spPr>
      </p:sp>
      <p:sp>
        <p:nvSpPr>
          <p:cNvPr id="38" name="Text 36"/>
          <p:cNvSpPr txBox="1"/>
          <p:nvPr/>
        </p:nvSpPr>
        <p:spPr>
          <a:xfrm>
            <a:off x="6318504" y="1901952"/>
            <a:ext cx="2377440" cy="310896"/>
          </a:xfrm>
          <a:prstGeom prst="rect">
            <a:avLst/>
          </a:prstGeom>
          <a:noFill/>
          <a:ln/>
        </p:spPr>
        <p:txBody>
          <a:bodyPr wrap="square" lIns="0" tIns="0" rIns="0" bIns="0" rtlCol="0" anchor="ctr">
            <a:normAutofit/>
          </a:bodyPr>
          <a:lstStyle/>
          <a:p>
            <a:pPr algn="l" indent="0" marL="0">
              <a:buNone/>
            </a:pPr>
            <a:r>
              <a:rPr lang="en-US" sz="1800" b="1" dirty="0">
                <a:solidFill>
                  <a:srgbClr val="0D120F"/>
                </a:solidFill>
                <a:latin typeface="Inter" pitchFamily="34" charset="0"/>
                <a:ea typeface="Inter" pitchFamily="34" charset="-122"/>
                <a:cs typeface="Inter" pitchFamily="34" charset="-120"/>
              </a:rPr>
              <a:t>Candidate review</a:t>
            </a:r>
            <a:endParaRPr lang="en-US" sz="1800" dirty="0"/>
          </a:p>
        </p:txBody>
      </p:sp>
      <p:sp>
        <p:nvSpPr>
          <p:cNvPr id="39" name="Shape 37"/>
          <p:cNvSpPr/>
          <p:nvPr/>
        </p:nvSpPr>
        <p:spPr>
          <a:xfrm>
            <a:off x="9866376" y="1920240"/>
            <a:ext cx="1280160" cy="283464"/>
          </a:xfrm>
          <a:prstGeom prst="roundRect">
            <a:avLst/>
          </a:prstGeom>
          <a:solidFill>
            <a:srgbClr val="E6F0E7"/>
          </a:solidFill>
          <a:ln w="1270">
            <a:solidFill>
              <a:srgbClr val="E6F0E7">
                <a:alpha val="0"/>
              </a:srgbClr>
            </a:solidFill>
            <a:prstDash val="solid"/>
          </a:ln>
        </p:spPr>
      </p:sp>
      <p:sp>
        <p:nvSpPr>
          <p:cNvPr id="40" name="Text 38"/>
          <p:cNvSpPr txBox="1"/>
          <p:nvPr/>
        </p:nvSpPr>
        <p:spPr>
          <a:xfrm>
            <a:off x="9976104" y="1938528"/>
            <a:ext cx="1060704" cy="228600"/>
          </a:xfrm>
          <a:prstGeom prst="rect">
            <a:avLst/>
          </a:prstGeom>
          <a:noFill/>
          <a:ln/>
        </p:spPr>
        <p:txBody>
          <a:bodyPr wrap="square" lIns="0" tIns="0" rIns="0" bIns="0" rtlCol="0" anchor="ctr">
            <a:normAutofit/>
          </a:bodyPr>
          <a:lstStyle/>
          <a:p>
            <a:pPr algn="ctr" indent="0" marL="0">
              <a:buNone/>
            </a:pPr>
            <a:r>
              <a:rPr lang="en-US" sz="830" b="1" spc="60" kern="0" dirty="0">
                <a:solidFill>
                  <a:srgbClr val="2F6B4D"/>
                </a:solidFill>
                <a:latin typeface="Inter" pitchFamily="34" charset="0"/>
                <a:ea typeface="Inter" pitchFamily="34" charset="-122"/>
                <a:cs typeface="Inter" pitchFamily="34" charset="-120"/>
              </a:rPr>
              <a:t>SCHEMATIC UI</a:t>
            </a:r>
            <a:endParaRPr lang="en-US" sz="830" dirty="0"/>
          </a:p>
        </p:txBody>
      </p:sp>
      <p:sp>
        <p:nvSpPr>
          <p:cNvPr id="41" name="Text 39"/>
          <p:cNvSpPr txBox="1"/>
          <p:nvPr/>
        </p:nvSpPr>
        <p:spPr>
          <a:xfrm>
            <a:off x="6327648" y="2350008"/>
            <a:ext cx="1188720" cy="164592"/>
          </a:xfrm>
          <a:prstGeom prst="rect">
            <a:avLst/>
          </a:prstGeom>
          <a:noFill/>
          <a:ln/>
        </p:spPr>
        <p:txBody>
          <a:bodyPr wrap="square" lIns="0" tIns="0" rIns="0" bIns="0" rtlCol="0" anchor="ctr">
            <a:normAutofit/>
          </a:bodyPr>
          <a:lstStyle/>
          <a:p>
            <a:pPr algn="l" indent="0" marL="0">
              <a:buNone/>
            </a:pPr>
            <a:r>
              <a:rPr lang="en-US" sz="850" b="1" spc="40" kern="0" dirty="0">
                <a:solidFill>
                  <a:srgbClr val="69736A"/>
                </a:solidFill>
                <a:latin typeface="Inter" pitchFamily="34" charset="0"/>
                <a:ea typeface="Inter" pitchFamily="34" charset="-122"/>
                <a:cs typeface="Inter" pitchFamily="34" charset="-120"/>
              </a:rPr>
              <a:t>Selected fund</a:t>
            </a:r>
            <a:endParaRPr lang="en-US" sz="850" dirty="0"/>
          </a:p>
        </p:txBody>
      </p:sp>
      <p:sp>
        <p:nvSpPr>
          <p:cNvPr id="42" name="Text 40"/>
          <p:cNvSpPr txBox="1"/>
          <p:nvPr/>
        </p:nvSpPr>
        <p:spPr>
          <a:xfrm>
            <a:off x="6327648" y="2542032"/>
            <a:ext cx="2743200" cy="201168"/>
          </a:xfrm>
          <a:prstGeom prst="rect">
            <a:avLst/>
          </a:prstGeom>
          <a:noFill/>
          <a:ln/>
        </p:spPr>
        <p:txBody>
          <a:bodyPr wrap="square" lIns="0" tIns="0" rIns="0" bIns="0" rtlCol="0" anchor="ctr">
            <a:normAutofit/>
          </a:bodyPr>
          <a:lstStyle/>
          <a:p>
            <a:pPr algn="l" indent="0" marL="0">
              <a:buNone/>
            </a:pPr>
            <a:r>
              <a:rPr lang="en-US" sz="1020" b="1" dirty="0">
                <a:solidFill>
                  <a:srgbClr val="0D120F"/>
                </a:solidFill>
                <a:latin typeface="Inter" pitchFamily="34" charset="0"/>
                <a:ea typeface="Inter" pitchFamily="34" charset="-122"/>
                <a:cs typeface="Inter" pitchFamily="34" charset="-120"/>
              </a:rPr>
              <a:t>Indian equity mutual fund</a:t>
            </a:r>
            <a:endParaRPr lang="en-US" sz="1020" dirty="0"/>
          </a:p>
        </p:txBody>
      </p:sp>
      <p:sp>
        <p:nvSpPr>
          <p:cNvPr id="43" name="Shape 41"/>
          <p:cNvSpPr/>
          <p:nvPr/>
        </p:nvSpPr>
        <p:spPr>
          <a:xfrm>
            <a:off x="6318504" y="2880360"/>
            <a:ext cx="4828032" cy="0"/>
          </a:xfrm>
          <a:prstGeom prst="line">
            <a:avLst/>
          </a:prstGeom>
          <a:noFill/>
          <a:ln w="10160">
            <a:solidFill>
              <a:srgbClr val="DDE2D9"/>
            </a:solidFill>
            <a:prstDash val="solid"/>
            <a:headEnd type="none"/>
            <a:tailEnd type="none"/>
          </a:ln>
        </p:spPr>
      </p:sp>
      <p:sp>
        <p:nvSpPr>
          <p:cNvPr id="44" name="Text 42"/>
          <p:cNvSpPr txBox="1"/>
          <p:nvPr/>
        </p:nvSpPr>
        <p:spPr>
          <a:xfrm>
            <a:off x="6373368" y="3035808"/>
            <a:ext cx="438912" cy="146304"/>
          </a:xfrm>
          <a:prstGeom prst="rect">
            <a:avLst/>
          </a:prstGeom>
          <a:noFill/>
          <a:ln/>
        </p:spPr>
        <p:txBody>
          <a:bodyPr wrap="square" lIns="0" tIns="0" rIns="0" bIns="0" rtlCol="0" anchor="ctr">
            <a:normAutofit/>
          </a:bodyPr>
          <a:lstStyle/>
          <a:p>
            <a:pPr algn="l" indent="0" marL="0">
              <a:buNone/>
            </a:pPr>
            <a:r>
              <a:rPr lang="en-US" sz="740" b="1" spc="80" kern="0" dirty="0">
                <a:solidFill>
                  <a:srgbClr val="69736A"/>
                </a:solidFill>
                <a:latin typeface="Inter" pitchFamily="34" charset="0"/>
                <a:ea typeface="Inter" pitchFamily="34" charset="-122"/>
                <a:cs typeface="Inter" pitchFamily="34" charset="-120"/>
              </a:rPr>
              <a:t>RANK</a:t>
            </a:r>
            <a:endParaRPr lang="en-US" sz="740" dirty="0"/>
          </a:p>
        </p:txBody>
      </p:sp>
      <p:sp>
        <p:nvSpPr>
          <p:cNvPr id="45" name="Text 43"/>
          <p:cNvSpPr txBox="1"/>
          <p:nvPr/>
        </p:nvSpPr>
        <p:spPr>
          <a:xfrm>
            <a:off x="6894576" y="3035808"/>
            <a:ext cx="1554480" cy="146304"/>
          </a:xfrm>
          <a:prstGeom prst="rect">
            <a:avLst/>
          </a:prstGeom>
          <a:noFill/>
          <a:ln/>
        </p:spPr>
        <p:txBody>
          <a:bodyPr wrap="square" lIns="0" tIns="0" rIns="0" bIns="0" rtlCol="0" anchor="ctr">
            <a:normAutofit/>
          </a:bodyPr>
          <a:lstStyle/>
          <a:p>
            <a:pPr algn="l" indent="0" marL="0">
              <a:buNone/>
            </a:pPr>
            <a:r>
              <a:rPr lang="en-US" sz="740" b="1" spc="80" kern="0" dirty="0">
                <a:solidFill>
                  <a:srgbClr val="69736A"/>
                </a:solidFill>
                <a:latin typeface="Inter" pitchFamily="34" charset="0"/>
                <a:ea typeface="Inter" pitchFamily="34" charset="-122"/>
                <a:cs typeface="Inter" pitchFamily="34" charset="-120"/>
              </a:rPr>
              <a:t>CANDIDATE</a:t>
            </a:r>
            <a:endParaRPr lang="en-US" sz="740" dirty="0"/>
          </a:p>
        </p:txBody>
      </p:sp>
      <p:sp>
        <p:nvSpPr>
          <p:cNvPr id="46" name="Text 44"/>
          <p:cNvSpPr txBox="1"/>
          <p:nvPr/>
        </p:nvSpPr>
        <p:spPr>
          <a:xfrm>
            <a:off x="8796528" y="3035808"/>
            <a:ext cx="1600200" cy="146304"/>
          </a:xfrm>
          <a:prstGeom prst="rect">
            <a:avLst/>
          </a:prstGeom>
          <a:noFill/>
          <a:ln/>
        </p:spPr>
        <p:txBody>
          <a:bodyPr wrap="square" lIns="0" tIns="0" rIns="0" bIns="0" rtlCol="0" anchor="ctr">
            <a:normAutofit/>
          </a:bodyPr>
          <a:lstStyle/>
          <a:p>
            <a:pPr algn="l" indent="0" marL="0">
              <a:buNone/>
            </a:pPr>
            <a:r>
              <a:rPr lang="en-US" sz="740" b="1" spc="80" kern="0" dirty="0">
                <a:solidFill>
                  <a:srgbClr val="69736A"/>
                </a:solidFill>
                <a:latin typeface="Inter" pitchFamily="34" charset="0"/>
                <a:ea typeface="Inter" pitchFamily="34" charset="-122"/>
                <a:cs typeface="Inter" pitchFamily="34" charset="-120"/>
              </a:rPr>
              <a:t>EVIDENCE STATUS</a:t>
            </a:r>
            <a:endParaRPr lang="en-US" sz="740" dirty="0"/>
          </a:p>
        </p:txBody>
      </p:sp>
      <p:sp>
        <p:nvSpPr>
          <p:cNvPr id="47" name="Text 45"/>
          <p:cNvSpPr txBox="1"/>
          <p:nvPr/>
        </p:nvSpPr>
        <p:spPr>
          <a:xfrm>
            <a:off x="10378440" y="3035808"/>
            <a:ext cx="758952" cy="146304"/>
          </a:xfrm>
          <a:prstGeom prst="rect">
            <a:avLst/>
          </a:prstGeom>
          <a:noFill/>
          <a:ln/>
        </p:spPr>
        <p:txBody>
          <a:bodyPr wrap="square" lIns="0" tIns="0" rIns="0" bIns="0" rtlCol="0" anchor="ctr">
            <a:normAutofit/>
          </a:bodyPr>
          <a:lstStyle/>
          <a:p>
            <a:pPr algn="l" indent="0" marL="0">
              <a:buNone/>
            </a:pPr>
            <a:r>
              <a:rPr lang="en-US" sz="740" b="1" spc="40" kern="0" dirty="0">
                <a:solidFill>
                  <a:srgbClr val="69736A"/>
                </a:solidFill>
                <a:latin typeface="Inter" pitchFamily="34" charset="0"/>
                <a:ea typeface="Inter" pitchFamily="34" charset="-122"/>
                <a:cs typeface="Inter" pitchFamily="34" charset="-120"/>
              </a:rPr>
              <a:t>NEXT STEP</a:t>
            </a:r>
            <a:endParaRPr lang="en-US" sz="740" dirty="0"/>
          </a:p>
        </p:txBody>
      </p:sp>
      <p:sp>
        <p:nvSpPr>
          <p:cNvPr id="48" name="Shape 46"/>
          <p:cNvSpPr/>
          <p:nvPr/>
        </p:nvSpPr>
        <p:spPr>
          <a:xfrm>
            <a:off x="6318504" y="3310128"/>
            <a:ext cx="4828032" cy="448056"/>
          </a:xfrm>
          <a:prstGeom prst="roundRect">
            <a:avLst/>
          </a:prstGeom>
          <a:solidFill>
            <a:srgbClr val="E5EFD9"/>
          </a:solidFill>
          <a:ln w="7620">
            <a:solidFill>
              <a:srgbClr val="E0E5DD"/>
            </a:solidFill>
            <a:prstDash val="solid"/>
          </a:ln>
        </p:spPr>
      </p:sp>
      <p:sp>
        <p:nvSpPr>
          <p:cNvPr id="49" name="Text 47"/>
          <p:cNvSpPr txBox="1"/>
          <p:nvPr/>
        </p:nvSpPr>
        <p:spPr>
          <a:xfrm>
            <a:off x="6419088" y="3401568"/>
            <a:ext cx="347472" cy="201168"/>
          </a:xfrm>
          <a:prstGeom prst="rect">
            <a:avLst/>
          </a:prstGeom>
          <a:noFill/>
          <a:ln/>
        </p:spPr>
        <p:txBody>
          <a:bodyPr wrap="square" lIns="0" tIns="0" rIns="0" bIns="0" rtlCol="0" anchor="ctr">
            <a:normAutofit/>
          </a:bodyPr>
          <a:lstStyle/>
          <a:p>
            <a:pPr algn="l" indent="0" marL="0">
              <a:buNone/>
            </a:pPr>
            <a:r>
              <a:rPr lang="en-US" sz="1050" b="1" dirty="0">
                <a:solidFill>
                  <a:srgbClr val="31563F"/>
                </a:solidFill>
                <a:latin typeface="Inter" pitchFamily="34" charset="0"/>
                <a:ea typeface="Inter" pitchFamily="34" charset="-122"/>
                <a:cs typeface="Inter" pitchFamily="34" charset="-120"/>
              </a:rPr>
              <a:t>01</a:t>
            </a:r>
            <a:endParaRPr lang="en-US" sz="1050" dirty="0"/>
          </a:p>
        </p:txBody>
      </p:sp>
      <p:sp>
        <p:nvSpPr>
          <p:cNvPr id="50" name="Text 48"/>
          <p:cNvSpPr txBox="1"/>
          <p:nvPr/>
        </p:nvSpPr>
        <p:spPr>
          <a:xfrm>
            <a:off x="6894576" y="3401568"/>
            <a:ext cx="1664208" cy="201168"/>
          </a:xfrm>
          <a:prstGeom prst="rect">
            <a:avLst/>
          </a:prstGeom>
          <a:noFill/>
          <a:ln/>
        </p:spPr>
        <p:txBody>
          <a:bodyPr wrap="square" lIns="0" tIns="0" rIns="0" bIns="0" rtlCol="0" anchor="ctr">
            <a:normAutofit/>
          </a:bodyPr>
          <a:lstStyle/>
          <a:p>
            <a:pPr algn="l" indent="0" marL="0">
              <a:buNone/>
            </a:pPr>
            <a:r>
              <a:rPr lang="en-US" sz="1020" b="1" dirty="0">
                <a:solidFill>
                  <a:srgbClr val="0D120F"/>
                </a:solidFill>
                <a:latin typeface="Inter" pitchFamily="34" charset="0"/>
                <a:ea typeface="Inter" pitchFamily="34" charset="-122"/>
                <a:cs typeface="Inter" pitchFamily="34" charset="-120"/>
              </a:rPr>
              <a:t>Candidate A</a:t>
            </a:r>
            <a:endParaRPr lang="en-US" sz="1020" dirty="0"/>
          </a:p>
        </p:txBody>
      </p:sp>
      <p:sp>
        <p:nvSpPr>
          <p:cNvPr id="51" name="Text 49"/>
          <p:cNvSpPr txBox="1"/>
          <p:nvPr/>
        </p:nvSpPr>
        <p:spPr>
          <a:xfrm>
            <a:off x="8796528" y="3401568"/>
            <a:ext cx="1325880" cy="201168"/>
          </a:xfrm>
          <a:prstGeom prst="rect">
            <a:avLst/>
          </a:prstGeom>
          <a:noFill/>
          <a:ln/>
        </p:spPr>
        <p:txBody>
          <a:bodyPr wrap="square" lIns="0" tIns="0" rIns="0" bIns="0" rtlCol="0" anchor="ctr">
            <a:normAutofit/>
          </a:bodyPr>
          <a:lstStyle/>
          <a:p>
            <a:pPr algn="l" indent="0" marL="0">
              <a:buNone/>
            </a:pPr>
            <a:r>
              <a:rPr lang="en-US" sz="830" b="1" dirty="0">
                <a:solidFill>
                  <a:srgbClr val="4F6756"/>
                </a:solidFill>
                <a:latin typeface="Inter" pitchFamily="34" charset="0"/>
                <a:ea typeface="Inter" pitchFamily="34" charset="-122"/>
                <a:cs typeface="Inter" pitchFamily="34" charset="-120"/>
              </a:rPr>
              <a:t>Cutoff checked</a:t>
            </a:r>
            <a:endParaRPr lang="en-US" sz="830" dirty="0"/>
          </a:p>
        </p:txBody>
      </p:sp>
      <p:sp>
        <p:nvSpPr>
          <p:cNvPr id="52" name="Text 50"/>
          <p:cNvSpPr txBox="1"/>
          <p:nvPr/>
        </p:nvSpPr>
        <p:spPr>
          <a:xfrm>
            <a:off x="10488168" y="3401568"/>
            <a:ext cx="530352" cy="201168"/>
          </a:xfrm>
          <a:prstGeom prst="rect">
            <a:avLst/>
          </a:prstGeom>
          <a:noFill/>
          <a:ln/>
        </p:spPr>
        <p:txBody>
          <a:bodyPr wrap="square" lIns="0" tIns="0" rIns="0" bIns="0" rtlCol="0" anchor="ctr">
            <a:normAutofit/>
          </a:bodyPr>
          <a:lstStyle/>
          <a:p>
            <a:pPr algn="r" indent="0" marL="0">
              <a:buNone/>
            </a:pPr>
            <a:r>
              <a:rPr lang="en-US" sz="860" b="1" dirty="0">
                <a:solidFill>
                  <a:srgbClr val="2F6B4D"/>
                </a:solidFill>
                <a:latin typeface="Inter" pitchFamily="34" charset="0"/>
                <a:ea typeface="Inter" pitchFamily="34" charset="-122"/>
                <a:cs typeface="Inter" pitchFamily="34" charset="-120"/>
              </a:rPr>
              <a:t>Inspect</a:t>
            </a:r>
            <a:endParaRPr lang="en-US" sz="860" dirty="0"/>
          </a:p>
        </p:txBody>
      </p:sp>
      <p:sp>
        <p:nvSpPr>
          <p:cNvPr id="53" name="Shape 51"/>
          <p:cNvSpPr/>
          <p:nvPr/>
        </p:nvSpPr>
        <p:spPr>
          <a:xfrm>
            <a:off x="6318504" y="3877056"/>
            <a:ext cx="4828032" cy="448056"/>
          </a:xfrm>
          <a:prstGeom prst="roundRect">
            <a:avLst/>
          </a:prstGeom>
          <a:solidFill>
            <a:srgbClr val="FFFFFF"/>
          </a:solidFill>
          <a:ln w="7620">
            <a:solidFill>
              <a:srgbClr val="E0E5DD"/>
            </a:solidFill>
            <a:prstDash val="solid"/>
          </a:ln>
        </p:spPr>
      </p:sp>
      <p:sp>
        <p:nvSpPr>
          <p:cNvPr id="54" name="Text 52"/>
          <p:cNvSpPr txBox="1"/>
          <p:nvPr/>
        </p:nvSpPr>
        <p:spPr>
          <a:xfrm>
            <a:off x="6419088" y="3968496"/>
            <a:ext cx="347472" cy="201168"/>
          </a:xfrm>
          <a:prstGeom prst="rect">
            <a:avLst/>
          </a:prstGeom>
          <a:noFill/>
          <a:ln/>
        </p:spPr>
        <p:txBody>
          <a:bodyPr wrap="square" lIns="0" tIns="0" rIns="0" bIns="0" rtlCol="0" anchor="ctr">
            <a:normAutofit/>
          </a:bodyPr>
          <a:lstStyle/>
          <a:p>
            <a:pPr algn="l" indent="0" marL="0">
              <a:buNone/>
            </a:pPr>
            <a:r>
              <a:rPr lang="en-US" sz="1050" b="1" dirty="0">
                <a:solidFill>
                  <a:srgbClr val="69736A"/>
                </a:solidFill>
                <a:latin typeface="Inter" pitchFamily="34" charset="0"/>
                <a:ea typeface="Inter" pitchFamily="34" charset="-122"/>
                <a:cs typeface="Inter" pitchFamily="34" charset="-120"/>
              </a:rPr>
              <a:t>02</a:t>
            </a:r>
            <a:endParaRPr lang="en-US" sz="1050" dirty="0"/>
          </a:p>
        </p:txBody>
      </p:sp>
      <p:sp>
        <p:nvSpPr>
          <p:cNvPr id="55" name="Text 53"/>
          <p:cNvSpPr txBox="1"/>
          <p:nvPr/>
        </p:nvSpPr>
        <p:spPr>
          <a:xfrm>
            <a:off x="6894576" y="3968496"/>
            <a:ext cx="1664208" cy="201168"/>
          </a:xfrm>
          <a:prstGeom prst="rect">
            <a:avLst/>
          </a:prstGeom>
          <a:noFill/>
          <a:ln/>
        </p:spPr>
        <p:txBody>
          <a:bodyPr wrap="square" lIns="0" tIns="0" rIns="0" bIns="0" rtlCol="0" anchor="ctr">
            <a:normAutofit/>
          </a:bodyPr>
          <a:lstStyle/>
          <a:p>
            <a:pPr algn="l" indent="0" marL="0">
              <a:buNone/>
            </a:pPr>
            <a:r>
              <a:rPr lang="en-US" sz="1020" b="1" dirty="0">
                <a:solidFill>
                  <a:srgbClr val="0D120F"/>
                </a:solidFill>
                <a:latin typeface="Inter" pitchFamily="34" charset="0"/>
                <a:ea typeface="Inter" pitchFamily="34" charset="-122"/>
                <a:cs typeface="Inter" pitchFamily="34" charset="-120"/>
              </a:rPr>
              <a:t>Candidate B</a:t>
            </a:r>
            <a:endParaRPr lang="en-US" sz="1020" dirty="0"/>
          </a:p>
        </p:txBody>
      </p:sp>
      <p:sp>
        <p:nvSpPr>
          <p:cNvPr id="56" name="Text 54"/>
          <p:cNvSpPr txBox="1"/>
          <p:nvPr/>
        </p:nvSpPr>
        <p:spPr>
          <a:xfrm>
            <a:off x="8796528" y="3968496"/>
            <a:ext cx="1325880" cy="201168"/>
          </a:xfrm>
          <a:prstGeom prst="rect">
            <a:avLst/>
          </a:prstGeom>
          <a:noFill/>
          <a:ln/>
        </p:spPr>
        <p:txBody>
          <a:bodyPr wrap="square" lIns="0" tIns="0" rIns="0" bIns="0" rtlCol="0" anchor="ctr">
            <a:normAutofit/>
          </a:bodyPr>
          <a:lstStyle/>
          <a:p>
            <a:pPr algn="l" indent="0" marL="0">
              <a:buNone/>
            </a:pPr>
            <a:r>
              <a:rPr lang="en-US" sz="830" b="1" dirty="0">
                <a:solidFill>
                  <a:srgbClr val="8C5E3A"/>
                </a:solidFill>
                <a:latin typeface="Inter" pitchFamily="34" charset="0"/>
                <a:ea typeface="Inter" pitchFamily="34" charset="-122"/>
                <a:cs typeface="Inter" pitchFamily="34" charset="-120"/>
              </a:rPr>
              <a:t>Needs review</a:t>
            </a:r>
            <a:endParaRPr lang="en-US" sz="830" dirty="0"/>
          </a:p>
        </p:txBody>
      </p:sp>
      <p:sp>
        <p:nvSpPr>
          <p:cNvPr id="57" name="Text 55"/>
          <p:cNvSpPr txBox="1"/>
          <p:nvPr/>
        </p:nvSpPr>
        <p:spPr>
          <a:xfrm>
            <a:off x="10488168" y="3968496"/>
            <a:ext cx="530352" cy="201168"/>
          </a:xfrm>
          <a:prstGeom prst="rect">
            <a:avLst/>
          </a:prstGeom>
          <a:noFill/>
          <a:ln/>
        </p:spPr>
        <p:txBody>
          <a:bodyPr wrap="square" lIns="0" tIns="0" rIns="0" bIns="0" rtlCol="0" anchor="ctr">
            <a:normAutofit/>
          </a:bodyPr>
          <a:lstStyle/>
          <a:p>
            <a:pPr algn="r" indent="0" marL="0">
              <a:buNone/>
            </a:pPr>
            <a:r>
              <a:rPr lang="en-US" sz="860" b="1" dirty="0">
                <a:solidFill>
                  <a:srgbClr val="2F6B4D"/>
                </a:solidFill>
                <a:latin typeface="Inter" pitchFamily="34" charset="0"/>
                <a:ea typeface="Inter" pitchFamily="34" charset="-122"/>
                <a:cs typeface="Inter" pitchFamily="34" charset="-120"/>
              </a:rPr>
              <a:t>Inspect</a:t>
            </a:r>
            <a:endParaRPr lang="en-US" sz="860" dirty="0"/>
          </a:p>
        </p:txBody>
      </p:sp>
      <p:sp>
        <p:nvSpPr>
          <p:cNvPr id="58" name="Shape 56"/>
          <p:cNvSpPr/>
          <p:nvPr/>
        </p:nvSpPr>
        <p:spPr>
          <a:xfrm>
            <a:off x="6318504" y="4443984"/>
            <a:ext cx="4828032" cy="448056"/>
          </a:xfrm>
          <a:prstGeom prst="roundRect">
            <a:avLst/>
          </a:prstGeom>
          <a:solidFill>
            <a:srgbClr val="FFFFFF"/>
          </a:solidFill>
          <a:ln w="7620">
            <a:solidFill>
              <a:srgbClr val="E0E5DD"/>
            </a:solidFill>
            <a:prstDash val="solid"/>
          </a:ln>
        </p:spPr>
      </p:sp>
      <p:sp>
        <p:nvSpPr>
          <p:cNvPr id="59" name="Text 57"/>
          <p:cNvSpPr txBox="1"/>
          <p:nvPr/>
        </p:nvSpPr>
        <p:spPr>
          <a:xfrm>
            <a:off x="6419088" y="4535424"/>
            <a:ext cx="347472" cy="201168"/>
          </a:xfrm>
          <a:prstGeom prst="rect">
            <a:avLst/>
          </a:prstGeom>
          <a:noFill/>
          <a:ln/>
        </p:spPr>
        <p:txBody>
          <a:bodyPr wrap="square" lIns="0" tIns="0" rIns="0" bIns="0" rtlCol="0" anchor="ctr">
            <a:normAutofit/>
          </a:bodyPr>
          <a:lstStyle/>
          <a:p>
            <a:pPr algn="l" indent="0" marL="0">
              <a:buNone/>
            </a:pPr>
            <a:r>
              <a:rPr lang="en-US" sz="1050" b="1" dirty="0">
                <a:solidFill>
                  <a:srgbClr val="69736A"/>
                </a:solidFill>
                <a:latin typeface="Inter" pitchFamily="34" charset="0"/>
                <a:ea typeface="Inter" pitchFamily="34" charset="-122"/>
                <a:cs typeface="Inter" pitchFamily="34" charset="-120"/>
              </a:rPr>
              <a:t>03</a:t>
            </a:r>
            <a:endParaRPr lang="en-US" sz="1050" dirty="0"/>
          </a:p>
        </p:txBody>
      </p:sp>
      <p:sp>
        <p:nvSpPr>
          <p:cNvPr id="60" name="Text 58"/>
          <p:cNvSpPr txBox="1"/>
          <p:nvPr/>
        </p:nvSpPr>
        <p:spPr>
          <a:xfrm>
            <a:off x="6894576" y="4535424"/>
            <a:ext cx="1664208" cy="201168"/>
          </a:xfrm>
          <a:prstGeom prst="rect">
            <a:avLst/>
          </a:prstGeom>
          <a:noFill/>
          <a:ln/>
        </p:spPr>
        <p:txBody>
          <a:bodyPr wrap="square" lIns="0" tIns="0" rIns="0" bIns="0" rtlCol="0" anchor="ctr">
            <a:normAutofit/>
          </a:bodyPr>
          <a:lstStyle/>
          <a:p>
            <a:pPr algn="l" indent="0" marL="0">
              <a:buNone/>
            </a:pPr>
            <a:r>
              <a:rPr lang="en-US" sz="1020" b="1" dirty="0">
                <a:solidFill>
                  <a:srgbClr val="0D120F"/>
                </a:solidFill>
                <a:latin typeface="Inter" pitchFamily="34" charset="0"/>
                <a:ea typeface="Inter" pitchFamily="34" charset="-122"/>
                <a:cs typeface="Inter" pitchFamily="34" charset="-120"/>
              </a:rPr>
              <a:t>Candidate C</a:t>
            </a:r>
            <a:endParaRPr lang="en-US" sz="1020" dirty="0"/>
          </a:p>
        </p:txBody>
      </p:sp>
      <p:sp>
        <p:nvSpPr>
          <p:cNvPr id="61" name="Text 59"/>
          <p:cNvSpPr txBox="1"/>
          <p:nvPr/>
        </p:nvSpPr>
        <p:spPr>
          <a:xfrm>
            <a:off x="8796528" y="4535424"/>
            <a:ext cx="1325880" cy="201168"/>
          </a:xfrm>
          <a:prstGeom prst="rect">
            <a:avLst/>
          </a:prstGeom>
          <a:noFill/>
          <a:ln/>
        </p:spPr>
        <p:txBody>
          <a:bodyPr wrap="square" lIns="0" tIns="0" rIns="0" bIns="0" rtlCol="0" anchor="ctr">
            <a:normAutofit/>
          </a:bodyPr>
          <a:lstStyle/>
          <a:p>
            <a:pPr algn="l" indent="0" marL="0">
              <a:buNone/>
            </a:pPr>
            <a:r>
              <a:rPr lang="en-US" sz="830" b="1" dirty="0">
                <a:solidFill>
                  <a:srgbClr val="4F6756"/>
                </a:solidFill>
                <a:latin typeface="Inter" pitchFamily="34" charset="0"/>
                <a:ea typeface="Inter" pitchFamily="34" charset="-122"/>
                <a:cs typeface="Inter" pitchFamily="34" charset="-120"/>
              </a:rPr>
              <a:t>Source linked</a:t>
            </a:r>
            <a:endParaRPr lang="en-US" sz="830" dirty="0"/>
          </a:p>
        </p:txBody>
      </p:sp>
      <p:sp>
        <p:nvSpPr>
          <p:cNvPr id="62" name="Text 60"/>
          <p:cNvSpPr txBox="1"/>
          <p:nvPr/>
        </p:nvSpPr>
        <p:spPr>
          <a:xfrm>
            <a:off x="10488168" y="4535424"/>
            <a:ext cx="530352" cy="201168"/>
          </a:xfrm>
          <a:prstGeom prst="rect">
            <a:avLst/>
          </a:prstGeom>
          <a:noFill/>
          <a:ln/>
        </p:spPr>
        <p:txBody>
          <a:bodyPr wrap="square" lIns="0" tIns="0" rIns="0" bIns="0" rtlCol="0" anchor="ctr">
            <a:normAutofit/>
          </a:bodyPr>
          <a:lstStyle/>
          <a:p>
            <a:pPr algn="r" indent="0" marL="0">
              <a:buNone/>
            </a:pPr>
            <a:r>
              <a:rPr lang="en-US" sz="860" b="1" dirty="0">
                <a:solidFill>
                  <a:srgbClr val="2F6B4D"/>
                </a:solidFill>
                <a:latin typeface="Inter" pitchFamily="34" charset="0"/>
                <a:ea typeface="Inter" pitchFamily="34" charset="-122"/>
                <a:cs typeface="Inter" pitchFamily="34" charset="-120"/>
              </a:rPr>
              <a:t>Inspect</a:t>
            </a:r>
            <a:endParaRPr lang="en-US" sz="860" dirty="0"/>
          </a:p>
        </p:txBody>
      </p:sp>
      <p:sp>
        <p:nvSpPr>
          <p:cNvPr id="63" name="Shape 61"/>
          <p:cNvSpPr/>
          <p:nvPr/>
        </p:nvSpPr>
        <p:spPr>
          <a:xfrm>
            <a:off x="6327648" y="5212080"/>
            <a:ext cx="4818888" cy="457200"/>
          </a:xfrm>
          <a:prstGeom prst="roundRect">
            <a:avLst/>
          </a:prstGeom>
          <a:solidFill>
            <a:srgbClr val="E5EAE2"/>
          </a:solidFill>
          <a:ln w="1270">
            <a:solidFill>
              <a:srgbClr val="E5EAE2">
                <a:alpha val="0"/>
              </a:srgbClr>
            </a:solidFill>
            <a:prstDash val="solid"/>
          </a:ln>
        </p:spPr>
      </p:sp>
      <p:sp>
        <p:nvSpPr>
          <p:cNvPr id="64" name="Text 62"/>
          <p:cNvSpPr txBox="1"/>
          <p:nvPr/>
        </p:nvSpPr>
        <p:spPr>
          <a:xfrm>
            <a:off x="6501384" y="5321808"/>
            <a:ext cx="4407408" cy="201168"/>
          </a:xfrm>
          <a:prstGeom prst="rect">
            <a:avLst/>
          </a:prstGeom>
          <a:noFill/>
          <a:ln/>
        </p:spPr>
        <p:txBody>
          <a:bodyPr wrap="square" lIns="0" tIns="0" rIns="0" bIns="0" rtlCol="0" anchor="ctr">
            <a:normAutofit/>
          </a:bodyPr>
          <a:lstStyle/>
          <a:p>
            <a:pPr algn="l" indent="0" marL="0">
              <a:buNone/>
            </a:pPr>
            <a:r>
              <a:rPr lang="en-US" sz="950" b="1" dirty="0">
                <a:solidFill>
                  <a:srgbClr val="0D120F"/>
                </a:solidFill>
                <a:latin typeface="Inter" pitchFamily="34" charset="0"/>
                <a:ea typeface="Inter" pitchFamily="34" charset="-122"/>
                <a:cs typeface="Inter" pitchFamily="34" charset="-120"/>
              </a:rPr>
              <a:t>Sources + dates + feature contributions stay attached.</a:t>
            </a:r>
            <a:endParaRPr lang="en-US" sz="950" dirty="0"/>
          </a:p>
        </p:txBody>
      </p:sp>
      <p:sp>
        <p:nvSpPr>
          <p:cNvPr id="65" name="Text 63"/>
          <p:cNvSpPr txBox="1"/>
          <p:nvPr/>
        </p:nvSpPr>
        <p:spPr>
          <a:xfrm>
            <a:off x="6318504" y="5788152"/>
            <a:ext cx="4937760" cy="146304"/>
          </a:xfrm>
          <a:prstGeom prst="rect">
            <a:avLst/>
          </a:prstGeom>
          <a:noFill/>
          <a:ln/>
        </p:spPr>
        <p:txBody>
          <a:bodyPr wrap="square" lIns="0" tIns="0" rIns="0" bIns="0" rtlCol="0" anchor="ctr">
            <a:normAutofit/>
          </a:bodyPr>
          <a:lstStyle/>
          <a:p>
            <a:pPr algn="l" indent="0" marL="0">
              <a:buNone/>
            </a:pPr>
            <a:r>
              <a:rPr lang="en-US" sz="810" i="1" dirty="0">
                <a:solidFill>
                  <a:srgbClr val="69736A"/>
                </a:solidFill>
                <a:latin typeface="Inter" pitchFamily="34" charset="0"/>
                <a:ea typeface="Inter" pitchFamily="34" charset="-122"/>
                <a:cs typeface="Inter" pitchFamily="34" charset="-120"/>
              </a:rPr>
              <a:t>Illustrative interface mockup — not a live prediction or market result.</a:t>
            </a:r>
            <a:endParaRPr lang="en-US" sz="810" dirty="0"/>
          </a:p>
        </p:txBody>
      </p:sp>
      <p:sp>
        <p:nvSpPr>
          <p:cNvPr id="66" name="Text 64"/>
          <p:cNvSpPr txBox="1"/>
          <p:nvPr/>
        </p:nvSpPr>
        <p:spPr>
          <a:xfrm>
            <a:off x="566928" y="6492240"/>
            <a:ext cx="5029200" cy="146304"/>
          </a:xfrm>
          <a:prstGeom prst="rect">
            <a:avLst/>
          </a:prstGeom>
          <a:noFill/>
          <a:ln/>
        </p:spPr>
        <p:txBody>
          <a:bodyPr wrap="square" lIns="0" tIns="0" rIns="0" bIns="0" rtlCol="0" anchor="ctr">
            <a:normAutofit/>
          </a:bodyPr>
          <a:lstStyle/>
          <a:p>
            <a:pPr algn="l" indent="0" marL="0">
              <a:buNone/>
            </a:pPr>
            <a:r>
              <a:rPr lang="en-US" sz="820" b="1" spc="90" kern="0" dirty="0">
                <a:solidFill>
                  <a:srgbClr val="7F8D82"/>
                </a:solidFill>
                <a:latin typeface="Inter" pitchFamily="34" charset="0"/>
                <a:ea typeface="Inter" pitchFamily="34" charset="-122"/>
                <a:cs typeface="Inter" pitchFamily="34" charset="-120"/>
              </a:rPr>
              <a:t>AIBOomi STARTUP WEEKEND  ·  KOCHI 2026</a:t>
            </a:r>
            <a:endParaRPr lang="en-US" sz="820" dirty="0"/>
          </a:p>
        </p:txBody>
      </p:sp>
      <p:sp>
        <p:nvSpPr>
          <p:cNvPr id="67" name="Text 65"/>
          <p:cNvSpPr txBox="1"/>
          <p:nvPr/>
        </p:nvSpPr>
        <p:spPr>
          <a:xfrm>
            <a:off x="10991088" y="6473952"/>
            <a:ext cx="612648" cy="182880"/>
          </a:xfrm>
          <a:prstGeom prst="rect">
            <a:avLst/>
          </a:prstGeom>
          <a:noFill/>
          <a:ln/>
        </p:spPr>
        <p:txBody>
          <a:bodyPr wrap="square" lIns="0" tIns="0" rIns="0" bIns="0" rtlCol="0" anchor="ctr">
            <a:normAutofit/>
          </a:bodyPr>
          <a:lstStyle/>
          <a:p>
            <a:pPr algn="r" indent="0" marL="0">
              <a:buNone/>
            </a:pPr>
            <a:r>
              <a:rPr lang="en-US" sz="900" b="1" dirty="0">
                <a:solidFill>
                  <a:srgbClr val="7F8D82"/>
                </a:solidFill>
                <a:latin typeface="Inter" pitchFamily="34" charset="0"/>
                <a:ea typeface="Inter" pitchFamily="34" charset="-122"/>
                <a:cs typeface="Inter" pitchFamily="34" charset="-120"/>
              </a:rPr>
              <a:t>03 / 06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566928" y="265176"/>
            <a:ext cx="68580" cy="68580"/>
          </a:xfrm>
          <a:prstGeom prst="rect">
            <a:avLst/>
          </a:prstGeom>
          <a:solidFill>
            <a:srgbClr val="D4FF3F"/>
          </a:solidFill>
          <a:ln w="1270">
            <a:solidFill>
              <a:srgbClr val="D4FF3F">
                <a:alpha val="0"/>
              </a:srgbClr>
            </a:solidFill>
            <a:prstDash val="solid"/>
          </a:ln>
        </p:spPr>
      </p:sp>
      <p:sp>
        <p:nvSpPr>
          <p:cNvPr id="3" name="Shape 1"/>
          <p:cNvSpPr/>
          <p:nvPr/>
        </p:nvSpPr>
        <p:spPr>
          <a:xfrm>
            <a:off x="685800" y="265176"/>
            <a:ext cx="68580" cy="68580"/>
          </a:xfrm>
          <a:prstGeom prst="rect">
            <a:avLst/>
          </a:prstGeom>
          <a:solidFill>
            <a:srgbClr val="D4FF3F"/>
          </a:solidFill>
          <a:ln w="1270">
            <a:solidFill>
              <a:srgbClr val="D4FF3F">
                <a:alpha val="0"/>
              </a:srgbClr>
            </a:solidFill>
            <a:prstDash val="solid"/>
          </a:ln>
        </p:spPr>
      </p:sp>
      <p:sp>
        <p:nvSpPr>
          <p:cNvPr id="4" name="Shape 2"/>
          <p:cNvSpPr/>
          <p:nvPr/>
        </p:nvSpPr>
        <p:spPr>
          <a:xfrm>
            <a:off x="804672" y="265176"/>
            <a:ext cx="68580" cy="68580"/>
          </a:xfrm>
          <a:prstGeom prst="rect">
            <a:avLst/>
          </a:prstGeom>
          <a:solidFill>
            <a:srgbClr val="CBB3E8"/>
          </a:solidFill>
          <a:ln w="1270">
            <a:solidFill>
              <a:srgbClr val="CBB3E8">
                <a:alpha val="0"/>
              </a:srgbClr>
            </a:solidFill>
            <a:prstDash val="solid"/>
          </a:ln>
        </p:spPr>
      </p:sp>
      <p:sp>
        <p:nvSpPr>
          <p:cNvPr id="5" name="Shape 3"/>
          <p:cNvSpPr/>
          <p:nvPr/>
        </p:nvSpPr>
        <p:spPr>
          <a:xfrm>
            <a:off x="566928" y="384048"/>
            <a:ext cx="68580" cy="68580"/>
          </a:xfrm>
          <a:prstGeom prst="rect">
            <a:avLst/>
          </a:prstGeom>
          <a:solidFill>
            <a:srgbClr val="F4F5EF"/>
          </a:solidFill>
          <a:ln w="1270">
            <a:solidFill>
              <a:srgbClr val="F4F5EF">
                <a:alpha val="0"/>
              </a:srgbClr>
            </a:solidFill>
            <a:prstDash val="solid"/>
          </a:ln>
        </p:spPr>
      </p:sp>
      <p:sp>
        <p:nvSpPr>
          <p:cNvPr id="6" name="Shape 4"/>
          <p:cNvSpPr/>
          <p:nvPr/>
        </p:nvSpPr>
        <p:spPr>
          <a:xfrm>
            <a:off x="685800" y="384048"/>
            <a:ext cx="68580" cy="68580"/>
          </a:xfrm>
          <a:prstGeom prst="rect">
            <a:avLst/>
          </a:prstGeom>
          <a:solidFill>
            <a:srgbClr val="D4FF3F"/>
          </a:solidFill>
          <a:ln w="1270">
            <a:solidFill>
              <a:srgbClr val="D4FF3F">
                <a:alpha val="0"/>
              </a:srgbClr>
            </a:solidFill>
            <a:prstDash val="solid"/>
          </a:ln>
        </p:spPr>
      </p:sp>
      <p:sp>
        <p:nvSpPr>
          <p:cNvPr id="7" name="Shape 5"/>
          <p:cNvSpPr/>
          <p:nvPr/>
        </p:nvSpPr>
        <p:spPr>
          <a:xfrm>
            <a:off x="804672" y="384048"/>
            <a:ext cx="68580" cy="68580"/>
          </a:xfrm>
          <a:prstGeom prst="rect">
            <a:avLst/>
          </a:prstGeom>
          <a:solidFill>
            <a:srgbClr val="F4F5EF"/>
          </a:solidFill>
          <a:ln w="1270">
            <a:solidFill>
              <a:srgbClr val="F4F5EF">
                <a:alpha val="0"/>
              </a:srgbClr>
            </a:solidFill>
            <a:prstDash val="solid"/>
          </a:ln>
        </p:spPr>
      </p:sp>
      <p:sp>
        <p:nvSpPr>
          <p:cNvPr id="8" name="Text 6"/>
          <p:cNvSpPr txBox="1"/>
          <p:nvPr/>
        </p:nvSpPr>
        <p:spPr>
          <a:xfrm>
            <a:off x="978408" y="242316"/>
            <a:ext cx="1234440" cy="237744"/>
          </a:xfrm>
          <a:prstGeom prst="rect">
            <a:avLst/>
          </a:prstGeom>
          <a:noFill/>
          <a:ln/>
        </p:spPr>
        <p:txBody>
          <a:bodyPr wrap="square" lIns="0" tIns="0" rIns="0" bIns="0" rtlCol="0" anchor="ctr">
            <a:normAutofit/>
          </a:bodyPr>
          <a:lstStyle/>
          <a:p>
            <a:pPr algn="l" indent="0" marL="0">
              <a:buNone/>
            </a:pPr>
            <a:r>
              <a:rPr lang="en-US" sz="1300" b="1" spc="110" kern="0" dirty="0">
                <a:solidFill>
                  <a:srgbClr val="0D120F"/>
                </a:solidFill>
                <a:latin typeface="Inter" pitchFamily="34" charset="0"/>
                <a:ea typeface="Inter" pitchFamily="34" charset="-122"/>
                <a:cs typeface="Inter" pitchFamily="34" charset="-120"/>
              </a:rPr>
              <a:t>RISKORA</a:t>
            </a:r>
            <a:endParaRPr lang="en-US" sz="1300" dirty="0"/>
          </a:p>
        </p:txBody>
      </p:sp>
      <p:sp>
        <p:nvSpPr>
          <p:cNvPr id="9" name="Text 7"/>
          <p:cNvSpPr txBox="1"/>
          <p:nvPr/>
        </p:nvSpPr>
        <p:spPr>
          <a:xfrm>
            <a:off x="8503920" y="283464"/>
            <a:ext cx="3108960" cy="164592"/>
          </a:xfrm>
          <a:prstGeom prst="rect">
            <a:avLst/>
          </a:prstGeom>
          <a:noFill/>
          <a:ln/>
        </p:spPr>
        <p:txBody>
          <a:bodyPr wrap="square" lIns="0" tIns="0" rIns="0" bIns="0" rtlCol="0" anchor="ctr">
            <a:normAutofit/>
          </a:bodyPr>
          <a:lstStyle/>
          <a:p>
            <a:pPr algn="r" indent="0" marL="0">
              <a:buNone/>
            </a:pPr>
            <a:r>
              <a:rPr lang="en-US" sz="870" b="1" spc="140" kern="0" dirty="0">
                <a:solidFill>
                  <a:srgbClr val="69736A"/>
                </a:solidFill>
                <a:latin typeface="Inter" pitchFamily="34" charset="0"/>
                <a:ea typeface="Inter" pitchFamily="34" charset="-122"/>
                <a:cs typeface="Inter" pitchFamily="34" charset="-120"/>
              </a:rPr>
              <a:t>03 / METHOD</a:t>
            </a:r>
            <a:endParaRPr lang="en-US" sz="870" dirty="0"/>
          </a:p>
        </p:txBody>
      </p:sp>
      <p:sp>
        <p:nvSpPr>
          <p:cNvPr id="10" name="Shape 8"/>
          <p:cNvSpPr/>
          <p:nvPr/>
        </p:nvSpPr>
        <p:spPr>
          <a:xfrm>
            <a:off x="566928" y="658368"/>
            <a:ext cx="11064240" cy="0"/>
          </a:xfrm>
          <a:prstGeom prst="line">
            <a:avLst/>
          </a:prstGeom>
          <a:noFill/>
          <a:ln w="10160">
            <a:solidFill>
              <a:srgbClr val="DDE2D9"/>
            </a:solidFill>
            <a:prstDash val="solid"/>
            <a:headEnd type="none"/>
            <a:tailEnd type="none"/>
          </a:ln>
        </p:spPr>
      </p:sp>
      <p:sp>
        <p:nvSpPr>
          <p:cNvPr id="11" name="Text 9"/>
          <p:cNvSpPr txBox="1"/>
          <p:nvPr/>
        </p:nvSpPr>
        <p:spPr>
          <a:xfrm>
            <a:off x="566928" y="868680"/>
            <a:ext cx="11018520" cy="658368"/>
          </a:xfrm>
          <a:prstGeom prst="rect">
            <a:avLst/>
          </a:prstGeom>
          <a:noFill/>
          <a:ln/>
        </p:spPr>
        <p:txBody>
          <a:bodyPr wrap="square" lIns="0" tIns="0" rIns="0" bIns="0" rtlCol="0" anchor="ctr">
            <a:normAutofit/>
          </a:bodyPr>
          <a:lstStyle/>
          <a:p>
            <a:pPr algn="l" indent="0" marL="0">
              <a:buNone/>
            </a:pPr>
            <a:r>
              <a:rPr lang="en-US" sz="2900" b="1" dirty="0">
                <a:solidFill>
                  <a:srgbClr val="0D120F"/>
                </a:solidFill>
                <a:latin typeface="Inter Display" pitchFamily="34" charset="0"/>
                <a:ea typeface="Inter Display" pitchFamily="34" charset="-122"/>
                <a:cs typeface="Inter Display" pitchFamily="34" charset="-120"/>
              </a:rPr>
              <a:t>We model a future disclosed position — not a private trade.</a:t>
            </a:r>
            <a:endParaRPr lang="en-US" sz="2900" dirty="0"/>
          </a:p>
        </p:txBody>
      </p:sp>
      <p:sp>
        <p:nvSpPr>
          <p:cNvPr id="12" name="Text 10"/>
          <p:cNvSpPr txBox="1"/>
          <p:nvPr/>
        </p:nvSpPr>
        <p:spPr>
          <a:xfrm>
            <a:off x="585216" y="1572768"/>
            <a:ext cx="10698480" cy="384048"/>
          </a:xfrm>
          <a:prstGeom prst="rect">
            <a:avLst/>
          </a:prstGeom>
          <a:noFill/>
          <a:ln/>
        </p:spPr>
        <p:txBody>
          <a:bodyPr wrap="square" lIns="0" tIns="0" rIns="0" bIns="0" rtlCol="0" anchor="t">
            <a:normAutofit/>
          </a:bodyPr>
          <a:lstStyle/>
          <a:p>
            <a:pPr algn="l" indent="0" marL="0">
              <a:buNone/>
            </a:pPr>
            <a:r>
              <a:rPr lang="en-US" sz="1320" dirty="0">
                <a:solidFill>
                  <a:srgbClr val="69736A"/>
                </a:solidFill>
                <a:latin typeface="Inter" pitchFamily="34" charset="0"/>
                <a:ea typeface="Inter" pitchFamily="34" charset="-122"/>
                <a:cs typeface="Inter" pitchFamily="34" charset="-120"/>
              </a:rPr>
              <a:t>The product is designed around time-valid evidence and explicit unknowns.</a:t>
            </a:r>
            <a:endParaRPr lang="en-US" sz="1320" dirty="0"/>
          </a:p>
        </p:txBody>
      </p:sp>
      <p:sp>
        <p:nvSpPr>
          <p:cNvPr id="13" name="Text 11"/>
          <p:cNvSpPr txBox="1"/>
          <p:nvPr/>
        </p:nvSpPr>
        <p:spPr>
          <a:xfrm>
            <a:off x="566928" y="6492240"/>
            <a:ext cx="5029200" cy="146304"/>
          </a:xfrm>
          <a:prstGeom prst="rect">
            <a:avLst/>
          </a:prstGeom>
          <a:noFill/>
          <a:ln/>
        </p:spPr>
        <p:txBody>
          <a:bodyPr wrap="square" lIns="0" tIns="0" rIns="0" bIns="0" rtlCol="0" anchor="ctr">
            <a:normAutofit/>
          </a:bodyPr>
          <a:lstStyle/>
          <a:p>
            <a:pPr algn="l" indent="0" marL="0">
              <a:buNone/>
            </a:pPr>
            <a:r>
              <a:rPr lang="en-US" sz="820" b="1" spc="90" kern="0" dirty="0">
                <a:solidFill>
                  <a:srgbClr val="7A837A"/>
                </a:solidFill>
                <a:latin typeface="Inter" pitchFamily="34" charset="0"/>
                <a:ea typeface="Inter" pitchFamily="34" charset="-122"/>
                <a:cs typeface="Inter" pitchFamily="34" charset="-120"/>
              </a:rPr>
              <a:t>AIBOomi STARTUP WEEKEND  ·  KOCHI 2026</a:t>
            </a:r>
            <a:endParaRPr lang="en-US" sz="820" dirty="0"/>
          </a:p>
        </p:txBody>
      </p:sp>
      <p:sp>
        <p:nvSpPr>
          <p:cNvPr id="14" name="Text 12"/>
          <p:cNvSpPr txBox="1"/>
          <p:nvPr/>
        </p:nvSpPr>
        <p:spPr>
          <a:xfrm>
            <a:off x="10991088" y="6473952"/>
            <a:ext cx="612648" cy="182880"/>
          </a:xfrm>
          <a:prstGeom prst="rect">
            <a:avLst/>
          </a:prstGeom>
          <a:noFill/>
          <a:ln/>
        </p:spPr>
        <p:txBody>
          <a:bodyPr wrap="square" lIns="0" tIns="0" rIns="0" bIns="0" rtlCol="0" anchor="ctr">
            <a:normAutofit/>
          </a:bodyPr>
          <a:lstStyle/>
          <a:p>
            <a:pPr algn="r" indent="0" marL="0">
              <a:buNone/>
            </a:pPr>
            <a:r>
              <a:rPr lang="en-US" sz="900" b="1" dirty="0">
                <a:solidFill>
                  <a:srgbClr val="7A837A"/>
                </a:solidFill>
                <a:latin typeface="Inter" pitchFamily="34" charset="0"/>
                <a:ea typeface="Inter" pitchFamily="34" charset="-122"/>
                <a:cs typeface="Inter" pitchFamily="34" charset="-120"/>
              </a:rPr>
              <a:t>04 / 06</a:t>
            </a:r>
            <a:endParaRPr lang="en-US" sz="900" dirty="0"/>
          </a:p>
        </p:txBody>
      </p:sp>
      <p:sp>
        <p:nvSpPr>
          <p:cNvPr id="15" name="Shape 13"/>
          <p:cNvSpPr/>
          <p:nvPr/>
        </p:nvSpPr>
        <p:spPr>
          <a:xfrm>
            <a:off x="603504" y="2139696"/>
            <a:ext cx="3785616" cy="3474720"/>
          </a:xfrm>
          <a:prstGeom prst="roundRect">
            <a:avLst/>
          </a:prstGeom>
          <a:solidFill>
            <a:srgbClr val="0D120F"/>
          </a:solidFill>
          <a:ln w="10160">
            <a:solidFill>
              <a:srgbClr val="0D120F"/>
            </a:solidFill>
            <a:prstDash val="solid"/>
          </a:ln>
        </p:spPr>
      </p:sp>
      <p:sp>
        <p:nvSpPr>
          <p:cNvPr id="16" name="Text 14"/>
          <p:cNvSpPr txBox="1"/>
          <p:nvPr/>
        </p:nvSpPr>
        <p:spPr>
          <a:xfrm>
            <a:off x="877824" y="2450592"/>
            <a:ext cx="2103120" cy="164592"/>
          </a:xfrm>
          <a:prstGeom prst="rect">
            <a:avLst/>
          </a:prstGeom>
          <a:noFill/>
          <a:ln/>
        </p:spPr>
        <p:txBody>
          <a:bodyPr wrap="square" lIns="0" tIns="0" rIns="0" bIns="0" rtlCol="0" anchor="ctr">
            <a:normAutofit/>
          </a:bodyPr>
          <a:lstStyle/>
          <a:p>
            <a:pPr algn="l" indent="0" marL="0">
              <a:buNone/>
            </a:pPr>
            <a:r>
              <a:rPr lang="en-US" sz="870" b="1" spc="120" kern="0" dirty="0">
                <a:solidFill>
                  <a:srgbClr val="D4FF3F"/>
                </a:solidFill>
                <a:latin typeface="Inter" pitchFamily="34" charset="0"/>
                <a:ea typeface="Inter" pitchFamily="34" charset="-122"/>
                <a:cs typeface="Inter" pitchFamily="34" charset="-120"/>
              </a:rPr>
              <a:t>THE CUTOFF RULE</a:t>
            </a:r>
            <a:endParaRPr lang="en-US" sz="870" dirty="0"/>
          </a:p>
        </p:txBody>
      </p:sp>
      <p:sp>
        <p:nvSpPr>
          <p:cNvPr id="17" name="Text 15"/>
          <p:cNvSpPr txBox="1"/>
          <p:nvPr/>
        </p:nvSpPr>
        <p:spPr>
          <a:xfrm>
            <a:off x="877824" y="2816352"/>
            <a:ext cx="2990088" cy="859536"/>
          </a:xfrm>
          <a:prstGeom prst="rect">
            <a:avLst/>
          </a:prstGeom>
          <a:noFill/>
          <a:ln/>
        </p:spPr>
        <p:txBody>
          <a:bodyPr wrap="square" lIns="0" tIns="0" rIns="0" bIns="0" rtlCol="0" anchor="t">
            <a:normAutofit/>
          </a:bodyPr>
          <a:lstStyle/>
          <a:p>
            <a:pPr algn="l" indent="0" marL="0">
              <a:buNone/>
            </a:pPr>
            <a:r>
              <a:rPr lang="en-US" sz="2200" b="1" dirty="0">
                <a:solidFill>
                  <a:srgbClr val="F4F5EF"/>
                </a:solidFill>
                <a:latin typeface="Inter" pitchFamily="34" charset="0"/>
                <a:ea typeface="Inter" pitchFamily="34" charset="-122"/>
                <a:cs typeface="Inter" pitchFamily="34" charset="-120"/>
              </a:rPr>
              <a:t>Would this evidence</a:t>
            </a:r>
            <a:endParaRPr lang="en-US" sz="2200" dirty="0"/>
          </a:p>
          <a:p>
            <a:pPr algn="l" indent="0" marL="0">
              <a:buNone/>
            </a:pPr>
            <a:r>
              <a:rPr lang="en-US" sz="2200" b="1" dirty="0">
                <a:solidFill>
                  <a:srgbClr val="F4F5EF"/>
                </a:solidFill>
                <a:latin typeface="Inter" pitchFamily="34" charset="0"/>
                <a:ea typeface="Inter" pitchFamily="34" charset="-122"/>
                <a:cs typeface="Inter" pitchFamily="34" charset="-120"/>
              </a:rPr>
              <a:t>have been knowable then?</a:t>
            </a:r>
            <a:endParaRPr lang="en-US" sz="2200" dirty="0"/>
          </a:p>
        </p:txBody>
      </p:sp>
      <p:sp>
        <p:nvSpPr>
          <p:cNvPr id="18" name="Shape 16"/>
          <p:cNvSpPr/>
          <p:nvPr/>
        </p:nvSpPr>
        <p:spPr>
          <a:xfrm>
            <a:off x="914400" y="4069080"/>
            <a:ext cx="3108960" cy="0"/>
          </a:xfrm>
          <a:prstGeom prst="line">
            <a:avLst/>
          </a:prstGeom>
          <a:noFill/>
          <a:ln w="13970">
            <a:solidFill>
              <a:srgbClr val="3A493D"/>
            </a:solidFill>
            <a:prstDash val="solid"/>
            <a:headEnd type="none"/>
            <a:tailEnd type="none"/>
          </a:ln>
        </p:spPr>
      </p:sp>
      <p:sp>
        <p:nvSpPr>
          <p:cNvPr id="19" name="Shape 17"/>
          <p:cNvSpPr/>
          <p:nvPr/>
        </p:nvSpPr>
        <p:spPr>
          <a:xfrm>
            <a:off x="941832" y="4343400"/>
            <a:ext cx="128016" cy="128016"/>
          </a:xfrm>
          <a:prstGeom prst="ellipse">
            <a:avLst/>
          </a:prstGeom>
          <a:solidFill>
            <a:srgbClr val="D4FF3F"/>
          </a:solidFill>
          <a:ln w="1270">
            <a:solidFill>
              <a:srgbClr val="D4FF3F">
                <a:alpha val="0"/>
              </a:srgbClr>
            </a:solidFill>
            <a:prstDash val="solid"/>
          </a:ln>
        </p:spPr>
      </p:sp>
      <p:sp>
        <p:nvSpPr>
          <p:cNvPr id="20" name="Text 18"/>
          <p:cNvSpPr txBox="1"/>
          <p:nvPr/>
        </p:nvSpPr>
        <p:spPr>
          <a:xfrm>
            <a:off x="1188720" y="4297680"/>
            <a:ext cx="2377440" cy="237744"/>
          </a:xfrm>
          <a:prstGeom prst="rect">
            <a:avLst/>
          </a:prstGeom>
          <a:noFill/>
          <a:ln/>
        </p:spPr>
        <p:txBody>
          <a:bodyPr wrap="square" lIns="0" tIns="0" rIns="0" bIns="0" rtlCol="0" anchor="ctr">
            <a:normAutofit/>
          </a:bodyPr>
          <a:lstStyle/>
          <a:p>
            <a:pPr algn="l" indent="0" marL="0">
              <a:buNone/>
            </a:pPr>
            <a:r>
              <a:rPr lang="en-US" sz="1200" b="1" dirty="0">
                <a:solidFill>
                  <a:srgbClr val="F4F5EF"/>
                </a:solidFill>
                <a:latin typeface="Inter" pitchFamily="34" charset="0"/>
                <a:ea typeface="Inter" pitchFamily="34" charset="-122"/>
                <a:cs typeface="Inter" pitchFamily="34" charset="-120"/>
              </a:rPr>
              <a:t>Information cutoff</a:t>
            </a:r>
            <a:endParaRPr lang="en-US" sz="1200" dirty="0"/>
          </a:p>
        </p:txBody>
      </p:sp>
      <p:sp>
        <p:nvSpPr>
          <p:cNvPr id="21" name="Shape 19"/>
          <p:cNvSpPr/>
          <p:nvPr/>
        </p:nvSpPr>
        <p:spPr>
          <a:xfrm>
            <a:off x="941832" y="4745736"/>
            <a:ext cx="128016" cy="128016"/>
          </a:xfrm>
          <a:prstGeom prst="ellipse">
            <a:avLst/>
          </a:prstGeom>
          <a:solidFill>
            <a:srgbClr val="CBB3E8"/>
          </a:solidFill>
          <a:ln w="1270">
            <a:solidFill>
              <a:srgbClr val="CBB3E8">
                <a:alpha val="0"/>
              </a:srgbClr>
            </a:solidFill>
            <a:prstDash val="solid"/>
          </a:ln>
        </p:spPr>
      </p:sp>
      <p:sp>
        <p:nvSpPr>
          <p:cNvPr id="22" name="Text 20"/>
          <p:cNvSpPr txBox="1"/>
          <p:nvPr/>
        </p:nvSpPr>
        <p:spPr>
          <a:xfrm>
            <a:off x="1188720" y="4700016"/>
            <a:ext cx="2633472" cy="237744"/>
          </a:xfrm>
          <a:prstGeom prst="rect">
            <a:avLst/>
          </a:prstGeom>
          <a:noFill/>
          <a:ln/>
        </p:spPr>
        <p:txBody>
          <a:bodyPr wrap="square" lIns="0" tIns="0" rIns="0" bIns="0" rtlCol="0" anchor="ctr">
            <a:normAutofit/>
          </a:bodyPr>
          <a:lstStyle/>
          <a:p>
            <a:pPr algn="l" indent="0" marL="0">
              <a:buNone/>
            </a:pPr>
            <a:r>
              <a:rPr lang="en-US" sz="1200" b="1" dirty="0">
                <a:solidFill>
                  <a:srgbClr val="F4F5EF"/>
                </a:solidFill>
                <a:latin typeface="Inter" pitchFamily="34" charset="0"/>
                <a:ea typeface="Inter" pitchFamily="34" charset="-122"/>
                <a:cs typeface="Inter" pitchFamily="34" charset="-120"/>
              </a:rPr>
              <a:t>Comparable statements</a:t>
            </a:r>
            <a:endParaRPr lang="en-US" sz="1200" dirty="0"/>
          </a:p>
        </p:txBody>
      </p:sp>
      <p:sp>
        <p:nvSpPr>
          <p:cNvPr id="23" name="Shape 21"/>
          <p:cNvSpPr/>
          <p:nvPr/>
        </p:nvSpPr>
        <p:spPr>
          <a:xfrm>
            <a:off x="941832" y="5148072"/>
            <a:ext cx="128016" cy="128016"/>
          </a:xfrm>
          <a:prstGeom prst="ellipse">
            <a:avLst/>
          </a:prstGeom>
          <a:solidFill>
            <a:srgbClr val="C7E5D1"/>
          </a:solidFill>
          <a:ln w="1270">
            <a:solidFill>
              <a:srgbClr val="C7E5D1">
                <a:alpha val="0"/>
              </a:srgbClr>
            </a:solidFill>
            <a:prstDash val="solid"/>
          </a:ln>
        </p:spPr>
      </p:sp>
      <p:sp>
        <p:nvSpPr>
          <p:cNvPr id="24" name="Text 22"/>
          <p:cNvSpPr txBox="1"/>
          <p:nvPr/>
        </p:nvSpPr>
        <p:spPr>
          <a:xfrm>
            <a:off x="1188720" y="5102352"/>
            <a:ext cx="2633472" cy="237744"/>
          </a:xfrm>
          <a:prstGeom prst="rect">
            <a:avLst/>
          </a:prstGeom>
          <a:noFill/>
          <a:ln/>
        </p:spPr>
        <p:txBody>
          <a:bodyPr wrap="square" lIns="0" tIns="0" rIns="0" bIns="0" rtlCol="0" anchor="ctr">
            <a:normAutofit/>
          </a:bodyPr>
          <a:lstStyle/>
          <a:p>
            <a:pPr algn="l" indent="0" marL="0">
              <a:buNone/>
            </a:pPr>
            <a:r>
              <a:rPr lang="en-US" sz="1200" b="1" dirty="0">
                <a:solidFill>
                  <a:srgbClr val="F4F5EF"/>
                </a:solidFill>
                <a:latin typeface="Inter" pitchFamily="34" charset="0"/>
                <a:ea typeface="Inter" pitchFamily="34" charset="-122"/>
                <a:cs typeface="Inter" pitchFamily="34" charset="-120"/>
              </a:rPr>
              <a:t>Unknown is not negative</a:t>
            </a:r>
            <a:endParaRPr lang="en-US" sz="1200" dirty="0"/>
          </a:p>
        </p:txBody>
      </p:sp>
      <p:sp>
        <p:nvSpPr>
          <p:cNvPr id="25" name="Shape 23"/>
          <p:cNvSpPr/>
          <p:nvPr/>
        </p:nvSpPr>
        <p:spPr>
          <a:xfrm>
            <a:off x="4709160" y="2157984"/>
            <a:ext cx="6839712" cy="832104"/>
          </a:xfrm>
          <a:prstGeom prst="roundRect">
            <a:avLst/>
          </a:prstGeom>
          <a:solidFill>
            <a:srgbClr val="FFFFFF"/>
          </a:solidFill>
          <a:ln w="10160">
            <a:solidFill>
              <a:srgbClr val="DDE2D9"/>
            </a:solidFill>
            <a:prstDash val="solid"/>
          </a:ln>
        </p:spPr>
      </p:sp>
      <p:sp>
        <p:nvSpPr>
          <p:cNvPr id="26" name="Text 24"/>
          <p:cNvSpPr txBox="1"/>
          <p:nvPr/>
        </p:nvSpPr>
        <p:spPr>
          <a:xfrm>
            <a:off x="4956048" y="2386584"/>
            <a:ext cx="420624" cy="228600"/>
          </a:xfrm>
          <a:prstGeom prst="rect">
            <a:avLst/>
          </a:prstGeom>
          <a:noFill/>
          <a:ln/>
        </p:spPr>
        <p:txBody>
          <a:bodyPr wrap="square" lIns="0" tIns="0" rIns="0" bIns="0" rtlCol="0" anchor="ctr">
            <a:normAutofit/>
          </a:bodyPr>
          <a:lstStyle/>
          <a:p>
            <a:pPr algn="l" indent="0" marL="0">
              <a:buNone/>
            </a:pPr>
            <a:r>
              <a:rPr lang="en-US" sz="1000" b="1" dirty="0">
                <a:solidFill>
                  <a:srgbClr val="2F6B4D"/>
                </a:solidFill>
                <a:latin typeface="Inter" pitchFamily="34" charset="0"/>
                <a:ea typeface="Inter" pitchFamily="34" charset="-122"/>
                <a:cs typeface="Inter" pitchFamily="34" charset="-120"/>
              </a:rPr>
              <a:t>01</a:t>
            </a:r>
            <a:endParaRPr lang="en-US" sz="1000" dirty="0"/>
          </a:p>
        </p:txBody>
      </p:sp>
      <p:sp>
        <p:nvSpPr>
          <p:cNvPr id="27" name="Text 25"/>
          <p:cNvSpPr txBox="1"/>
          <p:nvPr/>
        </p:nvSpPr>
        <p:spPr>
          <a:xfrm>
            <a:off x="5504688" y="2340864"/>
            <a:ext cx="2157984" cy="256032"/>
          </a:xfrm>
          <a:prstGeom prst="rect">
            <a:avLst/>
          </a:prstGeom>
          <a:noFill/>
          <a:ln/>
        </p:spPr>
        <p:txBody>
          <a:bodyPr wrap="square" lIns="0" tIns="0" rIns="0" bIns="0" rtlCol="0" anchor="ctr">
            <a:normAutofit/>
          </a:bodyPr>
          <a:lstStyle/>
          <a:p>
            <a:pPr algn="l" indent="0" marL="0">
              <a:buNone/>
            </a:pPr>
            <a:r>
              <a:rPr lang="en-US" sz="1450" b="1" dirty="0">
                <a:solidFill>
                  <a:srgbClr val="0D120F"/>
                </a:solidFill>
                <a:latin typeface="Inter" pitchFamily="34" charset="0"/>
                <a:ea typeface="Inter" pitchFamily="34" charset="-122"/>
                <a:cs typeface="Inter" pitchFamily="34" charset="-120"/>
              </a:rPr>
              <a:t>Time-aware features</a:t>
            </a:r>
            <a:endParaRPr lang="en-US" sz="1450" dirty="0"/>
          </a:p>
        </p:txBody>
      </p:sp>
      <p:sp>
        <p:nvSpPr>
          <p:cNvPr id="28" name="Text 26"/>
          <p:cNvSpPr txBox="1"/>
          <p:nvPr/>
        </p:nvSpPr>
        <p:spPr>
          <a:xfrm>
            <a:off x="7909560" y="2350008"/>
            <a:ext cx="3200400" cy="393192"/>
          </a:xfrm>
          <a:prstGeom prst="rect">
            <a:avLst/>
          </a:prstGeom>
          <a:noFill/>
          <a:ln/>
        </p:spPr>
        <p:txBody>
          <a:bodyPr wrap="square" lIns="0" tIns="0" rIns="0" bIns="0" rtlCol="0" anchor="t">
            <a:normAutofit/>
          </a:bodyPr>
          <a:lstStyle/>
          <a:p>
            <a:pPr algn="l" indent="0" marL="0">
              <a:buNone/>
            </a:pPr>
            <a:r>
              <a:rPr lang="en-US" sz="1040" dirty="0">
                <a:solidFill>
                  <a:srgbClr val="69736A"/>
                </a:solidFill>
                <a:latin typeface="Inter" pitchFamily="34" charset="0"/>
                <a:ea typeface="Inter" pitchFamily="34" charset="-122"/>
                <a:cs typeface="Inter" pitchFamily="34" charset="-120"/>
              </a:rPr>
              <a:t>Inputs must exist by the historical cutoff.</a:t>
            </a:r>
            <a:endParaRPr lang="en-US" sz="1040" dirty="0"/>
          </a:p>
        </p:txBody>
      </p:sp>
      <p:sp>
        <p:nvSpPr>
          <p:cNvPr id="29" name="Shape 27"/>
          <p:cNvSpPr/>
          <p:nvPr/>
        </p:nvSpPr>
        <p:spPr>
          <a:xfrm>
            <a:off x="4709160" y="3182112"/>
            <a:ext cx="6839712" cy="832104"/>
          </a:xfrm>
          <a:prstGeom prst="roundRect">
            <a:avLst/>
          </a:prstGeom>
          <a:solidFill>
            <a:srgbClr val="FFFFFF"/>
          </a:solidFill>
          <a:ln w="10160">
            <a:solidFill>
              <a:srgbClr val="DDE2D9"/>
            </a:solidFill>
            <a:prstDash val="solid"/>
          </a:ln>
        </p:spPr>
      </p:sp>
      <p:sp>
        <p:nvSpPr>
          <p:cNvPr id="30" name="Text 28"/>
          <p:cNvSpPr txBox="1"/>
          <p:nvPr/>
        </p:nvSpPr>
        <p:spPr>
          <a:xfrm>
            <a:off x="4956048" y="3410712"/>
            <a:ext cx="420624" cy="228600"/>
          </a:xfrm>
          <a:prstGeom prst="rect">
            <a:avLst/>
          </a:prstGeom>
          <a:noFill/>
          <a:ln/>
        </p:spPr>
        <p:txBody>
          <a:bodyPr wrap="square" lIns="0" tIns="0" rIns="0" bIns="0" rtlCol="0" anchor="ctr">
            <a:normAutofit/>
          </a:bodyPr>
          <a:lstStyle/>
          <a:p>
            <a:pPr algn="l" indent="0" marL="0">
              <a:buNone/>
            </a:pPr>
            <a:r>
              <a:rPr lang="en-US" sz="1000" b="1" dirty="0">
                <a:solidFill>
                  <a:srgbClr val="2F6B4D"/>
                </a:solidFill>
                <a:latin typeface="Inter" pitchFamily="34" charset="0"/>
                <a:ea typeface="Inter" pitchFamily="34" charset="-122"/>
                <a:cs typeface="Inter" pitchFamily="34" charset="-120"/>
              </a:rPr>
              <a:t>02</a:t>
            </a:r>
            <a:endParaRPr lang="en-US" sz="1000" dirty="0"/>
          </a:p>
        </p:txBody>
      </p:sp>
      <p:sp>
        <p:nvSpPr>
          <p:cNvPr id="31" name="Text 29"/>
          <p:cNvSpPr txBox="1"/>
          <p:nvPr/>
        </p:nvSpPr>
        <p:spPr>
          <a:xfrm>
            <a:off x="5504688" y="3364992"/>
            <a:ext cx="2157984" cy="256032"/>
          </a:xfrm>
          <a:prstGeom prst="rect">
            <a:avLst/>
          </a:prstGeom>
          <a:noFill/>
          <a:ln/>
        </p:spPr>
        <p:txBody>
          <a:bodyPr wrap="square" lIns="0" tIns="0" rIns="0" bIns="0" rtlCol="0" anchor="ctr">
            <a:normAutofit/>
          </a:bodyPr>
          <a:lstStyle/>
          <a:p>
            <a:pPr algn="l" indent="0" marL="0">
              <a:buNone/>
            </a:pPr>
            <a:r>
              <a:rPr lang="en-US" sz="1450" b="1" dirty="0">
                <a:solidFill>
                  <a:srgbClr val="0D120F"/>
                </a:solidFill>
                <a:latin typeface="Inter" pitchFamily="34" charset="0"/>
                <a:ea typeface="Inter" pitchFamily="34" charset="-122"/>
                <a:cs typeface="Inter" pitchFamily="34" charset="-120"/>
              </a:rPr>
              <a:t>Comparable snapshots</a:t>
            </a:r>
            <a:endParaRPr lang="en-US" sz="1450" dirty="0"/>
          </a:p>
        </p:txBody>
      </p:sp>
      <p:sp>
        <p:nvSpPr>
          <p:cNvPr id="32" name="Text 30"/>
          <p:cNvSpPr txBox="1"/>
          <p:nvPr/>
        </p:nvSpPr>
        <p:spPr>
          <a:xfrm>
            <a:off x="7909560" y="3374136"/>
            <a:ext cx="3200400" cy="393192"/>
          </a:xfrm>
          <a:prstGeom prst="rect">
            <a:avLst/>
          </a:prstGeom>
          <a:noFill/>
          <a:ln/>
        </p:spPr>
        <p:txBody>
          <a:bodyPr wrap="square" lIns="0" tIns="0" rIns="0" bIns="0" rtlCol="0" anchor="t">
            <a:normAutofit/>
          </a:bodyPr>
          <a:lstStyle/>
          <a:p>
            <a:pPr algn="l" indent="0" marL="0">
              <a:buNone/>
            </a:pPr>
            <a:r>
              <a:rPr lang="en-US" sz="1040" dirty="0">
                <a:solidFill>
                  <a:srgbClr val="69736A"/>
                </a:solidFill>
                <a:latin typeface="Inter" pitchFamily="34" charset="0"/>
                <a:ea typeface="Inter" pitchFamily="34" charset="-122"/>
                <a:cs typeface="Inter" pitchFamily="34" charset="-120"/>
              </a:rPr>
              <a:t>Only valid statement pairs create labels.</a:t>
            </a:r>
            <a:endParaRPr lang="en-US" sz="1040" dirty="0"/>
          </a:p>
        </p:txBody>
      </p:sp>
      <p:sp>
        <p:nvSpPr>
          <p:cNvPr id="33" name="Shape 31"/>
          <p:cNvSpPr/>
          <p:nvPr/>
        </p:nvSpPr>
        <p:spPr>
          <a:xfrm>
            <a:off x="4709160" y="4206240"/>
            <a:ext cx="6839712" cy="832104"/>
          </a:xfrm>
          <a:prstGeom prst="roundRect">
            <a:avLst/>
          </a:prstGeom>
          <a:solidFill>
            <a:srgbClr val="E6F0E7"/>
          </a:solidFill>
          <a:ln w="10160">
            <a:solidFill>
              <a:srgbClr val="DDE2D9"/>
            </a:solidFill>
            <a:prstDash val="solid"/>
          </a:ln>
        </p:spPr>
      </p:sp>
      <p:sp>
        <p:nvSpPr>
          <p:cNvPr id="34" name="Text 32"/>
          <p:cNvSpPr txBox="1"/>
          <p:nvPr/>
        </p:nvSpPr>
        <p:spPr>
          <a:xfrm>
            <a:off x="4956048" y="4434840"/>
            <a:ext cx="420624" cy="228600"/>
          </a:xfrm>
          <a:prstGeom prst="rect">
            <a:avLst/>
          </a:prstGeom>
          <a:noFill/>
          <a:ln/>
        </p:spPr>
        <p:txBody>
          <a:bodyPr wrap="square" lIns="0" tIns="0" rIns="0" bIns="0" rtlCol="0" anchor="ctr">
            <a:normAutofit/>
          </a:bodyPr>
          <a:lstStyle/>
          <a:p>
            <a:pPr algn="l" indent="0" marL="0">
              <a:buNone/>
            </a:pPr>
            <a:r>
              <a:rPr lang="en-US" sz="1000" b="1" dirty="0">
                <a:solidFill>
                  <a:srgbClr val="2F6B4D"/>
                </a:solidFill>
                <a:latin typeface="Inter" pitchFamily="34" charset="0"/>
                <a:ea typeface="Inter" pitchFamily="34" charset="-122"/>
                <a:cs typeface="Inter" pitchFamily="34" charset="-120"/>
              </a:rPr>
              <a:t>03</a:t>
            </a:r>
            <a:endParaRPr lang="en-US" sz="1000" dirty="0"/>
          </a:p>
        </p:txBody>
      </p:sp>
      <p:sp>
        <p:nvSpPr>
          <p:cNvPr id="35" name="Text 33"/>
          <p:cNvSpPr txBox="1"/>
          <p:nvPr/>
        </p:nvSpPr>
        <p:spPr>
          <a:xfrm>
            <a:off x="5504688" y="4389120"/>
            <a:ext cx="2157984" cy="256032"/>
          </a:xfrm>
          <a:prstGeom prst="rect">
            <a:avLst/>
          </a:prstGeom>
          <a:noFill/>
          <a:ln/>
        </p:spPr>
        <p:txBody>
          <a:bodyPr wrap="square" lIns="0" tIns="0" rIns="0" bIns="0" rtlCol="0" anchor="ctr">
            <a:normAutofit/>
          </a:bodyPr>
          <a:lstStyle/>
          <a:p>
            <a:pPr algn="l" indent="0" marL="0">
              <a:buNone/>
            </a:pPr>
            <a:r>
              <a:rPr lang="en-US" sz="1450" b="1" dirty="0">
                <a:solidFill>
                  <a:srgbClr val="0D120F"/>
                </a:solidFill>
                <a:latin typeface="Inter" pitchFamily="34" charset="0"/>
                <a:ea typeface="Inter" pitchFamily="34" charset="-122"/>
                <a:cs typeface="Inter" pitchFamily="34" charset="-120"/>
              </a:rPr>
              <a:t>Inspectable ranking</a:t>
            </a:r>
            <a:endParaRPr lang="en-US" sz="1450" dirty="0"/>
          </a:p>
        </p:txBody>
      </p:sp>
      <p:sp>
        <p:nvSpPr>
          <p:cNvPr id="36" name="Text 34"/>
          <p:cNvSpPr txBox="1"/>
          <p:nvPr/>
        </p:nvSpPr>
        <p:spPr>
          <a:xfrm>
            <a:off x="7909560" y="4398264"/>
            <a:ext cx="3200400" cy="393192"/>
          </a:xfrm>
          <a:prstGeom prst="rect">
            <a:avLst/>
          </a:prstGeom>
          <a:noFill/>
          <a:ln/>
        </p:spPr>
        <p:txBody>
          <a:bodyPr wrap="square" lIns="0" tIns="0" rIns="0" bIns="0" rtlCol="0" anchor="t">
            <a:normAutofit/>
          </a:bodyPr>
          <a:lstStyle/>
          <a:p>
            <a:pPr algn="l" indent="0" marL="0">
              <a:buNone/>
            </a:pPr>
            <a:r>
              <a:rPr lang="en-US" sz="1040" dirty="0">
                <a:solidFill>
                  <a:srgbClr val="69736A"/>
                </a:solidFill>
                <a:latin typeface="Inter" pitchFamily="34" charset="0"/>
                <a:ea typeface="Inter" pitchFamily="34" charset="-122"/>
                <a:cs typeface="Inter" pitchFamily="34" charset="-120"/>
              </a:rPr>
              <a:t>Review source rows and feature contributions.</a:t>
            </a:r>
            <a:endParaRPr lang="en-US" sz="1040" dirty="0"/>
          </a:p>
        </p:txBody>
      </p:sp>
      <p:sp>
        <p:nvSpPr>
          <p:cNvPr id="37" name="Text 35"/>
          <p:cNvSpPr txBox="1"/>
          <p:nvPr/>
        </p:nvSpPr>
        <p:spPr>
          <a:xfrm>
            <a:off x="621792" y="5815584"/>
            <a:ext cx="1325880" cy="164592"/>
          </a:xfrm>
          <a:prstGeom prst="rect">
            <a:avLst/>
          </a:prstGeom>
          <a:noFill/>
          <a:ln/>
        </p:spPr>
        <p:txBody>
          <a:bodyPr wrap="square" lIns="0" tIns="0" rIns="0" bIns="0" rtlCol="0" anchor="ctr">
            <a:normAutofit/>
          </a:bodyPr>
          <a:lstStyle/>
          <a:p>
            <a:pPr algn="l" indent="0" marL="0">
              <a:buNone/>
            </a:pPr>
            <a:r>
              <a:rPr lang="en-US" sz="830" b="1" spc="100" kern="0" dirty="0">
                <a:solidFill>
                  <a:srgbClr val="69736A"/>
                </a:solidFill>
                <a:latin typeface="Inter" pitchFamily="34" charset="0"/>
                <a:ea typeface="Inter" pitchFamily="34" charset="-122"/>
                <a:cs typeface="Inter" pitchFamily="34" charset="-120"/>
              </a:rPr>
              <a:t>UNDER THE HOOD</a:t>
            </a:r>
            <a:endParaRPr lang="en-US" sz="830" dirty="0"/>
          </a:p>
        </p:txBody>
      </p:sp>
      <p:sp>
        <p:nvSpPr>
          <p:cNvPr id="38" name="Shape 36"/>
          <p:cNvSpPr/>
          <p:nvPr/>
        </p:nvSpPr>
        <p:spPr>
          <a:xfrm>
            <a:off x="1874520" y="5760720"/>
            <a:ext cx="1344168" cy="283464"/>
          </a:xfrm>
          <a:prstGeom prst="roundRect">
            <a:avLst/>
          </a:prstGeom>
          <a:solidFill>
            <a:srgbClr val="E6F0E7"/>
          </a:solidFill>
          <a:ln w="1270">
            <a:solidFill>
              <a:srgbClr val="E6F0E7">
                <a:alpha val="0"/>
              </a:srgbClr>
            </a:solidFill>
            <a:prstDash val="solid"/>
          </a:ln>
        </p:spPr>
      </p:sp>
      <p:sp>
        <p:nvSpPr>
          <p:cNvPr id="39" name="Text 37"/>
          <p:cNvSpPr txBox="1"/>
          <p:nvPr/>
        </p:nvSpPr>
        <p:spPr>
          <a:xfrm>
            <a:off x="1984248" y="5779008"/>
            <a:ext cx="1124712" cy="228600"/>
          </a:xfrm>
          <a:prstGeom prst="rect">
            <a:avLst/>
          </a:prstGeom>
          <a:noFill/>
          <a:ln/>
        </p:spPr>
        <p:txBody>
          <a:bodyPr wrap="square" lIns="0" tIns="0" rIns="0" bIns="0" rtlCol="0" anchor="ctr">
            <a:normAutofit/>
          </a:bodyPr>
          <a:lstStyle/>
          <a:p>
            <a:pPr algn="ctr" indent="0" marL="0">
              <a:buNone/>
            </a:pPr>
            <a:r>
              <a:rPr lang="en-US" sz="830" b="1" spc="60" kern="0" dirty="0">
                <a:solidFill>
                  <a:srgbClr val="2F6B4D"/>
                </a:solidFill>
                <a:latin typeface="Inter" pitchFamily="34" charset="0"/>
                <a:ea typeface="Inter" pitchFamily="34" charset="-122"/>
                <a:cs typeface="Inter" pitchFamily="34" charset="-120"/>
              </a:rPr>
              <a:t>CSV + provenance</a:t>
            </a:r>
            <a:endParaRPr lang="en-US" sz="830" dirty="0"/>
          </a:p>
        </p:txBody>
      </p:sp>
      <p:sp>
        <p:nvSpPr>
          <p:cNvPr id="40" name="Text 38"/>
          <p:cNvSpPr txBox="1"/>
          <p:nvPr/>
        </p:nvSpPr>
        <p:spPr>
          <a:xfrm>
            <a:off x="3319272" y="5806440"/>
            <a:ext cx="128016" cy="155448"/>
          </a:xfrm>
          <a:prstGeom prst="rect">
            <a:avLst/>
          </a:prstGeom>
          <a:noFill/>
          <a:ln/>
        </p:spPr>
        <p:txBody>
          <a:bodyPr wrap="square" lIns="0" tIns="0" rIns="0" bIns="0" rtlCol="0" anchor="ctr">
            <a:normAutofit/>
          </a:bodyPr>
          <a:lstStyle/>
          <a:p>
            <a:pPr algn="ctr" indent="0" marL="0">
              <a:buNone/>
            </a:pPr>
            <a:r>
              <a:rPr lang="en-US" sz="900" b="1" dirty="0">
                <a:solidFill>
                  <a:srgbClr val="69736A"/>
                </a:solidFill>
                <a:latin typeface="Inter" pitchFamily="34" charset="0"/>
                <a:ea typeface="Inter" pitchFamily="34" charset="-122"/>
                <a:cs typeface="Inter" pitchFamily="34" charset="-120"/>
              </a:rPr>
              <a:t>→</a:t>
            </a:r>
            <a:endParaRPr lang="en-US" sz="900" dirty="0"/>
          </a:p>
        </p:txBody>
      </p:sp>
      <p:sp>
        <p:nvSpPr>
          <p:cNvPr id="41" name="Shape 39"/>
          <p:cNvSpPr/>
          <p:nvPr/>
        </p:nvSpPr>
        <p:spPr>
          <a:xfrm>
            <a:off x="3364992" y="5760720"/>
            <a:ext cx="1298448" cy="283464"/>
          </a:xfrm>
          <a:prstGeom prst="roundRect">
            <a:avLst/>
          </a:prstGeom>
          <a:solidFill>
            <a:srgbClr val="E6F0E7"/>
          </a:solidFill>
          <a:ln w="1270">
            <a:solidFill>
              <a:srgbClr val="E6F0E7">
                <a:alpha val="0"/>
              </a:srgbClr>
            </a:solidFill>
            <a:prstDash val="solid"/>
          </a:ln>
        </p:spPr>
      </p:sp>
      <p:sp>
        <p:nvSpPr>
          <p:cNvPr id="42" name="Text 40"/>
          <p:cNvSpPr txBox="1"/>
          <p:nvPr/>
        </p:nvSpPr>
        <p:spPr>
          <a:xfrm>
            <a:off x="3474720" y="5779008"/>
            <a:ext cx="1078992" cy="228600"/>
          </a:xfrm>
          <a:prstGeom prst="rect">
            <a:avLst/>
          </a:prstGeom>
          <a:noFill/>
          <a:ln/>
        </p:spPr>
        <p:txBody>
          <a:bodyPr wrap="square" lIns="0" tIns="0" rIns="0" bIns="0" rtlCol="0" anchor="ctr">
            <a:normAutofit/>
          </a:bodyPr>
          <a:lstStyle/>
          <a:p>
            <a:pPr algn="ctr" indent="0" marL="0">
              <a:buNone/>
            </a:pPr>
            <a:r>
              <a:rPr lang="en-US" sz="830" b="1" spc="60" kern="0" dirty="0">
                <a:solidFill>
                  <a:srgbClr val="2F6B4D"/>
                </a:solidFill>
                <a:latin typeface="Inter" pitchFamily="34" charset="0"/>
                <a:ea typeface="Inter" pitchFamily="34" charset="-122"/>
                <a:cs typeface="Inter" pitchFamily="34" charset="-120"/>
              </a:rPr>
              <a:t>FastAPI / SQLite</a:t>
            </a:r>
            <a:endParaRPr lang="en-US" sz="830" dirty="0"/>
          </a:p>
        </p:txBody>
      </p:sp>
      <p:sp>
        <p:nvSpPr>
          <p:cNvPr id="43" name="Text 41"/>
          <p:cNvSpPr txBox="1"/>
          <p:nvPr/>
        </p:nvSpPr>
        <p:spPr>
          <a:xfrm>
            <a:off x="4764024" y="5806440"/>
            <a:ext cx="128016" cy="155448"/>
          </a:xfrm>
          <a:prstGeom prst="rect">
            <a:avLst/>
          </a:prstGeom>
          <a:noFill/>
          <a:ln/>
        </p:spPr>
        <p:txBody>
          <a:bodyPr wrap="square" lIns="0" tIns="0" rIns="0" bIns="0" rtlCol="0" anchor="ctr">
            <a:normAutofit/>
          </a:bodyPr>
          <a:lstStyle/>
          <a:p>
            <a:pPr algn="ctr" indent="0" marL="0">
              <a:buNone/>
            </a:pPr>
            <a:r>
              <a:rPr lang="en-US" sz="900" b="1" dirty="0">
                <a:solidFill>
                  <a:srgbClr val="69736A"/>
                </a:solidFill>
                <a:latin typeface="Inter" pitchFamily="34" charset="0"/>
                <a:ea typeface="Inter" pitchFamily="34" charset="-122"/>
                <a:cs typeface="Inter" pitchFamily="34" charset="-120"/>
              </a:rPr>
              <a:t>→</a:t>
            </a:r>
            <a:endParaRPr lang="en-US" sz="900" dirty="0"/>
          </a:p>
        </p:txBody>
      </p:sp>
      <p:sp>
        <p:nvSpPr>
          <p:cNvPr id="44" name="Shape 42"/>
          <p:cNvSpPr/>
          <p:nvPr/>
        </p:nvSpPr>
        <p:spPr>
          <a:xfrm>
            <a:off x="4809744" y="5760720"/>
            <a:ext cx="1325880" cy="283464"/>
          </a:xfrm>
          <a:prstGeom prst="roundRect">
            <a:avLst/>
          </a:prstGeom>
          <a:solidFill>
            <a:srgbClr val="E6F0E7"/>
          </a:solidFill>
          <a:ln w="1270">
            <a:solidFill>
              <a:srgbClr val="E6F0E7">
                <a:alpha val="0"/>
              </a:srgbClr>
            </a:solidFill>
            <a:prstDash val="solid"/>
          </a:ln>
        </p:spPr>
      </p:sp>
      <p:sp>
        <p:nvSpPr>
          <p:cNvPr id="45" name="Text 43"/>
          <p:cNvSpPr txBox="1"/>
          <p:nvPr/>
        </p:nvSpPr>
        <p:spPr>
          <a:xfrm>
            <a:off x="4919472" y="5779008"/>
            <a:ext cx="1106424" cy="228600"/>
          </a:xfrm>
          <a:prstGeom prst="rect">
            <a:avLst/>
          </a:prstGeom>
          <a:noFill/>
          <a:ln/>
        </p:spPr>
        <p:txBody>
          <a:bodyPr wrap="square" lIns="0" tIns="0" rIns="0" bIns="0" rtlCol="0" anchor="ctr">
            <a:normAutofit/>
          </a:bodyPr>
          <a:lstStyle/>
          <a:p>
            <a:pPr algn="ctr" indent="0" marL="0">
              <a:buNone/>
            </a:pPr>
            <a:r>
              <a:rPr lang="en-US" sz="830" b="1" spc="60" kern="0" dirty="0">
                <a:solidFill>
                  <a:srgbClr val="2F6B4D"/>
                </a:solidFill>
                <a:latin typeface="Inter" pitchFamily="34" charset="0"/>
                <a:ea typeface="Inter" pitchFamily="34" charset="-122"/>
                <a:cs typeface="Inter" pitchFamily="34" charset="-120"/>
              </a:rPr>
              <a:t>Features + labels</a:t>
            </a:r>
            <a:endParaRPr lang="en-US" sz="830" dirty="0"/>
          </a:p>
        </p:txBody>
      </p:sp>
      <p:sp>
        <p:nvSpPr>
          <p:cNvPr id="46" name="Text 44"/>
          <p:cNvSpPr txBox="1"/>
          <p:nvPr/>
        </p:nvSpPr>
        <p:spPr>
          <a:xfrm>
            <a:off x="6236208" y="5806440"/>
            <a:ext cx="128016" cy="155448"/>
          </a:xfrm>
          <a:prstGeom prst="rect">
            <a:avLst/>
          </a:prstGeom>
          <a:noFill/>
          <a:ln/>
        </p:spPr>
        <p:txBody>
          <a:bodyPr wrap="square" lIns="0" tIns="0" rIns="0" bIns="0" rtlCol="0" anchor="ctr">
            <a:normAutofit/>
          </a:bodyPr>
          <a:lstStyle/>
          <a:p>
            <a:pPr algn="ctr" indent="0" marL="0">
              <a:buNone/>
            </a:pPr>
            <a:r>
              <a:rPr lang="en-US" sz="900" b="1" dirty="0">
                <a:solidFill>
                  <a:srgbClr val="69736A"/>
                </a:solidFill>
                <a:latin typeface="Inter" pitchFamily="34" charset="0"/>
                <a:ea typeface="Inter" pitchFamily="34" charset="-122"/>
                <a:cs typeface="Inter" pitchFamily="34" charset="-120"/>
              </a:rPr>
              <a:t>→</a:t>
            </a:r>
            <a:endParaRPr lang="en-US" sz="900" dirty="0"/>
          </a:p>
        </p:txBody>
      </p:sp>
      <p:sp>
        <p:nvSpPr>
          <p:cNvPr id="47" name="Shape 45"/>
          <p:cNvSpPr/>
          <p:nvPr/>
        </p:nvSpPr>
        <p:spPr>
          <a:xfrm>
            <a:off x="6281928" y="5760720"/>
            <a:ext cx="1307592" cy="283464"/>
          </a:xfrm>
          <a:prstGeom prst="roundRect">
            <a:avLst/>
          </a:prstGeom>
          <a:solidFill>
            <a:srgbClr val="D4FF3F"/>
          </a:solidFill>
          <a:ln w="1270">
            <a:solidFill>
              <a:srgbClr val="D4FF3F">
                <a:alpha val="0"/>
              </a:srgbClr>
            </a:solidFill>
            <a:prstDash val="solid"/>
          </a:ln>
        </p:spPr>
      </p:sp>
      <p:sp>
        <p:nvSpPr>
          <p:cNvPr id="48" name="Text 46"/>
          <p:cNvSpPr txBox="1"/>
          <p:nvPr/>
        </p:nvSpPr>
        <p:spPr>
          <a:xfrm>
            <a:off x="6391656" y="5779008"/>
            <a:ext cx="1088136" cy="228600"/>
          </a:xfrm>
          <a:prstGeom prst="rect">
            <a:avLst/>
          </a:prstGeom>
          <a:noFill/>
          <a:ln/>
        </p:spPr>
        <p:txBody>
          <a:bodyPr wrap="square" lIns="0" tIns="0" rIns="0" bIns="0" rtlCol="0" anchor="ctr">
            <a:normAutofit/>
          </a:bodyPr>
          <a:lstStyle/>
          <a:p>
            <a:pPr algn="ctr" indent="0" marL="0">
              <a:buNone/>
            </a:pPr>
            <a:r>
              <a:rPr lang="en-US" sz="830" b="1" spc="60" kern="0" dirty="0">
                <a:solidFill>
                  <a:srgbClr val="0D120F"/>
                </a:solidFill>
                <a:latin typeface="Inter" pitchFamily="34" charset="0"/>
                <a:ea typeface="Inter" pitchFamily="34" charset="-122"/>
                <a:cs typeface="Inter" pitchFamily="34" charset="-120"/>
              </a:rPr>
              <a:t>Logistic ranking</a:t>
            </a:r>
            <a:endParaRPr lang="en-US" sz="830" dirty="0"/>
          </a:p>
        </p:txBody>
      </p:sp>
      <p:sp>
        <p:nvSpPr>
          <p:cNvPr id="49" name="Text 47"/>
          <p:cNvSpPr txBox="1"/>
          <p:nvPr/>
        </p:nvSpPr>
        <p:spPr>
          <a:xfrm>
            <a:off x="7690104" y="5806440"/>
            <a:ext cx="128016" cy="155448"/>
          </a:xfrm>
          <a:prstGeom prst="rect">
            <a:avLst/>
          </a:prstGeom>
          <a:noFill/>
          <a:ln/>
        </p:spPr>
        <p:txBody>
          <a:bodyPr wrap="square" lIns="0" tIns="0" rIns="0" bIns="0" rtlCol="0" anchor="ctr">
            <a:normAutofit/>
          </a:bodyPr>
          <a:lstStyle/>
          <a:p>
            <a:pPr algn="ctr" indent="0" marL="0">
              <a:buNone/>
            </a:pPr>
            <a:r>
              <a:rPr lang="en-US" sz="900" b="1" dirty="0">
                <a:solidFill>
                  <a:srgbClr val="69736A"/>
                </a:solidFill>
                <a:latin typeface="Inter" pitchFamily="34" charset="0"/>
                <a:ea typeface="Inter" pitchFamily="34" charset="-122"/>
                <a:cs typeface="Inter" pitchFamily="34" charset="-120"/>
              </a:rPr>
              <a:t>→</a:t>
            </a:r>
            <a:endParaRPr lang="en-US" sz="900" dirty="0"/>
          </a:p>
        </p:txBody>
      </p:sp>
      <p:sp>
        <p:nvSpPr>
          <p:cNvPr id="50" name="Shape 48"/>
          <p:cNvSpPr/>
          <p:nvPr/>
        </p:nvSpPr>
        <p:spPr>
          <a:xfrm>
            <a:off x="7735824" y="5760720"/>
            <a:ext cx="1444752" cy="283464"/>
          </a:xfrm>
          <a:prstGeom prst="roundRect">
            <a:avLst/>
          </a:prstGeom>
          <a:solidFill>
            <a:srgbClr val="E6F0E7"/>
          </a:solidFill>
          <a:ln w="1270">
            <a:solidFill>
              <a:srgbClr val="E6F0E7">
                <a:alpha val="0"/>
              </a:srgbClr>
            </a:solidFill>
            <a:prstDash val="solid"/>
          </a:ln>
        </p:spPr>
      </p:sp>
      <p:sp>
        <p:nvSpPr>
          <p:cNvPr id="51" name="Text 49"/>
          <p:cNvSpPr txBox="1"/>
          <p:nvPr/>
        </p:nvSpPr>
        <p:spPr>
          <a:xfrm>
            <a:off x="7845552" y="5779008"/>
            <a:ext cx="1225296" cy="228600"/>
          </a:xfrm>
          <a:prstGeom prst="rect">
            <a:avLst/>
          </a:prstGeom>
          <a:noFill/>
          <a:ln/>
        </p:spPr>
        <p:txBody>
          <a:bodyPr wrap="square" lIns="0" tIns="0" rIns="0" bIns="0" rtlCol="0" anchor="ctr">
            <a:normAutofit/>
          </a:bodyPr>
          <a:lstStyle/>
          <a:p>
            <a:pPr algn="ctr" indent="0" marL="0">
              <a:buNone/>
            </a:pPr>
            <a:r>
              <a:rPr lang="en-US" sz="830" b="1" spc="60" kern="0" dirty="0">
                <a:solidFill>
                  <a:srgbClr val="2F6B4D"/>
                </a:solidFill>
                <a:latin typeface="Inter" pitchFamily="34" charset="0"/>
                <a:ea typeface="Inter" pitchFamily="34" charset="-122"/>
                <a:cs typeface="Inter" pitchFamily="34" charset="-120"/>
              </a:rPr>
              <a:t>Baselines + holdout</a:t>
            </a:r>
            <a:endParaRPr lang="en-US" sz="830" dirty="0"/>
          </a:p>
        </p:txBody>
      </p:sp>
      <p:sp>
        <p:nvSpPr>
          <p:cNvPr id="52" name="Text 50"/>
          <p:cNvSpPr txBox="1"/>
          <p:nvPr/>
        </p:nvSpPr>
        <p:spPr>
          <a:xfrm>
            <a:off x="621792" y="6153912"/>
            <a:ext cx="10332720" cy="164592"/>
          </a:xfrm>
          <a:prstGeom prst="rect">
            <a:avLst/>
          </a:prstGeom>
          <a:noFill/>
          <a:ln/>
        </p:spPr>
        <p:txBody>
          <a:bodyPr wrap="square" lIns="0" tIns="0" rIns="0" bIns="0" rtlCol="0" anchor="ctr">
            <a:normAutofit/>
          </a:bodyPr>
          <a:lstStyle/>
          <a:p>
            <a:pPr algn="l" indent="0" marL="0">
              <a:buNone/>
            </a:pPr>
            <a:r>
              <a:rPr lang="en-US" sz="880" i="1" dirty="0">
                <a:solidFill>
                  <a:srgbClr val="69736A"/>
                </a:solidFill>
                <a:latin typeface="Inter" pitchFamily="34" charset="0"/>
                <a:ea typeface="Inter" pitchFamily="34" charset="-122"/>
                <a:cs typeface="Inter" pitchFamily="34" charset="-120"/>
              </a:rPr>
              <a:t>Optional LLM extraction supports user-provided event excerpts; it is not the core predictor.</a:t>
            </a:r>
            <a:endParaRPr lang="en-US" sz="880" dirty="0"/>
          </a:p>
        </p:txBody>
      </p:sp>
      <p:sp>
        <p:nvSpPr>
          <p:cNvPr id="25" name="Slide Number Placeholder 0"/>
          <p:cNvSpPr>
            <a:spLocks noGrp="1"/>
          </p:cNvSpPr>
          <p:nvPr>
            <p:ph type="sldNum" sz="quarter" idx="4294967295"/>
          </p:nvPr>
        </p:nvSpPr>
        <p:spPr>
          <a:xfrm>
            <a:off x="11109960" y="651967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788078"/>
                </a:solidFill>
                <a:latin typeface="Inter"/>
                <a:ea typeface="Inter"/>
                <a:cs typeface="Inter"/>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20F"/>
        </a:solidFill>
      </p:bgPr>
    </p:bg>
    <p:spTree>
      <p:nvGrpSpPr>
        <p:cNvPr id="1" name=""/>
        <p:cNvGrpSpPr/>
        <p:nvPr/>
      </p:nvGrpSpPr>
      <p:grpSpPr>
        <a:xfrm>
          <a:off x="0" y="0"/>
          <a:ext cx="0" cy="0"/>
          <a:chOff x="0" y="0"/>
          <a:chExt cx="0" cy="0"/>
        </a:xfrm>
      </p:grpSpPr>
      <p:sp>
        <p:nvSpPr>
          <p:cNvPr id="2" name="Shape 0"/>
          <p:cNvSpPr/>
          <p:nvPr/>
        </p:nvSpPr>
        <p:spPr>
          <a:xfrm>
            <a:off x="585216" y="274320"/>
            <a:ext cx="68580" cy="68580"/>
          </a:xfrm>
          <a:prstGeom prst="rect">
            <a:avLst/>
          </a:prstGeom>
          <a:solidFill>
            <a:srgbClr val="D4FF3F"/>
          </a:solidFill>
          <a:ln w="1270">
            <a:solidFill>
              <a:srgbClr val="D4FF3F">
                <a:alpha val="0"/>
              </a:srgbClr>
            </a:solidFill>
            <a:prstDash val="solid"/>
          </a:ln>
        </p:spPr>
        <p:txBody>
          <a:bodyPr/>
          <a:p/>
        </p:txBody>
      </p:sp>
      <p:sp>
        <p:nvSpPr>
          <p:cNvPr id="3" name="Shape 1"/>
          <p:cNvSpPr/>
          <p:nvPr/>
        </p:nvSpPr>
        <p:spPr>
          <a:xfrm>
            <a:off x="704088" y="274320"/>
            <a:ext cx="68580" cy="68580"/>
          </a:xfrm>
          <a:prstGeom prst="rect">
            <a:avLst/>
          </a:prstGeom>
          <a:solidFill>
            <a:srgbClr val="D4FF3F"/>
          </a:solidFill>
          <a:ln w="1270">
            <a:solidFill>
              <a:srgbClr val="D4FF3F">
                <a:alpha val="0"/>
              </a:srgbClr>
            </a:solidFill>
            <a:prstDash val="solid"/>
          </a:ln>
        </p:spPr>
        <p:txBody>
          <a:bodyPr/>
          <a:p/>
        </p:txBody>
      </p:sp>
      <p:sp>
        <p:nvSpPr>
          <p:cNvPr id="4" name="Shape 2"/>
          <p:cNvSpPr/>
          <p:nvPr/>
        </p:nvSpPr>
        <p:spPr>
          <a:xfrm>
            <a:off x="822960" y="274320"/>
            <a:ext cx="68580" cy="68580"/>
          </a:xfrm>
          <a:prstGeom prst="rect">
            <a:avLst/>
          </a:prstGeom>
          <a:solidFill>
            <a:srgbClr val="CBB3E8"/>
          </a:solidFill>
          <a:ln w="1270">
            <a:solidFill>
              <a:srgbClr val="CBB3E8">
                <a:alpha val="0"/>
              </a:srgbClr>
            </a:solidFill>
            <a:prstDash val="solid"/>
          </a:ln>
        </p:spPr>
        <p:txBody>
          <a:bodyPr/>
          <a:p/>
        </p:txBody>
      </p:sp>
      <p:sp>
        <p:nvSpPr>
          <p:cNvPr id="5" name="Shape 3"/>
          <p:cNvSpPr/>
          <p:nvPr/>
        </p:nvSpPr>
        <p:spPr>
          <a:xfrm>
            <a:off x="585216" y="393192"/>
            <a:ext cx="68580" cy="68580"/>
          </a:xfrm>
          <a:prstGeom prst="rect">
            <a:avLst/>
          </a:prstGeom>
          <a:solidFill>
            <a:srgbClr val="F4F5EF"/>
          </a:solidFill>
          <a:ln w="1270">
            <a:solidFill>
              <a:srgbClr val="F4F5EF">
                <a:alpha val="0"/>
              </a:srgbClr>
            </a:solidFill>
            <a:prstDash val="solid"/>
          </a:ln>
        </p:spPr>
        <p:txBody>
          <a:bodyPr/>
          <a:p/>
        </p:txBody>
      </p:sp>
      <p:sp>
        <p:nvSpPr>
          <p:cNvPr id="6" name="Shape 4"/>
          <p:cNvSpPr/>
          <p:nvPr/>
        </p:nvSpPr>
        <p:spPr>
          <a:xfrm>
            <a:off x="704088" y="393192"/>
            <a:ext cx="68580" cy="68580"/>
          </a:xfrm>
          <a:prstGeom prst="rect">
            <a:avLst/>
          </a:prstGeom>
          <a:solidFill>
            <a:srgbClr val="D4FF3F"/>
          </a:solidFill>
          <a:ln w="1270">
            <a:solidFill>
              <a:srgbClr val="D4FF3F">
                <a:alpha val="0"/>
              </a:srgbClr>
            </a:solidFill>
            <a:prstDash val="solid"/>
          </a:ln>
        </p:spPr>
        <p:txBody>
          <a:bodyPr/>
          <a:p/>
        </p:txBody>
      </p:sp>
      <p:sp>
        <p:nvSpPr>
          <p:cNvPr id="7" name="Shape 5"/>
          <p:cNvSpPr/>
          <p:nvPr/>
        </p:nvSpPr>
        <p:spPr>
          <a:xfrm>
            <a:off x="822960" y="393192"/>
            <a:ext cx="68580" cy="68580"/>
          </a:xfrm>
          <a:prstGeom prst="rect">
            <a:avLst/>
          </a:prstGeom>
          <a:solidFill>
            <a:srgbClr val="F4F5EF"/>
          </a:solidFill>
          <a:ln w="1270">
            <a:solidFill>
              <a:srgbClr val="F4F5EF">
                <a:alpha val="0"/>
              </a:srgbClr>
            </a:solidFill>
            <a:prstDash val="solid"/>
          </a:ln>
        </p:spPr>
        <p:txBody>
          <a:bodyPr/>
          <a:p/>
        </p:txBody>
      </p:sp>
      <p:sp>
        <p:nvSpPr>
          <p:cNvPr id="8" name="Text 6"/>
          <p:cNvSpPr txBox="1"/>
          <p:nvPr/>
        </p:nvSpPr>
        <p:spPr>
          <a:xfrm>
            <a:off x="996696" y="251460"/>
            <a:ext cx="1234440" cy="237744"/>
          </a:xfrm>
          <a:prstGeom prst="rect">
            <a:avLst/>
          </a:prstGeom>
          <a:noFill/>
          <a:ln/>
        </p:spPr>
        <p:txBody>
          <a:bodyPr wrap="square" lIns="0" tIns="0" rIns="0" bIns="0" rtlCol="0" anchor="ctr">
            <a:normAutofit/>
          </a:bodyPr>
          <a:lstStyle/>
          <a:p>
            <a:pPr algn="l" indent="0" marL="0">
              <a:buNone/>
            </a:pPr>
            <a:r>
              <a:rPr lang="en-US" sz="1300" b="1" spc="110" kern="0" dirty="0">
                <a:solidFill>
                  <a:srgbClr val="F4F5EF"/>
                </a:solidFill>
                <a:latin typeface="Inter" pitchFamily="34" charset="0"/>
                <a:ea typeface="Inter" pitchFamily="34" charset="-122"/>
                <a:cs typeface="Inter" pitchFamily="34" charset="-120"/>
              </a:rPr>
              <a:t>RISKORA</a:t>
            </a:r>
            <a:endParaRPr lang="en-US" sz="1300" dirty="0"/>
          </a:p>
        </p:txBody>
      </p:sp>
      <p:sp>
        <p:nvSpPr>
          <p:cNvPr id="9" name="Text 7"/>
          <p:cNvSpPr txBox="1"/>
          <p:nvPr/>
        </p:nvSpPr>
        <p:spPr>
          <a:xfrm>
            <a:off x="8595360" y="310896"/>
            <a:ext cx="2926080" cy="164592"/>
          </a:xfrm>
          <a:prstGeom prst="rect">
            <a:avLst/>
          </a:prstGeom>
          <a:noFill/>
          <a:ln/>
        </p:spPr>
        <p:txBody>
          <a:bodyPr wrap="square" lIns="0" tIns="0" rIns="0" bIns="0" rtlCol="0" anchor="ctr">
            <a:normAutofit/>
          </a:bodyPr>
          <a:lstStyle/>
          <a:p>
            <a:pPr algn="r" indent="0" marL="0">
              <a:buNone/>
            </a:pPr>
            <a:r>
              <a:rPr lang="en-US" sz="870" b="1" spc="130" kern="0" dirty="0">
                <a:solidFill>
                  <a:srgbClr val="849187"/>
                </a:solidFill>
                <a:latin typeface="Inter" pitchFamily="34" charset="0"/>
                <a:ea typeface="Inter" pitchFamily="34" charset="-122"/>
                <a:cs typeface="Inter" pitchFamily="34" charset="-120"/>
              </a:rPr>
              <a:t>04 / CURRENT STAGE</a:t>
            </a:r>
            <a:endParaRPr lang="en-US" sz="870" dirty="0"/>
          </a:p>
        </p:txBody>
      </p:sp>
      <p:sp>
        <p:nvSpPr>
          <p:cNvPr id="10" name="Shape 8"/>
          <p:cNvSpPr/>
          <p:nvPr/>
        </p:nvSpPr>
        <p:spPr>
          <a:xfrm>
            <a:off x="576072" y="658368"/>
            <a:ext cx="11036808" cy="0"/>
          </a:xfrm>
          <a:prstGeom prst="line">
            <a:avLst/>
          </a:prstGeom>
          <a:noFill/>
          <a:ln w="10160">
            <a:solidFill>
              <a:srgbClr val="2B362D"/>
            </a:solidFill>
            <a:prstDash val="solid"/>
            <a:headEnd type="none"/>
            <a:tailEnd type="none"/>
          </a:ln>
        </p:spPr>
        <p:txBody>
          <a:bodyPr/>
          <a:p/>
        </p:txBody>
      </p:sp>
      <p:sp>
        <p:nvSpPr>
          <p:cNvPr id="11" name="Text 9"/>
          <p:cNvSpPr txBox="1"/>
          <p:nvPr/>
        </p:nvSpPr>
        <p:spPr>
          <a:xfrm>
            <a:off x="603504" y="896112"/>
            <a:ext cx="8001000" cy="1115568"/>
          </a:xfrm>
          <a:prstGeom prst="rect">
            <a:avLst/>
          </a:prstGeom>
          <a:noFill/>
          <a:ln/>
        </p:spPr>
        <p:txBody>
          <a:bodyPr wrap="square" lIns="0" tIns="0" rIns="0" bIns="0" rtlCol="0" anchor="t">
            <a:normAutofit/>
          </a:bodyPr>
          <a:lstStyle/>
          <a:p>
            <a:pPr algn="l" indent="0" marL="0">
              <a:buNone/>
            </a:pPr>
            <a:r>
              <a:rPr lang="en-US" sz="3050" b="1" dirty="0">
                <a:solidFill>
                  <a:srgbClr val="F4F5EF"/>
                </a:solidFill>
                <a:latin typeface="Inter Display" pitchFamily="34" charset="0"/>
                <a:ea typeface="Inter Display" pitchFamily="34" charset="-122"/>
                <a:cs typeface="Inter Display" pitchFamily="34" charset="-120"/>
              </a:rPr>
              <a:t>Built enough to test.</a:t>
            </a:r>
            <a:endParaRPr lang="en-US" sz="3050" dirty="0"/>
          </a:p>
          <a:p>
            <a:pPr algn="l" indent="0" marL="0">
              <a:buNone/>
            </a:pPr>
            <a:r>
              <a:rPr lang="en-US" sz="3050" b="1" dirty="0">
                <a:solidFill>
                  <a:srgbClr val="F4F5EF"/>
                </a:solidFill>
                <a:latin typeface="Inter Display" pitchFamily="34" charset="0"/>
                <a:ea typeface="Inter Display" pitchFamily="34" charset="-122"/>
                <a:cs typeface="Inter Display" pitchFamily="34" charset="-120"/>
              </a:rPr>
              <a:t>Not enough to claim accuracy.</a:t>
            </a:r>
            <a:endParaRPr lang="en-US" sz="3050" dirty="0"/>
          </a:p>
        </p:txBody>
      </p:sp>
      <p:sp>
        <p:nvSpPr>
          <p:cNvPr id="12" name="Text 10"/>
          <p:cNvSpPr txBox="1"/>
          <p:nvPr/>
        </p:nvSpPr>
        <p:spPr>
          <a:xfrm>
            <a:off x="630936" y="2112264"/>
            <a:ext cx="8778240" cy="274320"/>
          </a:xfrm>
          <a:prstGeom prst="rect">
            <a:avLst/>
          </a:prstGeom>
          <a:noFill/>
          <a:ln/>
        </p:spPr>
        <p:txBody>
          <a:bodyPr wrap="square" lIns="0" tIns="0" rIns="0" bIns="0" rtlCol="0" anchor="ctr">
            <a:normAutofit/>
          </a:bodyPr>
          <a:lstStyle/>
          <a:p>
            <a:pPr algn="l" indent="0" marL="0">
              <a:buNone/>
            </a:pPr>
            <a:r>
              <a:rPr lang="en-US" sz="1230" dirty="0">
                <a:solidFill>
                  <a:srgbClr val="AEB8AF"/>
                </a:solidFill>
                <a:latin typeface="Inter" pitchFamily="34" charset="0"/>
                <a:ea typeface="Inter" pitchFamily="34" charset="-122"/>
                <a:cs typeface="Inter" pitchFamily="34" charset="-120"/>
              </a:rPr>
              <a:t>A credible prototype is the starting point; real-market proof is the next milestone.</a:t>
            </a:r>
            <a:endParaRPr lang="en-US" sz="1230" dirty="0"/>
          </a:p>
        </p:txBody>
      </p:sp>
      <p:sp>
        <p:nvSpPr>
          <p:cNvPr id="13" name="Shape 11"/>
          <p:cNvSpPr/>
          <p:nvPr/>
        </p:nvSpPr>
        <p:spPr>
          <a:xfrm>
            <a:off x="603504" y="2688336"/>
            <a:ext cx="3218688" cy="2578608"/>
          </a:xfrm>
          <a:prstGeom prst="roundRect">
            <a:avLst/>
          </a:prstGeom>
          <a:solidFill>
            <a:srgbClr val="19231C"/>
          </a:solidFill>
          <a:ln w="10160">
            <a:solidFill>
              <a:srgbClr val="2A382D"/>
            </a:solidFill>
            <a:prstDash val="solid"/>
          </a:ln>
        </p:spPr>
        <p:txBody>
          <a:bodyPr/>
          <a:p/>
        </p:txBody>
      </p:sp>
      <p:sp>
        <p:nvSpPr>
          <p:cNvPr id="14" name="Text 12"/>
          <p:cNvSpPr txBox="1"/>
          <p:nvPr/>
        </p:nvSpPr>
        <p:spPr>
          <a:xfrm>
            <a:off x="832104" y="2926080"/>
            <a:ext cx="987552" cy="658368"/>
          </a:xfrm>
          <a:prstGeom prst="rect">
            <a:avLst/>
          </a:prstGeom>
          <a:noFill/>
          <a:ln/>
        </p:spPr>
        <p:txBody>
          <a:bodyPr wrap="square" lIns="0" tIns="0" rIns="0" bIns="0" rtlCol="0" anchor="ctr">
            <a:normAutofit/>
          </a:bodyPr>
          <a:lstStyle/>
          <a:p>
            <a:pPr algn="l" indent="0" marL="0">
              <a:buNone/>
            </a:pPr>
            <a:r>
              <a:rPr lang="en-US" sz="3500" b="1" dirty="0">
                <a:solidFill>
                  <a:srgbClr val="D4FF3F"/>
                </a:solidFill>
                <a:latin typeface="Inter Display" pitchFamily="34" charset="0"/>
                <a:ea typeface="Inter Display" pitchFamily="34" charset="-122"/>
                <a:cs typeface="Inter Display" pitchFamily="34" charset="-120"/>
              </a:rPr>
              <a:t>15</a:t>
            </a:r>
            <a:endParaRPr lang="en-US" sz="3500" dirty="0"/>
          </a:p>
        </p:txBody>
      </p:sp>
      <p:sp>
        <p:nvSpPr>
          <p:cNvPr id="15" name="Text 13"/>
          <p:cNvSpPr txBox="1"/>
          <p:nvPr/>
        </p:nvSpPr>
        <p:spPr>
          <a:xfrm>
            <a:off x="1773936" y="3127248"/>
            <a:ext cx="1783080" cy="182880"/>
          </a:xfrm>
          <a:prstGeom prst="rect">
            <a:avLst/>
          </a:prstGeom>
          <a:noFill/>
          <a:ln/>
        </p:spPr>
        <p:txBody>
          <a:bodyPr wrap="square" lIns="0" tIns="0" rIns="0" bIns="0" rtlCol="0" anchor="ctr">
            <a:normAutofit/>
          </a:bodyPr>
          <a:lstStyle/>
          <a:p>
            <a:pPr algn="l" indent="0" marL="0">
              <a:buNone/>
            </a:pPr>
            <a:r>
              <a:rPr lang="en-US" sz="800" b="1" spc="80" kern="0" dirty="0">
                <a:solidFill>
                  <a:srgbClr val="9EACA0"/>
                </a:solidFill>
                <a:latin typeface="Inter" pitchFamily="34" charset="0"/>
                <a:ea typeface="Inter" pitchFamily="34" charset="-122"/>
                <a:cs typeface="Inter" pitchFamily="34" charset="-120"/>
              </a:rPr>
              <a:t>BACKEND TESTS</a:t>
            </a:r>
            <a:endParaRPr lang="en-US" sz="800" dirty="0"/>
          </a:p>
        </p:txBody>
      </p:sp>
      <p:sp>
        <p:nvSpPr>
          <p:cNvPr id="16" name="Shape 14"/>
          <p:cNvSpPr/>
          <p:nvPr/>
        </p:nvSpPr>
        <p:spPr>
          <a:xfrm>
            <a:off x="832104" y="3703320"/>
            <a:ext cx="2752344" cy="0"/>
          </a:xfrm>
          <a:prstGeom prst="line">
            <a:avLst/>
          </a:prstGeom>
          <a:noFill/>
          <a:ln w="10160">
            <a:solidFill>
              <a:srgbClr val="314036"/>
            </a:solidFill>
            <a:prstDash val="solid"/>
            <a:headEnd type="none"/>
            <a:tailEnd type="none"/>
          </a:ln>
        </p:spPr>
        <p:txBody>
          <a:bodyPr/>
          <a:p/>
        </p:txBody>
      </p:sp>
      <p:sp>
        <p:nvSpPr>
          <p:cNvPr id="17" name="Text 15"/>
          <p:cNvSpPr txBox="1"/>
          <p:nvPr/>
        </p:nvSpPr>
        <p:spPr>
          <a:xfrm>
            <a:off x="832104" y="3886200"/>
            <a:ext cx="2697480" cy="256032"/>
          </a:xfrm>
          <a:prstGeom prst="rect">
            <a:avLst/>
          </a:prstGeom>
          <a:noFill/>
          <a:ln/>
        </p:spPr>
        <p:txBody>
          <a:bodyPr wrap="square" lIns="0" tIns="0" rIns="0" bIns="0" rtlCol="0" anchor="ctr">
            <a:normAutofit/>
          </a:bodyPr>
          <a:lstStyle/>
          <a:p>
            <a:pPr algn="l" indent="0" marL="0">
              <a:buNone/>
            </a:pPr>
            <a:r>
              <a:rPr lang="en-US" sz="1550" b="1" dirty="0">
                <a:solidFill>
                  <a:srgbClr val="F4F5EF"/>
                </a:solidFill>
                <a:latin typeface="Inter" pitchFamily="34" charset="0"/>
                <a:ea typeface="Inter" pitchFamily="34" charset="-122"/>
                <a:cs typeface="Inter" pitchFamily="34" charset="-120"/>
              </a:rPr>
              <a:t>Working core</a:t>
            </a:r>
            <a:endParaRPr lang="en-US" sz="1550" dirty="0"/>
          </a:p>
        </p:txBody>
      </p:sp>
      <p:sp>
        <p:nvSpPr>
          <p:cNvPr id="18" name="Text 16"/>
          <p:cNvSpPr txBox="1"/>
          <p:nvPr/>
        </p:nvSpPr>
        <p:spPr>
          <a:xfrm>
            <a:off x="832104" y="4279392"/>
            <a:ext cx="2697480" cy="758952"/>
          </a:xfrm>
          <a:prstGeom prst="rect">
            <a:avLst/>
          </a:prstGeom>
          <a:noFill/>
          <a:ln/>
        </p:spPr>
        <p:txBody>
          <a:bodyPr wrap="square" lIns="0" tIns="0" rIns="0" bIns="0" rtlCol="0" anchor="t">
            <a:normAutofit/>
          </a:bodyPr>
          <a:lstStyle/>
          <a:p>
            <a:pPr algn="l" indent="0" marL="0">
              <a:buNone/>
            </a:pPr>
            <a:r>
              <a:rPr lang="en-US" sz="1020" dirty="0">
                <a:solidFill>
                  <a:srgbClr val="B8C2B9"/>
                </a:solidFill>
                <a:latin typeface="Inter" pitchFamily="34" charset="0"/>
                <a:ea typeface="Inter" pitchFamily="34" charset="-122"/>
                <a:cs typeface="Inter" pitchFamily="34" charset="-120"/>
              </a:rPr>
              <a:t>Latest code review: backend test suite passed. Data import, label generation, ranking and evaluation workflows are implemented.</a:t>
            </a:r>
            <a:endParaRPr lang="en-US" sz="1020" dirty="0"/>
          </a:p>
        </p:txBody>
      </p:sp>
      <p:sp>
        <p:nvSpPr>
          <p:cNvPr id="19" name="Shape 17"/>
          <p:cNvSpPr/>
          <p:nvPr/>
        </p:nvSpPr>
        <p:spPr>
          <a:xfrm>
            <a:off x="4480560" y="2688336"/>
            <a:ext cx="3218688" cy="2578608"/>
          </a:xfrm>
          <a:prstGeom prst="roundRect">
            <a:avLst/>
          </a:prstGeom>
          <a:solidFill>
            <a:srgbClr val="19231C"/>
          </a:solidFill>
          <a:ln w="10160">
            <a:solidFill>
              <a:srgbClr val="2A382D"/>
            </a:solidFill>
            <a:prstDash val="solid"/>
          </a:ln>
        </p:spPr>
        <p:txBody>
          <a:bodyPr/>
          <a:p/>
        </p:txBody>
      </p:sp>
      <p:sp>
        <p:nvSpPr>
          <p:cNvPr id="20" name="Text 18"/>
          <p:cNvSpPr txBox="1"/>
          <p:nvPr/>
        </p:nvSpPr>
        <p:spPr>
          <a:xfrm>
            <a:off x="4709160" y="2926080"/>
            <a:ext cx="987552" cy="658368"/>
          </a:xfrm>
          <a:prstGeom prst="rect">
            <a:avLst/>
          </a:prstGeom>
          <a:noFill/>
          <a:ln/>
        </p:spPr>
        <p:txBody>
          <a:bodyPr wrap="square" lIns="0" tIns="0" rIns="0" bIns="0" rtlCol="0" anchor="ctr">
            <a:normAutofit/>
          </a:bodyPr>
          <a:lstStyle/>
          <a:p>
            <a:pPr algn="l" indent="0" marL="0">
              <a:buNone/>
            </a:pPr>
            <a:r>
              <a:rPr lang="en-US" sz="3500" b="1" dirty="0">
                <a:solidFill>
                  <a:srgbClr val="CBB3E8"/>
                </a:solidFill>
                <a:latin typeface="Inter Display" pitchFamily="34" charset="0"/>
                <a:ea typeface="Inter Display" pitchFamily="34" charset="-122"/>
                <a:cs typeface="Inter Display" pitchFamily="34" charset="-120"/>
              </a:rPr>
              <a:t>02</a:t>
            </a:r>
            <a:endParaRPr lang="en-US" sz="3500" dirty="0"/>
          </a:p>
        </p:txBody>
      </p:sp>
      <p:sp>
        <p:nvSpPr>
          <p:cNvPr id="21" name="Text 19"/>
          <p:cNvSpPr txBox="1"/>
          <p:nvPr/>
        </p:nvSpPr>
        <p:spPr>
          <a:xfrm>
            <a:off x="5650992" y="3127248"/>
            <a:ext cx="1783080" cy="182880"/>
          </a:xfrm>
          <a:prstGeom prst="rect">
            <a:avLst/>
          </a:prstGeom>
          <a:noFill/>
          <a:ln/>
        </p:spPr>
        <p:txBody>
          <a:bodyPr wrap="square" lIns="0" tIns="0" rIns="0" bIns="0" rtlCol="0" anchor="ctr">
            <a:normAutofit/>
          </a:bodyPr>
          <a:lstStyle/>
          <a:p>
            <a:pPr algn="l" indent="0" marL="0">
              <a:buNone/>
            </a:pPr>
            <a:r>
              <a:rPr lang="en-US" sz="800" b="1" spc="80" kern="0" dirty="0">
                <a:solidFill>
                  <a:srgbClr val="9EACA0"/>
                </a:solidFill>
                <a:latin typeface="Inter" pitchFamily="34" charset="0"/>
                <a:ea typeface="Inter" pitchFamily="34" charset="-122"/>
                <a:cs typeface="Inter" pitchFamily="34" charset="-120"/>
              </a:rPr>
              <a:t>REAL SNAPSHOTS</a:t>
            </a:r>
            <a:endParaRPr lang="en-US" sz="800" dirty="0"/>
          </a:p>
        </p:txBody>
      </p:sp>
      <p:sp>
        <p:nvSpPr>
          <p:cNvPr id="22" name="Shape 20"/>
          <p:cNvSpPr/>
          <p:nvPr/>
        </p:nvSpPr>
        <p:spPr>
          <a:xfrm>
            <a:off x="4709160" y="3703320"/>
            <a:ext cx="2752344" cy="0"/>
          </a:xfrm>
          <a:prstGeom prst="line">
            <a:avLst/>
          </a:prstGeom>
          <a:noFill/>
          <a:ln w="10160">
            <a:solidFill>
              <a:srgbClr val="314036"/>
            </a:solidFill>
            <a:prstDash val="solid"/>
            <a:headEnd type="none"/>
            <a:tailEnd type="none"/>
          </a:ln>
        </p:spPr>
        <p:txBody>
          <a:bodyPr/>
          <a:p/>
        </p:txBody>
      </p:sp>
      <p:sp>
        <p:nvSpPr>
          <p:cNvPr id="23" name="Text 21"/>
          <p:cNvSpPr txBox="1"/>
          <p:nvPr/>
        </p:nvSpPr>
        <p:spPr>
          <a:xfrm>
            <a:off x="4709160" y="3886200"/>
            <a:ext cx="2697480" cy="256032"/>
          </a:xfrm>
          <a:prstGeom prst="rect">
            <a:avLst/>
          </a:prstGeom>
          <a:noFill/>
          <a:ln/>
        </p:spPr>
        <p:txBody>
          <a:bodyPr wrap="square" lIns="0" tIns="0" rIns="0" bIns="0" rtlCol="0" anchor="ctr">
            <a:normAutofit/>
          </a:bodyPr>
          <a:lstStyle/>
          <a:p>
            <a:pPr algn="l" indent="0" marL="0">
              <a:buNone/>
            </a:pPr>
            <a:r>
              <a:rPr lang="en-US" sz="1550" b="1" dirty="0">
                <a:solidFill>
                  <a:srgbClr val="F4F5EF"/>
                </a:solidFill>
                <a:latin typeface="Inter" pitchFamily="34" charset="0"/>
                <a:ea typeface="Inter" pitchFamily="34" charset="-122"/>
                <a:cs typeface="Inter" pitchFamily="34" charset="-120"/>
              </a:rPr>
              <a:t>Early data foundation</a:t>
            </a:r>
            <a:endParaRPr lang="en-US" sz="1550" dirty="0"/>
          </a:p>
        </p:txBody>
      </p:sp>
      <p:sp>
        <p:nvSpPr>
          <p:cNvPr id="24" name="Text 22"/>
          <p:cNvSpPr txBox="1"/>
          <p:nvPr/>
        </p:nvSpPr>
        <p:spPr>
          <a:xfrm>
            <a:off x="4709160" y="4279392"/>
            <a:ext cx="2697480" cy="758952"/>
          </a:xfrm>
          <a:prstGeom prst="rect">
            <a:avLst/>
          </a:prstGeom>
          <a:noFill/>
          <a:ln/>
        </p:spPr>
        <p:txBody>
          <a:bodyPr wrap="square" lIns="0" tIns="0" rIns="0" bIns="0" rtlCol="0" anchor="t">
            <a:normAutofit/>
          </a:bodyPr>
          <a:lstStyle/>
          <a:p>
            <a:pPr algn="l" indent="0" marL="0">
              <a:buNone/>
            </a:pPr>
            <a:r>
              <a:rPr lang="en-US" sz="1020" dirty="0">
                <a:solidFill>
                  <a:srgbClr val="B8C2B9"/>
                </a:solidFill>
                <a:latin typeface="Inter" pitchFamily="34" charset="0"/>
                <a:ea typeface="Inter" pitchFamily="34" charset="-122"/>
                <a:cs typeface="Inter" pitchFamily="34" charset="-120"/>
              </a:rPr>
              <a:t>Two ABSL Flexi Cap month-end snapshots — Aug and Sep 2026 — are normalized for review. Two snapshots are not a training history.</a:t>
            </a:r>
            <a:endParaRPr lang="en-US" sz="1020" dirty="0"/>
          </a:p>
        </p:txBody>
      </p:sp>
      <p:sp>
        <p:nvSpPr>
          <p:cNvPr id="25" name="Shape 23"/>
          <p:cNvSpPr/>
          <p:nvPr/>
        </p:nvSpPr>
        <p:spPr>
          <a:xfrm>
            <a:off x="8357616" y="2688336"/>
            <a:ext cx="3218688" cy="2578608"/>
          </a:xfrm>
          <a:prstGeom prst="roundRect">
            <a:avLst/>
          </a:prstGeom>
          <a:solidFill>
            <a:srgbClr val="19231C"/>
          </a:solidFill>
          <a:ln w="10160">
            <a:solidFill>
              <a:srgbClr val="2A382D"/>
            </a:solidFill>
            <a:prstDash val="solid"/>
          </a:ln>
        </p:spPr>
        <p:txBody>
          <a:bodyPr/>
          <a:p/>
        </p:txBody>
      </p:sp>
      <p:sp>
        <p:nvSpPr>
          <p:cNvPr id="26" name="Text 24"/>
          <p:cNvSpPr txBox="1"/>
          <p:nvPr/>
        </p:nvSpPr>
        <p:spPr>
          <a:xfrm>
            <a:off x="8586216" y="2926080"/>
            <a:ext cx="987552" cy="658368"/>
          </a:xfrm>
          <a:prstGeom prst="rect">
            <a:avLst/>
          </a:prstGeom>
          <a:noFill/>
          <a:ln/>
        </p:spPr>
        <p:txBody>
          <a:bodyPr wrap="square" lIns="0" tIns="0" rIns="0" bIns="0" rtlCol="0" anchor="ctr">
            <a:normAutofit/>
          </a:bodyPr>
          <a:lstStyle/>
          <a:p>
            <a:pPr algn="l" indent="0" marL="0">
              <a:buNone/>
            </a:pPr>
            <a:r>
              <a:rPr lang="en-US" sz="3500" b="1" dirty="0">
                <a:solidFill>
                  <a:srgbClr val="C7E5D1"/>
                </a:solidFill>
                <a:latin typeface="Inter Display" pitchFamily="34" charset="0"/>
                <a:ea typeface="Inter Display" pitchFamily="34" charset="-122"/>
                <a:cs typeface="Inter Display" pitchFamily="34" charset="-120"/>
              </a:rPr>
              <a:t>0</a:t>
            </a:r>
            <a:endParaRPr lang="en-US" sz="3500" dirty="0"/>
          </a:p>
        </p:txBody>
      </p:sp>
      <p:sp>
        <p:nvSpPr>
          <p:cNvPr id="27" name="Text 25"/>
          <p:cNvSpPr txBox="1"/>
          <p:nvPr/>
        </p:nvSpPr>
        <p:spPr>
          <a:xfrm>
            <a:off x="9528048" y="3127248"/>
            <a:ext cx="1783080" cy="182880"/>
          </a:xfrm>
          <a:prstGeom prst="rect">
            <a:avLst/>
          </a:prstGeom>
          <a:noFill/>
          <a:ln/>
        </p:spPr>
        <p:txBody>
          <a:bodyPr wrap="square" lIns="0" tIns="0" rIns="0" bIns="0" rtlCol="0" anchor="ctr">
            <a:normAutofit/>
          </a:bodyPr>
          <a:lstStyle/>
          <a:p>
            <a:pPr algn="l" indent="0" marL="0">
              <a:buNone/>
            </a:pPr>
            <a:r>
              <a:rPr lang="en-US" sz="800" b="1" spc="80" kern="0" dirty="0">
                <a:solidFill>
                  <a:srgbClr val="9EACA0"/>
                </a:solidFill>
                <a:latin typeface="Inter" pitchFamily="34" charset="0"/>
                <a:ea typeface="Inter" pitchFamily="34" charset="-122"/>
                <a:cs typeface="Inter" pitchFamily="34" charset="-120"/>
              </a:rPr>
              <a:t>REAL-MARKET CLAIMS</a:t>
            </a:r>
            <a:endParaRPr lang="en-US" sz="800" dirty="0"/>
          </a:p>
        </p:txBody>
      </p:sp>
      <p:sp>
        <p:nvSpPr>
          <p:cNvPr id="28" name="Shape 26"/>
          <p:cNvSpPr/>
          <p:nvPr/>
        </p:nvSpPr>
        <p:spPr>
          <a:xfrm>
            <a:off x="8586216" y="3703320"/>
            <a:ext cx="2752344" cy="0"/>
          </a:xfrm>
          <a:prstGeom prst="line">
            <a:avLst/>
          </a:prstGeom>
          <a:noFill/>
          <a:ln w="10160">
            <a:solidFill>
              <a:srgbClr val="314036"/>
            </a:solidFill>
            <a:prstDash val="solid"/>
            <a:headEnd type="none"/>
            <a:tailEnd type="none"/>
          </a:ln>
        </p:spPr>
        <p:txBody>
          <a:bodyPr/>
          <a:p/>
        </p:txBody>
      </p:sp>
      <p:sp>
        <p:nvSpPr>
          <p:cNvPr id="29" name="Text 27"/>
          <p:cNvSpPr txBox="1"/>
          <p:nvPr/>
        </p:nvSpPr>
        <p:spPr>
          <a:xfrm>
            <a:off x="8586216" y="3886200"/>
            <a:ext cx="2697480" cy="256032"/>
          </a:xfrm>
          <a:prstGeom prst="rect">
            <a:avLst/>
          </a:prstGeom>
          <a:noFill/>
          <a:ln/>
        </p:spPr>
        <p:txBody>
          <a:bodyPr wrap="square" lIns="0" tIns="0" rIns="0" bIns="0" rtlCol="0" anchor="ctr">
            <a:normAutofit/>
          </a:bodyPr>
          <a:lstStyle/>
          <a:p>
            <a:pPr algn="l" indent="0" marL="0">
              <a:buNone/>
            </a:pPr>
            <a:r>
              <a:rPr lang="en-US" sz="1550" b="1" dirty="0">
                <a:solidFill>
                  <a:srgbClr val="F4F5EF"/>
                </a:solidFill>
                <a:latin typeface="Inter" pitchFamily="34" charset="0"/>
                <a:ea typeface="Inter" pitchFamily="34" charset="-122"/>
                <a:cs typeface="Inter" pitchFamily="34" charset="-120"/>
              </a:rPr>
              <a:t>Validation still open</a:t>
            </a:r>
            <a:endParaRPr lang="en-US" sz="1550" dirty="0"/>
          </a:p>
        </p:txBody>
      </p:sp>
      <p:sp>
        <p:nvSpPr>
          <p:cNvPr id="30" name="Text 28"/>
          <p:cNvSpPr txBox="1"/>
          <p:nvPr/>
        </p:nvSpPr>
        <p:spPr>
          <a:xfrm>
            <a:off x="8586216" y="4279392"/>
            <a:ext cx="2697480" cy="758952"/>
          </a:xfrm>
          <a:prstGeom prst="rect">
            <a:avLst/>
          </a:prstGeom>
          <a:noFill/>
          <a:ln/>
        </p:spPr>
        <p:txBody>
          <a:bodyPr wrap="square" lIns="0" tIns="0" rIns="0" bIns="0" rtlCol="0" anchor="t">
            <a:normAutofit/>
          </a:bodyPr>
          <a:lstStyle/>
          <a:p>
            <a:pPr algn="l" indent="0" marL="0">
              <a:buNone/>
            </a:pPr>
            <a:r>
              <a:rPr lang="en-US" sz="1020" dirty="0">
                <a:solidFill>
                  <a:srgbClr val="B8C2B9"/>
                </a:solidFill>
                <a:latin typeface="Inter" pitchFamily="34" charset="0"/>
                <a:ea typeface="Inter" pitchFamily="34" charset="-122"/>
                <a:cs typeface="Inter" pitchFamily="34" charset="-120"/>
              </a:rPr>
              <a:t>No verified real-market accuracy result. Public release dates and redistribution permissions for the workbooks remain unconfirmed.</a:t>
            </a:r>
            <a:endParaRPr lang="en-US" sz="1020" dirty="0"/>
          </a:p>
        </p:txBody>
      </p:sp>
      <p:sp>
        <p:nvSpPr>
          <p:cNvPr id="31" name="Shape 29"/>
          <p:cNvSpPr/>
          <p:nvPr/>
        </p:nvSpPr>
        <p:spPr>
          <a:xfrm>
            <a:off x="612648" y="5559552"/>
            <a:ext cx="10936224" cy="502920"/>
          </a:xfrm>
          <a:prstGeom prst="roundRect">
            <a:avLst/>
          </a:prstGeom>
          <a:solidFill>
            <a:srgbClr val="202D24"/>
          </a:solidFill>
          <a:ln w="1270">
            <a:solidFill>
              <a:srgbClr val="202D24">
                <a:alpha val="0"/>
              </a:srgbClr>
            </a:solidFill>
            <a:prstDash val="solid"/>
          </a:ln>
        </p:spPr>
        <p:txBody>
          <a:bodyPr/>
          <a:p/>
        </p:txBody>
      </p:sp>
      <p:sp>
        <p:nvSpPr>
          <p:cNvPr id="32" name="Text 30"/>
          <p:cNvSpPr txBox="1"/>
          <p:nvPr/>
        </p:nvSpPr>
        <p:spPr>
          <a:xfrm>
            <a:off x="859536" y="5696712"/>
            <a:ext cx="10424160" cy="201168"/>
          </a:xfrm>
          <a:prstGeom prst="rect">
            <a:avLst/>
          </a:prstGeom>
          <a:noFill/>
          <a:ln/>
        </p:spPr>
        <p:txBody>
          <a:bodyPr wrap="square" lIns="0" tIns="0" rIns="0" bIns="0" rtlCol="0" anchor="ctr">
            <a:normAutofit/>
          </a:bodyPr>
          <a:lstStyle/>
          <a:p>
            <a:pPr algn="l" indent="0" marL="0">
              <a:buNone/>
            </a:pPr>
            <a:r>
              <a:rPr lang="en-US" sz="1020" b="1" dirty="0">
                <a:solidFill>
                  <a:srgbClr val="F4F5EF"/>
                </a:solidFill>
                <a:latin typeface="Inter" pitchFamily="34" charset="0"/>
                <a:ea typeface="Inter" pitchFamily="34" charset="-122"/>
                <a:cs typeface="Inter" pitchFamily="34" charset="-120"/>
              </a:rPr>
              <a:t>Synthetic sample = workflow test only.  •  No multi-year market-price history has been imported.</a:t>
            </a:r>
            <a:endParaRPr lang="en-US" sz="1020" dirty="0"/>
          </a:p>
        </p:txBody>
      </p:sp>
      <p:sp>
        <p:nvSpPr>
          <p:cNvPr id="33" name="Text 31"/>
          <p:cNvSpPr txBox="1"/>
          <p:nvPr/>
        </p:nvSpPr>
        <p:spPr>
          <a:xfrm>
            <a:off x="621792" y="6181344"/>
            <a:ext cx="10607040" cy="164592"/>
          </a:xfrm>
          <a:prstGeom prst="rect">
            <a:avLst/>
          </a:prstGeom>
          <a:noFill/>
          <a:ln/>
        </p:spPr>
        <p:txBody>
          <a:bodyPr wrap="square" lIns="0" tIns="0" rIns="0" bIns="0" rtlCol="0" anchor="ctr">
            <a:normAutofit/>
          </a:bodyPr>
          <a:lstStyle/>
          <a:p>
            <a:pPr algn="l" indent="0" marL="0">
              <a:buNone/>
            </a:pPr>
            <a:r>
              <a:rPr lang="en-US" sz="870" i="1" dirty="0">
                <a:solidFill>
                  <a:srgbClr val="9BA79D"/>
                </a:solidFill>
                <a:latin typeface="Inter" pitchFamily="34" charset="0"/>
                <a:ea typeface="Inter" pitchFamily="34" charset="-122"/>
                <a:cs typeface="Inter" pitchFamily="34" charset="-120"/>
              </a:rPr>
              <a:t>Data note: public access does not automatically grant permission to republish source workbooks or screenshots.</a:t>
            </a:r>
            <a:endParaRPr lang="en-US" sz="870" dirty="0"/>
          </a:p>
        </p:txBody>
      </p:sp>
      <p:sp>
        <p:nvSpPr>
          <p:cNvPr id="34" name="Text 32"/>
          <p:cNvSpPr txBox="1"/>
          <p:nvPr/>
        </p:nvSpPr>
        <p:spPr>
          <a:xfrm>
            <a:off x="566928" y="6492240"/>
            <a:ext cx="5029200" cy="146304"/>
          </a:xfrm>
          <a:prstGeom prst="rect">
            <a:avLst/>
          </a:prstGeom>
          <a:noFill/>
          <a:ln/>
        </p:spPr>
        <p:txBody>
          <a:bodyPr wrap="square" lIns="0" tIns="0" rIns="0" bIns="0" rtlCol="0" anchor="ctr">
            <a:normAutofit/>
          </a:bodyPr>
          <a:lstStyle/>
          <a:p>
            <a:pPr algn="l" indent="0" marL="0">
              <a:buNone/>
            </a:pPr>
            <a:r>
              <a:rPr lang="en-US" sz="820" b="1" spc="90" kern="0" dirty="0">
                <a:solidFill>
                  <a:srgbClr val="7F8D82"/>
                </a:solidFill>
                <a:latin typeface="Inter" pitchFamily="34" charset="0"/>
                <a:ea typeface="Inter" pitchFamily="34" charset="-122"/>
                <a:cs typeface="Inter" pitchFamily="34" charset="-120"/>
              </a:rPr>
              <a:t>AIBOomi STARTUP WEEKEND  ·  KOCHI 2026</a:t>
            </a:r>
            <a:endParaRPr lang="en-US" sz="820" dirty="0"/>
          </a:p>
        </p:txBody>
      </p:sp>
      <p:sp>
        <p:nvSpPr>
          <p:cNvPr id="35" name="Text 33"/>
          <p:cNvSpPr txBox="1"/>
          <p:nvPr/>
        </p:nvSpPr>
        <p:spPr>
          <a:xfrm>
            <a:off x="10991088" y="6473952"/>
            <a:ext cx="612648" cy="182880"/>
          </a:xfrm>
          <a:prstGeom prst="rect">
            <a:avLst/>
          </a:prstGeom>
          <a:noFill/>
          <a:ln/>
        </p:spPr>
        <p:txBody>
          <a:bodyPr wrap="square" lIns="0" tIns="0" rIns="0" bIns="0" rtlCol="0" anchor="ctr">
            <a:normAutofit/>
          </a:bodyPr>
          <a:lstStyle/>
          <a:p>
            <a:pPr algn="r" indent="0" marL="0">
              <a:buNone/>
            </a:pPr>
            <a:r>
              <a:rPr lang="en-US" sz="900" b="1" dirty="0">
                <a:solidFill>
                  <a:srgbClr val="7F8D82"/>
                </a:solidFill>
                <a:latin typeface="Inter" pitchFamily="34" charset="0"/>
                <a:ea typeface="Inter" pitchFamily="34" charset="-122"/>
                <a:cs typeface="Inter" pitchFamily="34" charset="-120"/>
              </a:rPr>
              <a:t>05 / 06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EF"/>
        </a:solidFill>
      </p:bgPr>
    </p:bg>
    <p:spTree>
      <p:nvGrpSpPr>
        <p:cNvPr id="1" name=""/>
        <p:cNvGrpSpPr/>
        <p:nvPr/>
      </p:nvGrpSpPr>
      <p:grpSpPr>
        <a:xfrm>
          <a:off x="0" y="0"/>
          <a:ext cx="0" cy="0"/>
          <a:chOff x="0" y="0"/>
          <a:chExt cx="0" cy="0"/>
        </a:xfrm>
      </p:grpSpPr>
      <p:sp>
        <p:nvSpPr>
          <p:cNvPr id="2" name="Shape 0"/>
          <p:cNvSpPr/>
          <p:nvPr/>
        </p:nvSpPr>
        <p:spPr>
          <a:xfrm>
            <a:off x="566928" y="265176"/>
            <a:ext cx="68580" cy="68580"/>
          </a:xfrm>
          <a:prstGeom prst="rect">
            <a:avLst/>
          </a:prstGeom>
          <a:solidFill>
            <a:srgbClr val="D4FF3F"/>
          </a:solidFill>
          <a:ln w="1270">
            <a:solidFill>
              <a:srgbClr val="D4FF3F">
                <a:alpha val="0"/>
              </a:srgbClr>
            </a:solidFill>
            <a:prstDash val="solid"/>
          </a:ln>
        </p:spPr>
      </p:sp>
      <p:sp>
        <p:nvSpPr>
          <p:cNvPr id="3" name="Shape 1"/>
          <p:cNvSpPr/>
          <p:nvPr/>
        </p:nvSpPr>
        <p:spPr>
          <a:xfrm>
            <a:off x="685800" y="265176"/>
            <a:ext cx="68580" cy="68580"/>
          </a:xfrm>
          <a:prstGeom prst="rect">
            <a:avLst/>
          </a:prstGeom>
          <a:solidFill>
            <a:srgbClr val="D4FF3F"/>
          </a:solidFill>
          <a:ln w="1270">
            <a:solidFill>
              <a:srgbClr val="D4FF3F">
                <a:alpha val="0"/>
              </a:srgbClr>
            </a:solidFill>
            <a:prstDash val="solid"/>
          </a:ln>
        </p:spPr>
      </p:sp>
      <p:sp>
        <p:nvSpPr>
          <p:cNvPr id="4" name="Shape 2"/>
          <p:cNvSpPr/>
          <p:nvPr/>
        </p:nvSpPr>
        <p:spPr>
          <a:xfrm>
            <a:off x="804672" y="265176"/>
            <a:ext cx="68580" cy="68580"/>
          </a:xfrm>
          <a:prstGeom prst="rect">
            <a:avLst/>
          </a:prstGeom>
          <a:solidFill>
            <a:srgbClr val="CBB3E8"/>
          </a:solidFill>
          <a:ln w="1270">
            <a:solidFill>
              <a:srgbClr val="CBB3E8">
                <a:alpha val="0"/>
              </a:srgbClr>
            </a:solidFill>
            <a:prstDash val="solid"/>
          </a:ln>
        </p:spPr>
      </p:sp>
      <p:sp>
        <p:nvSpPr>
          <p:cNvPr id="5" name="Shape 3"/>
          <p:cNvSpPr/>
          <p:nvPr/>
        </p:nvSpPr>
        <p:spPr>
          <a:xfrm>
            <a:off x="566928" y="384048"/>
            <a:ext cx="68580" cy="68580"/>
          </a:xfrm>
          <a:prstGeom prst="rect">
            <a:avLst/>
          </a:prstGeom>
          <a:solidFill>
            <a:srgbClr val="F4F5EF"/>
          </a:solidFill>
          <a:ln w="1270">
            <a:solidFill>
              <a:srgbClr val="F4F5EF">
                <a:alpha val="0"/>
              </a:srgbClr>
            </a:solidFill>
            <a:prstDash val="solid"/>
          </a:ln>
        </p:spPr>
      </p:sp>
      <p:sp>
        <p:nvSpPr>
          <p:cNvPr id="6" name="Shape 4"/>
          <p:cNvSpPr/>
          <p:nvPr/>
        </p:nvSpPr>
        <p:spPr>
          <a:xfrm>
            <a:off x="685800" y="384048"/>
            <a:ext cx="68580" cy="68580"/>
          </a:xfrm>
          <a:prstGeom prst="rect">
            <a:avLst/>
          </a:prstGeom>
          <a:solidFill>
            <a:srgbClr val="D4FF3F"/>
          </a:solidFill>
          <a:ln w="1270">
            <a:solidFill>
              <a:srgbClr val="D4FF3F">
                <a:alpha val="0"/>
              </a:srgbClr>
            </a:solidFill>
            <a:prstDash val="solid"/>
          </a:ln>
        </p:spPr>
      </p:sp>
      <p:sp>
        <p:nvSpPr>
          <p:cNvPr id="7" name="Shape 5"/>
          <p:cNvSpPr/>
          <p:nvPr/>
        </p:nvSpPr>
        <p:spPr>
          <a:xfrm>
            <a:off x="804672" y="384048"/>
            <a:ext cx="68580" cy="68580"/>
          </a:xfrm>
          <a:prstGeom prst="rect">
            <a:avLst/>
          </a:prstGeom>
          <a:solidFill>
            <a:srgbClr val="F4F5EF"/>
          </a:solidFill>
          <a:ln w="1270">
            <a:solidFill>
              <a:srgbClr val="F4F5EF">
                <a:alpha val="0"/>
              </a:srgbClr>
            </a:solidFill>
            <a:prstDash val="solid"/>
          </a:ln>
        </p:spPr>
      </p:sp>
      <p:sp>
        <p:nvSpPr>
          <p:cNvPr id="8" name="Text 6"/>
          <p:cNvSpPr txBox="1"/>
          <p:nvPr/>
        </p:nvSpPr>
        <p:spPr>
          <a:xfrm>
            <a:off x="978408" y="242316"/>
            <a:ext cx="1234440" cy="237744"/>
          </a:xfrm>
          <a:prstGeom prst="rect">
            <a:avLst/>
          </a:prstGeom>
          <a:noFill/>
          <a:ln/>
        </p:spPr>
        <p:txBody>
          <a:bodyPr wrap="square" lIns="0" tIns="0" rIns="0" bIns="0" rtlCol="0" anchor="ctr">
            <a:normAutofit/>
          </a:bodyPr>
          <a:lstStyle/>
          <a:p>
            <a:pPr algn="l" indent="0" marL="0">
              <a:buNone/>
            </a:pPr>
            <a:r>
              <a:rPr lang="en-US" sz="1300" b="1" spc="110" kern="0" dirty="0">
                <a:solidFill>
                  <a:srgbClr val="0D120F"/>
                </a:solidFill>
                <a:latin typeface="Inter" pitchFamily="34" charset="0"/>
                <a:ea typeface="Inter" pitchFamily="34" charset="-122"/>
                <a:cs typeface="Inter" pitchFamily="34" charset="-120"/>
              </a:rPr>
              <a:t>RISKORA</a:t>
            </a:r>
            <a:endParaRPr lang="en-US" sz="1300" dirty="0"/>
          </a:p>
        </p:txBody>
      </p:sp>
      <p:sp>
        <p:nvSpPr>
          <p:cNvPr id="9" name="Text 7"/>
          <p:cNvSpPr txBox="1"/>
          <p:nvPr/>
        </p:nvSpPr>
        <p:spPr>
          <a:xfrm>
            <a:off x="8686800" y="283464"/>
            <a:ext cx="2926080" cy="164592"/>
          </a:xfrm>
          <a:prstGeom prst="rect">
            <a:avLst/>
          </a:prstGeom>
          <a:noFill/>
          <a:ln/>
        </p:spPr>
        <p:txBody>
          <a:bodyPr wrap="square" lIns="0" tIns="0" rIns="0" bIns="0" rtlCol="0" anchor="ctr">
            <a:normAutofit/>
          </a:bodyPr>
          <a:lstStyle/>
          <a:p>
            <a:pPr algn="r" indent="0" marL="0">
              <a:buNone/>
            </a:pPr>
            <a:r>
              <a:rPr lang="en-US" sz="870" b="1" spc="130" kern="0" dirty="0">
                <a:solidFill>
                  <a:srgbClr val="69736A"/>
                </a:solidFill>
                <a:latin typeface="Inter" pitchFamily="34" charset="0"/>
                <a:ea typeface="Inter" pitchFamily="34" charset="-122"/>
                <a:cs typeface="Inter" pitchFamily="34" charset="-120"/>
              </a:rPr>
              <a:t>05 / WHAT’S NEXT</a:t>
            </a:r>
            <a:endParaRPr lang="en-US" sz="870" dirty="0"/>
          </a:p>
        </p:txBody>
      </p:sp>
      <p:sp>
        <p:nvSpPr>
          <p:cNvPr id="10" name="Shape 8"/>
          <p:cNvSpPr/>
          <p:nvPr/>
        </p:nvSpPr>
        <p:spPr>
          <a:xfrm>
            <a:off x="566928" y="658368"/>
            <a:ext cx="11045952" cy="0"/>
          </a:xfrm>
          <a:prstGeom prst="line">
            <a:avLst/>
          </a:prstGeom>
          <a:noFill/>
          <a:ln w="10160">
            <a:solidFill>
              <a:srgbClr val="DDE2D9"/>
            </a:solidFill>
            <a:prstDash val="solid"/>
            <a:headEnd type="none"/>
            <a:tailEnd type="none"/>
          </a:ln>
        </p:spPr>
      </p:sp>
      <p:sp>
        <p:nvSpPr>
          <p:cNvPr id="11" name="Text 9"/>
          <p:cNvSpPr txBox="1"/>
          <p:nvPr/>
        </p:nvSpPr>
        <p:spPr>
          <a:xfrm>
            <a:off x="585216" y="886968"/>
            <a:ext cx="10972800" cy="676656"/>
          </a:xfrm>
          <a:prstGeom prst="rect">
            <a:avLst/>
          </a:prstGeom>
          <a:noFill/>
          <a:ln/>
        </p:spPr>
        <p:txBody>
          <a:bodyPr wrap="square" lIns="0" tIns="0" rIns="0" bIns="0" rtlCol="0" anchor="ctr">
            <a:normAutofit/>
          </a:bodyPr>
          <a:lstStyle/>
          <a:p>
            <a:pPr algn="l" indent="0" marL="0">
              <a:buNone/>
            </a:pPr>
            <a:r>
              <a:rPr lang="en-US" sz="2850" b="1" dirty="0">
                <a:solidFill>
                  <a:srgbClr val="0D120F"/>
                </a:solidFill>
                <a:latin typeface="Inter Display" pitchFamily="34" charset="0"/>
                <a:ea typeface="Inter Display" pitchFamily="34" charset="-122"/>
                <a:cs typeface="Inter Display" pitchFamily="34" charset="-120"/>
              </a:rPr>
              <a:t>The next milestone is proof — not more complexity.</a:t>
            </a:r>
            <a:endParaRPr lang="en-US" sz="2850" dirty="0"/>
          </a:p>
        </p:txBody>
      </p:sp>
      <p:sp>
        <p:nvSpPr>
          <p:cNvPr id="12" name="Text 10"/>
          <p:cNvSpPr txBox="1"/>
          <p:nvPr/>
        </p:nvSpPr>
        <p:spPr>
          <a:xfrm>
            <a:off x="603504" y="1591056"/>
            <a:ext cx="10515600" cy="310896"/>
          </a:xfrm>
          <a:prstGeom prst="rect">
            <a:avLst/>
          </a:prstGeom>
          <a:noFill/>
          <a:ln/>
        </p:spPr>
        <p:txBody>
          <a:bodyPr wrap="square" lIns="0" tIns="0" rIns="0" bIns="0" rtlCol="0" anchor="ctr">
            <a:normAutofit/>
          </a:bodyPr>
          <a:lstStyle/>
          <a:p>
            <a:pPr algn="l" indent="0" marL="0">
              <a:buNone/>
            </a:pPr>
            <a:r>
              <a:rPr lang="en-US" sz="1300" dirty="0">
                <a:solidFill>
                  <a:srgbClr val="69736A"/>
                </a:solidFill>
                <a:latin typeface="Inter" pitchFamily="34" charset="0"/>
                <a:ea typeface="Inter" pitchFamily="34" charset="-122"/>
                <a:cs typeface="Inter" pitchFamily="34" charset="-120"/>
              </a:rPr>
              <a:t>Three validation gates take Riskora from prototype to a product teams can trust.</a:t>
            </a:r>
            <a:endParaRPr lang="en-US" sz="1300" dirty="0"/>
          </a:p>
        </p:txBody>
      </p:sp>
      <p:sp>
        <p:nvSpPr>
          <p:cNvPr id="13" name="Shape 11"/>
          <p:cNvSpPr/>
          <p:nvPr/>
        </p:nvSpPr>
        <p:spPr>
          <a:xfrm>
            <a:off x="603504" y="2176272"/>
            <a:ext cx="3401568" cy="2304288"/>
          </a:xfrm>
          <a:prstGeom prst="roundRect">
            <a:avLst/>
          </a:prstGeom>
          <a:solidFill>
            <a:srgbClr val="FFFFFF"/>
          </a:solidFill>
          <a:ln w="10160">
            <a:solidFill>
              <a:srgbClr val="DDE2D9"/>
            </a:solidFill>
            <a:prstDash val="solid"/>
          </a:ln>
        </p:spPr>
      </p:sp>
      <p:sp>
        <p:nvSpPr>
          <p:cNvPr id="14" name="Text 12"/>
          <p:cNvSpPr txBox="1"/>
          <p:nvPr/>
        </p:nvSpPr>
        <p:spPr>
          <a:xfrm>
            <a:off x="813816" y="2404872"/>
            <a:ext cx="429768" cy="246888"/>
          </a:xfrm>
          <a:prstGeom prst="rect">
            <a:avLst/>
          </a:prstGeom>
          <a:noFill/>
          <a:ln/>
        </p:spPr>
        <p:txBody>
          <a:bodyPr wrap="square" lIns="0" tIns="0" rIns="0" bIns="0" rtlCol="0" anchor="ctr">
            <a:normAutofit/>
          </a:bodyPr>
          <a:lstStyle/>
          <a:p>
            <a:pPr algn="l" indent="0" marL="0">
              <a:buNone/>
            </a:pPr>
            <a:r>
              <a:rPr lang="en-US" sz="1100" b="1" dirty="0">
                <a:solidFill>
                  <a:srgbClr val="2F6B4D"/>
                </a:solidFill>
                <a:latin typeface="Inter" pitchFamily="34" charset="0"/>
                <a:ea typeface="Inter" pitchFamily="34" charset="-122"/>
                <a:cs typeface="Inter" pitchFamily="34" charset="-120"/>
              </a:rPr>
              <a:t>01</a:t>
            </a:r>
            <a:endParaRPr lang="en-US" sz="1100" dirty="0"/>
          </a:p>
        </p:txBody>
      </p:sp>
      <p:sp>
        <p:nvSpPr>
          <p:cNvPr id="15" name="Text 13"/>
          <p:cNvSpPr txBox="1"/>
          <p:nvPr/>
        </p:nvSpPr>
        <p:spPr>
          <a:xfrm>
            <a:off x="1353312" y="2432304"/>
            <a:ext cx="2331720" cy="164592"/>
          </a:xfrm>
          <a:prstGeom prst="rect">
            <a:avLst/>
          </a:prstGeom>
          <a:noFill/>
          <a:ln/>
        </p:spPr>
        <p:txBody>
          <a:bodyPr wrap="square" lIns="0" tIns="0" rIns="0" bIns="0" rtlCol="0" anchor="ctr">
            <a:normAutofit/>
          </a:bodyPr>
          <a:lstStyle/>
          <a:p>
            <a:pPr algn="l" indent="0" marL="0">
              <a:buNone/>
            </a:pPr>
            <a:r>
              <a:rPr lang="en-US" sz="800" b="1" spc="80" kern="0" dirty="0">
                <a:solidFill>
                  <a:srgbClr val="69736A"/>
                </a:solidFill>
                <a:latin typeface="Inter" pitchFamily="34" charset="0"/>
                <a:ea typeface="Inter" pitchFamily="34" charset="-122"/>
                <a:cs typeface="Inter" pitchFamily="34" charset="-120"/>
              </a:rPr>
              <a:t>DATA FOUNDATION</a:t>
            </a:r>
            <a:endParaRPr lang="en-US" sz="800" dirty="0"/>
          </a:p>
        </p:txBody>
      </p:sp>
      <p:sp>
        <p:nvSpPr>
          <p:cNvPr id="16" name="Text 14"/>
          <p:cNvSpPr txBox="1"/>
          <p:nvPr/>
        </p:nvSpPr>
        <p:spPr>
          <a:xfrm>
            <a:off x="822960" y="2880360"/>
            <a:ext cx="2816352" cy="310896"/>
          </a:xfrm>
          <a:prstGeom prst="rect">
            <a:avLst/>
          </a:prstGeom>
          <a:noFill/>
          <a:ln/>
        </p:spPr>
        <p:txBody>
          <a:bodyPr wrap="square" lIns="0" tIns="0" rIns="0" bIns="0" rtlCol="0" anchor="ctr">
            <a:normAutofit/>
          </a:bodyPr>
          <a:lstStyle/>
          <a:p>
            <a:pPr algn="l" indent="0" marL="0">
              <a:buNone/>
            </a:pPr>
            <a:r>
              <a:rPr lang="en-US" sz="1650" b="1" dirty="0">
                <a:solidFill>
                  <a:srgbClr val="0D120F"/>
                </a:solidFill>
                <a:latin typeface="Inter" pitchFamily="34" charset="0"/>
                <a:ea typeface="Inter" pitchFamily="34" charset="-122"/>
                <a:cs typeface="Inter" pitchFamily="34" charset="-120"/>
              </a:rPr>
              <a:t>Build a clean history</a:t>
            </a:r>
            <a:endParaRPr lang="en-US" sz="1650" dirty="0"/>
          </a:p>
        </p:txBody>
      </p:sp>
      <p:sp>
        <p:nvSpPr>
          <p:cNvPr id="17" name="Text 15"/>
          <p:cNvSpPr txBox="1"/>
          <p:nvPr/>
        </p:nvSpPr>
        <p:spPr>
          <a:xfrm>
            <a:off x="822960" y="3364992"/>
            <a:ext cx="2834640" cy="804672"/>
          </a:xfrm>
          <a:prstGeom prst="rect">
            <a:avLst/>
          </a:prstGeom>
          <a:noFill/>
          <a:ln/>
        </p:spPr>
        <p:txBody>
          <a:bodyPr wrap="square" lIns="0" tIns="0" rIns="0" bIns="0" rtlCol="0" anchor="t">
            <a:normAutofit/>
          </a:bodyPr>
          <a:lstStyle/>
          <a:p>
            <a:pPr algn="l" indent="0" marL="0">
              <a:buNone/>
            </a:pPr>
            <a:r>
              <a:rPr lang="en-US" sz="1040" dirty="0">
                <a:solidFill>
                  <a:srgbClr val="69736A"/>
                </a:solidFill>
                <a:latin typeface="Inter" pitchFamily="34" charset="0"/>
                <a:ea typeface="Inter" pitchFamily="34" charset="-122"/>
                <a:cs typeface="Inter" pitchFamily="34" charset="-120"/>
              </a:rPr>
              <a:t>Verify release timestamps and usage rights. Acquire comparable monthly snapshots and point-in-time market data.</a:t>
            </a:r>
            <a:endParaRPr lang="en-US" sz="1040" dirty="0"/>
          </a:p>
        </p:txBody>
      </p:sp>
      <p:sp>
        <p:nvSpPr>
          <p:cNvPr id="18" name="Shape 16"/>
          <p:cNvSpPr/>
          <p:nvPr/>
        </p:nvSpPr>
        <p:spPr>
          <a:xfrm>
            <a:off x="4370832" y="2176272"/>
            <a:ext cx="3401568" cy="2304288"/>
          </a:xfrm>
          <a:prstGeom prst="roundRect">
            <a:avLst/>
          </a:prstGeom>
          <a:solidFill>
            <a:srgbClr val="FFFFFF"/>
          </a:solidFill>
          <a:ln w="10160">
            <a:solidFill>
              <a:srgbClr val="DDE2D9"/>
            </a:solidFill>
            <a:prstDash val="solid"/>
          </a:ln>
        </p:spPr>
      </p:sp>
      <p:sp>
        <p:nvSpPr>
          <p:cNvPr id="19" name="Text 17"/>
          <p:cNvSpPr txBox="1"/>
          <p:nvPr/>
        </p:nvSpPr>
        <p:spPr>
          <a:xfrm>
            <a:off x="4581144" y="2404872"/>
            <a:ext cx="429768" cy="246888"/>
          </a:xfrm>
          <a:prstGeom prst="rect">
            <a:avLst/>
          </a:prstGeom>
          <a:noFill/>
          <a:ln/>
        </p:spPr>
        <p:txBody>
          <a:bodyPr wrap="square" lIns="0" tIns="0" rIns="0" bIns="0" rtlCol="0" anchor="ctr">
            <a:normAutofit/>
          </a:bodyPr>
          <a:lstStyle/>
          <a:p>
            <a:pPr algn="l" indent="0" marL="0">
              <a:buNone/>
            </a:pPr>
            <a:r>
              <a:rPr lang="en-US" sz="1100" b="1" dirty="0">
                <a:solidFill>
                  <a:srgbClr val="725A91"/>
                </a:solidFill>
                <a:latin typeface="Inter" pitchFamily="34" charset="0"/>
                <a:ea typeface="Inter" pitchFamily="34" charset="-122"/>
                <a:cs typeface="Inter" pitchFamily="34" charset="-120"/>
              </a:rPr>
              <a:t>02</a:t>
            </a:r>
            <a:endParaRPr lang="en-US" sz="1100" dirty="0"/>
          </a:p>
        </p:txBody>
      </p:sp>
      <p:sp>
        <p:nvSpPr>
          <p:cNvPr id="20" name="Text 18"/>
          <p:cNvSpPr txBox="1"/>
          <p:nvPr/>
        </p:nvSpPr>
        <p:spPr>
          <a:xfrm>
            <a:off x="5120640" y="2432304"/>
            <a:ext cx="2331720" cy="164592"/>
          </a:xfrm>
          <a:prstGeom prst="rect">
            <a:avLst/>
          </a:prstGeom>
          <a:noFill/>
          <a:ln/>
        </p:spPr>
        <p:txBody>
          <a:bodyPr wrap="square" lIns="0" tIns="0" rIns="0" bIns="0" rtlCol="0" anchor="ctr">
            <a:normAutofit/>
          </a:bodyPr>
          <a:lstStyle/>
          <a:p>
            <a:pPr algn="l" indent="0" marL="0">
              <a:buNone/>
            </a:pPr>
            <a:r>
              <a:rPr lang="en-US" sz="800" b="1" spc="80" kern="0" dirty="0">
                <a:solidFill>
                  <a:srgbClr val="69736A"/>
                </a:solidFill>
                <a:latin typeface="Inter" pitchFamily="34" charset="0"/>
                <a:ea typeface="Inter" pitchFamily="34" charset="-122"/>
                <a:cs typeface="Inter" pitchFamily="34" charset="-120"/>
              </a:rPr>
              <a:t>MODEL VALIDATION</a:t>
            </a:r>
            <a:endParaRPr lang="en-US" sz="800" dirty="0"/>
          </a:p>
        </p:txBody>
      </p:sp>
      <p:sp>
        <p:nvSpPr>
          <p:cNvPr id="21" name="Text 19"/>
          <p:cNvSpPr txBox="1"/>
          <p:nvPr/>
        </p:nvSpPr>
        <p:spPr>
          <a:xfrm>
            <a:off x="4590288" y="2880360"/>
            <a:ext cx="2816352" cy="310896"/>
          </a:xfrm>
          <a:prstGeom prst="rect">
            <a:avLst/>
          </a:prstGeom>
          <a:noFill/>
          <a:ln/>
        </p:spPr>
        <p:txBody>
          <a:bodyPr wrap="square" lIns="0" tIns="0" rIns="0" bIns="0" rtlCol="0" anchor="ctr">
            <a:normAutofit/>
          </a:bodyPr>
          <a:lstStyle/>
          <a:p>
            <a:pPr algn="l" indent="0" marL="0">
              <a:buNone/>
            </a:pPr>
            <a:r>
              <a:rPr lang="en-US" sz="1650" b="1" dirty="0">
                <a:solidFill>
                  <a:srgbClr val="0D120F"/>
                </a:solidFill>
                <a:latin typeface="Inter" pitchFamily="34" charset="0"/>
                <a:ea typeface="Inter" pitchFamily="34" charset="-122"/>
                <a:cs typeface="Inter" pitchFamily="34" charset="-120"/>
              </a:rPr>
              <a:t>Prove ranking quality</a:t>
            </a:r>
            <a:endParaRPr lang="en-US" sz="1650" dirty="0"/>
          </a:p>
        </p:txBody>
      </p:sp>
      <p:sp>
        <p:nvSpPr>
          <p:cNvPr id="22" name="Text 20"/>
          <p:cNvSpPr txBox="1"/>
          <p:nvPr/>
        </p:nvSpPr>
        <p:spPr>
          <a:xfrm>
            <a:off x="4590288" y="3364992"/>
            <a:ext cx="2834640" cy="804672"/>
          </a:xfrm>
          <a:prstGeom prst="rect">
            <a:avLst/>
          </a:prstGeom>
          <a:noFill/>
          <a:ln/>
        </p:spPr>
        <p:txBody>
          <a:bodyPr wrap="square" lIns="0" tIns="0" rIns="0" bIns="0" rtlCol="0" anchor="t">
            <a:normAutofit/>
          </a:bodyPr>
          <a:lstStyle/>
          <a:p>
            <a:pPr algn="l" indent="0" marL="0">
              <a:buNone/>
            </a:pPr>
            <a:r>
              <a:rPr lang="en-US" sz="1040" dirty="0">
                <a:solidFill>
                  <a:srgbClr val="69736A"/>
                </a:solidFill>
                <a:latin typeface="Inter" pitchFamily="34" charset="0"/>
                <a:ea typeface="Inter" pitchFamily="34" charset="-122"/>
                <a:cs typeface="Inter" pitchFamily="34" charset="-120"/>
              </a:rPr>
              <a:t>Run chronological holdouts across funds. Audit leakage, corporate actions, survivorship and baseline performance.</a:t>
            </a:r>
            <a:endParaRPr lang="en-US" sz="1040" dirty="0"/>
          </a:p>
        </p:txBody>
      </p:sp>
      <p:sp>
        <p:nvSpPr>
          <p:cNvPr id="23" name="Shape 21"/>
          <p:cNvSpPr/>
          <p:nvPr/>
        </p:nvSpPr>
        <p:spPr>
          <a:xfrm>
            <a:off x="8138160" y="2176272"/>
            <a:ext cx="3401568" cy="2304288"/>
          </a:xfrm>
          <a:prstGeom prst="roundRect">
            <a:avLst/>
          </a:prstGeom>
          <a:solidFill>
            <a:srgbClr val="FFFFFF"/>
          </a:solidFill>
          <a:ln w="10160">
            <a:solidFill>
              <a:srgbClr val="DDE2D9"/>
            </a:solidFill>
            <a:prstDash val="solid"/>
          </a:ln>
        </p:spPr>
      </p:sp>
      <p:sp>
        <p:nvSpPr>
          <p:cNvPr id="24" name="Text 22"/>
          <p:cNvSpPr txBox="1"/>
          <p:nvPr/>
        </p:nvSpPr>
        <p:spPr>
          <a:xfrm>
            <a:off x="8348472" y="2404872"/>
            <a:ext cx="429768" cy="246888"/>
          </a:xfrm>
          <a:prstGeom prst="rect">
            <a:avLst/>
          </a:prstGeom>
          <a:noFill/>
          <a:ln/>
        </p:spPr>
        <p:txBody>
          <a:bodyPr wrap="square" lIns="0" tIns="0" rIns="0" bIns="0" rtlCol="0" anchor="ctr">
            <a:normAutofit/>
          </a:bodyPr>
          <a:lstStyle/>
          <a:p>
            <a:pPr algn="l" indent="0" marL="0">
              <a:buNone/>
            </a:pPr>
            <a:r>
              <a:rPr lang="en-US" sz="1100" b="1" dirty="0">
                <a:solidFill>
                  <a:srgbClr val="59764F"/>
                </a:solidFill>
                <a:latin typeface="Inter" pitchFamily="34" charset="0"/>
                <a:ea typeface="Inter" pitchFamily="34" charset="-122"/>
                <a:cs typeface="Inter" pitchFamily="34" charset="-120"/>
              </a:rPr>
              <a:t>03</a:t>
            </a:r>
            <a:endParaRPr lang="en-US" sz="1100" dirty="0"/>
          </a:p>
        </p:txBody>
      </p:sp>
      <p:sp>
        <p:nvSpPr>
          <p:cNvPr id="25" name="Text 23"/>
          <p:cNvSpPr txBox="1"/>
          <p:nvPr/>
        </p:nvSpPr>
        <p:spPr>
          <a:xfrm>
            <a:off x="8887968" y="2432304"/>
            <a:ext cx="2331720" cy="164592"/>
          </a:xfrm>
          <a:prstGeom prst="rect">
            <a:avLst/>
          </a:prstGeom>
          <a:noFill/>
          <a:ln/>
        </p:spPr>
        <p:txBody>
          <a:bodyPr wrap="square" lIns="0" tIns="0" rIns="0" bIns="0" rtlCol="0" anchor="ctr">
            <a:normAutofit/>
          </a:bodyPr>
          <a:lstStyle/>
          <a:p>
            <a:pPr algn="l" indent="0" marL="0">
              <a:buNone/>
            </a:pPr>
            <a:r>
              <a:rPr lang="en-US" sz="800" b="1" spc="80" kern="0" dirty="0">
                <a:solidFill>
                  <a:srgbClr val="69736A"/>
                </a:solidFill>
                <a:latin typeface="Inter" pitchFamily="34" charset="0"/>
                <a:ea typeface="Inter" pitchFamily="34" charset="-122"/>
                <a:cs typeface="Inter" pitchFamily="34" charset="-120"/>
              </a:rPr>
              <a:t>USER VALIDATION</a:t>
            </a:r>
            <a:endParaRPr lang="en-US" sz="800" dirty="0"/>
          </a:p>
        </p:txBody>
      </p:sp>
      <p:sp>
        <p:nvSpPr>
          <p:cNvPr id="26" name="Text 24"/>
          <p:cNvSpPr txBox="1"/>
          <p:nvPr/>
        </p:nvSpPr>
        <p:spPr>
          <a:xfrm>
            <a:off x="8357616" y="2880360"/>
            <a:ext cx="2816352" cy="310896"/>
          </a:xfrm>
          <a:prstGeom prst="rect">
            <a:avLst/>
          </a:prstGeom>
          <a:noFill/>
          <a:ln/>
        </p:spPr>
        <p:txBody>
          <a:bodyPr wrap="square" lIns="0" tIns="0" rIns="0" bIns="0" rtlCol="0" anchor="ctr">
            <a:normAutofit/>
          </a:bodyPr>
          <a:lstStyle/>
          <a:p>
            <a:pPr algn="l" indent="0" marL="0">
              <a:buNone/>
            </a:pPr>
            <a:r>
              <a:rPr lang="en-US" sz="1650" b="1" dirty="0">
                <a:solidFill>
                  <a:srgbClr val="0D120F"/>
                </a:solidFill>
                <a:latin typeface="Inter" pitchFamily="34" charset="0"/>
                <a:ea typeface="Inter" pitchFamily="34" charset="-122"/>
                <a:cs typeface="Inter" pitchFamily="34" charset="-120"/>
              </a:rPr>
              <a:t>Test the workflow</a:t>
            </a:r>
            <a:endParaRPr lang="en-US" sz="1650" dirty="0"/>
          </a:p>
        </p:txBody>
      </p:sp>
      <p:sp>
        <p:nvSpPr>
          <p:cNvPr id="27" name="Text 25"/>
          <p:cNvSpPr txBox="1"/>
          <p:nvPr/>
        </p:nvSpPr>
        <p:spPr>
          <a:xfrm>
            <a:off x="8357616" y="3364992"/>
            <a:ext cx="2834640" cy="804672"/>
          </a:xfrm>
          <a:prstGeom prst="rect">
            <a:avLst/>
          </a:prstGeom>
          <a:noFill/>
          <a:ln/>
        </p:spPr>
        <p:txBody>
          <a:bodyPr wrap="square" lIns="0" tIns="0" rIns="0" bIns="0" rtlCol="0" anchor="t">
            <a:normAutofit/>
          </a:bodyPr>
          <a:lstStyle/>
          <a:p>
            <a:pPr algn="l" indent="0" marL="0">
              <a:buNone/>
            </a:pPr>
            <a:r>
              <a:rPr lang="en-US" sz="1040" dirty="0">
                <a:solidFill>
                  <a:srgbClr val="69736A"/>
                </a:solidFill>
                <a:latin typeface="Inter" pitchFamily="34" charset="0"/>
                <a:ea typeface="Inter" pitchFamily="34" charset="-122"/>
                <a:cs typeface="Inter" pitchFamily="34" charset="-120"/>
              </a:rPr>
              <a:t>Pilot with research analysts. Measure time saved, evidence usefulness and willingness to pay before pricing.</a:t>
            </a:r>
            <a:endParaRPr lang="en-US" sz="1040" dirty="0"/>
          </a:p>
        </p:txBody>
      </p:sp>
      <p:sp>
        <p:nvSpPr>
          <p:cNvPr id="28" name="Shape 26"/>
          <p:cNvSpPr/>
          <p:nvPr/>
        </p:nvSpPr>
        <p:spPr>
          <a:xfrm>
            <a:off x="603504" y="4800600"/>
            <a:ext cx="10972800" cy="804672"/>
          </a:xfrm>
          <a:prstGeom prst="roundRect">
            <a:avLst/>
          </a:prstGeom>
          <a:solidFill>
            <a:srgbClr val="0D120F"/>
          </a:solidFill>
          <a:ln w="1270">
            <a:solidFill>
              <a:srgbClr val="0D120F">
                <a:alpha val="0"/>
              </a:srgbClr>
            </a:solidFill>
            <a:prstDash val="solid"/>
          </a:ln>
        </p:spPr>
      </p:sp>
      <p:sp>
        <p:nvSpPr>
          <p:cNvPr id="29" name="Text 27"/>
          <p:cNvSpPr txBox="1"/>
          <p:nvPr/>
        </p:nvSpPr>
        <p:spPr>
          <a:xfrm>
            <a:off x="877824" y="5010912"/>
            <a:ext cx="777240" cy="182880"/>
          </a:xfrm>
          <a:prstGeom prst="rect">
            <a:avLst/>
          </a:prstGeom>
          <a:noFill/>
          <a:ln/>
        </p:spPr>
        <p:txBody>
          <a:bodyPr wrap="square" lIns="0" tIns="0" rIns="0" bIns="0" rtlCol="0" anchor="ctr">
            <a:normAutofit/>
          </a:bodyPr>
          <a:lstStyle/>
          <a:p>
            <a:pPr algn="l" indent="0" marL="0">
              <a:buNone/>
            </a:pPr>
            <a:r>
              <a:rPr lang="en-US" sz="850" b="1" spc="120" kern="0" dirty="0">
                <a:solidFill>
                  <a:srgbClr val="D4FF3F"/>
                </a:solidFill>
                <a:latin typeface="Inter" pitchFamily="34" charset="0"/>
                <a:ea typeface="Inter" pitchFamily="34" charset="-122"/>
                <a:cs typeface="Inter" pitchFamily="34" charset="-120"/>
              </a:rPr>
              <a:t>THE ASK</a:t>
            </a:r>
            <a:endParaRPr lang="en-US" sz="850" dirty="0"/>
          </a:p>
        </p:txBody>
      </p:sp>
      <p:sp>
        <p:nvSpPr>
          <p:cNvPr id="30" name="Text 28"/>
          <p:cNvSpPr txBox="1"/>
          <p:nvPr/>
        </p:nvSpPr>
        <p:spPr>
          <a:xfrm>
            <a:off x="1810512" y="4956048"/>
            <a:ext cx="9098280" cy="310896"/>
          </a:xfrm>
          <a:prstGeom prst="rect">
            <a:avLst/>
          </a:prstGeom>
          <a:noFill/>
          <a:ln/>
        </p:spPr>
        <p:txBody>
          <a:bodyPr wrap="square" lIns="0" tIns="0" rIns="0" bIns="0" rtlCol="0" anchor="ctr">
            <a:normAutofit/>
          </a:bodyPr>
          <a:lstStyle/>
          <a:p>
            <a:pPr algn="l" indent="0" marL="0">
              <a:buNone/>
            </a:pPr>
            <a:r>
              <a:rPr lang="en-US" sz="1600" b="1" dirty="0">
                <a:solidFill>
                  <a:srgbClr val="F4F5EF"/>
                </a:solidFill>
                <a:latin typeface="Inter" pitchFamily="34" charset="0"/>
                <a:ea typeface="Inter" pitchFamily="34" charset="-122"/>
                <a:cs typeface="Inter" pitchFamily="34" charset="-120"/>
              </a:rPr>
              <a:t>Research partners + permissioned historical data for a supervised pilot.</a:t>
            </a:r>
            <a:endParaRPr lang="en-US" sz="1600" dirty="0"/>
          </a:p>
        </p:txBody>
      </p:sp>
      <p:sp>
        <p:nvSpPr>
          <p:cNvPr id="31" name="Text 29"/>
          <p:cNvSpPr txBox="1"/>
          <p:nvPr/>
        </p:nvSpPr>
        <p:spPr>
          <a:xfrm>
            <a:off x="612648" y="5916168"/>
            <a:ext cx="576072" cy="164592"/>
          </a:xfrm>
          <a:prstGeom prst="rect">
            <a:avLst/>
          </a:prstGeom>
          <a:noFill/>
          <a:ln/>
        </p:spPr>
        <p:txBody>
          <a:bodyPr wrap="square" lIns="0" tIns="0" rIns="0" bIns="0" rtlCol="0" anchor="ctr">
            <a:normAutofit/>
          </a:bodyPr>
          <a:lstStyle/>
          <a:p>
            <a:pPr algn="l" indent="0" marL="0">
              <a:buNone/>
            </a:pPr>
            <a:r>
              <a:rPr lang="en-US" sz="820" b="1" spc="110" kern="0" dirty="0">
                <a:solidFill>
                  <a:srgbClr val="69736A"/>
                </a:solidFill>
                <a:latin typeface="Inter" pitchFamily="34" charset="0"/>
                <a:ea typeface="Inter" pitchFamily="34" charset="-122"/>
                <a:cs typeface="Inter" pitchFamily="34" charset="-120"/>
              </a:rPr>
              <a:t>TEAM</a:t>
            </a:r>
            <a:endParaRPr lang="en-US" sz="820" dirty="0"/>
          </a:p>
        </p:txBody>
      </p:sp>
      <p:sp>
        <p:nvSpPr>
          <p:cNvPr id="32" name="Text 30"/>
          <p:cNvSpPr txBox="1"/>
          <p:nvPr/>
        </p:nvSpPr>
        <p:spPr>
          <a:xfrm>
            <a:off x="1307592" y="5852160"/>
            <a:ext cx="2011680" cy="228600"/>
          </a:xfrm>
          <a:prstGeom prst="rect">
            <a:avLst/>
          </a:prstGeom>
          <a:noFill/>
          <a:ln/>
        </p:spPr>
        <p:txBody>
          <a:bodyPr wrap="square" lIns="0" tIns="0" rIns="0" bIns="0" rtlCol="0" anchor="ctr">
            <a:normAutofit/>
          </a:bodyPr>
          <a:lstStyle/>
          <a:p>
            <a:pPr algn="l" indent="0" marL="0">
              <a:buNone/>
            </a:pPr>
            <a:r>
              <a:rPr lang="en-US" sz="1120" b="1" dirty="0">
                <a:solidFill>
                  <a:srgbClr val="0D120F"/>
                </a:solidFill>
                <a:latin typeface="Inter" pitchFamily="34" charset="0"/>
                <a:ea typeface="Inter" pitchFamily="34" charset="-122"/>
                <a:cs typeface="Inter" pitchFamily="34" charset="-120"/>
              </a:rPr>
              <a:t>Ansil Muhammed N S</a:t>
            </a:r>
            <a:endParaRPr lang="en-US" sz="1120" dirty="0"/>
          </a:p>
        </p:txBody>
      </p:sp>
      <p:sp>
        <p:nvSpPr>
          <p:cNvPr id="33" name="Shape 31"/>
          <p:cNvSpPr/>
          <p:nvPr/>
        </p:nvSpPr>
        <p:spPr>
          <a:xfrm>
            <a:off x="3438144" y="5870448"/>
            <a:ext cx="0" cy="274320"/>
          </a:xfrm>
          <a:prstGeom prst="line">
            <a:avLst/>
          </a:prstGeom>
          <a:noFill/>
          <a:ln w="12700">
            <a:solidFill>
              <a:srgbClr val="DDE2D9"/>
            </a:solidFill>
            <a:prstDash val="solid"/>
            <a:headEnd type="none"/>
            <a:tailEnd type="none"/>
          </a:ln>
        </p:spPr>
      </p:sp>
      <p:sp>
        <p:nvSpPr>
          <p:cNvPr id="34" name="Text 32"/>
          <p:cNvSpPr txBox="1"/>
          <p:nvPr/>
        </p:nvSpPr>
        <p:spPr>
          <a:xfrm>
            <a:off x="3657600" y="5852160"/>
            <a:ext cx="1965960" cy="228600"/>
          </a:xfrm>
          <a:prstGeom prst="rect">
            <a:avLst/>
          </a:prstGeom>
          <a:noFill/>
          <a:ln/>
        </p:spPr>
        <p:txBody>
          <a:bodyPr wrap="square" lIns="0" tIns="0" rIns="0" bIns="0" rtlCol="0" anchor="ctr">
            <a:normAutofit/>
          </a:bodyPr>
          <a:lstStyle/>
          <a:p>
            <a:pPr algn="l" indent="0" marL="0">
              <a:buNone/>
            </a:pPr>
            <a:r>
              <a:rPr lang="en-US" sz="1120" b="1" dirty="0">
                <a:solidFill>
                  <a:srgbClr val="0D120F"/>
                </a:solidFill>
                <a:latin typeface="Inter" pitchFamily="34" charset="0"/>
                <a:ea typeface="Inter" pitchFamily="34" charset="-122"/>
                <a:cs typeface="Inter" pitchFamily="34" charset="-120"/>
              </a:rPr>
              <a:t>Muhammed Ihsan K I</a:t>
            </a:r>
            <a:endParaRPr lang="en-US" sz="1120" dirty="0"/>
          </a:p>
        </p:txBody>
      </p:sp>
      <p:sp>
        <p:nvSpPr>
          <p:cNvPr id="35" name="Text 33"/>
          <p:cNvSpPr txBox="1"/>
          <p:nvPr/>
        </p:nvSpPr>
        <p:spPr>
          <a:xfrm>
            <a:off x="6858000" y="5879592"/>
            <a:ext cx="4480560" cy="201168"/>
          </a:xfrm>
          <a:prstGeom prst="rect">
            <a:avLst/>
          </a:prstGeom>
          <a:noFill/>
          <a:ln/>
        </p:spPr>
        <p:txBody>
          <a:bodyPr wrap="square" lIns="0" tIns="0" rIns="0" bIns="0" rtlCol="0" anchor="ctr">
            <a:normAutofit/>
          </a:bodyPr>
          <a:lstStyle/>
          <a:p>
            <a:pPr algn="r" indent="0" marL="0">
              <a:buNone/>
            </a:pPr>
            <a:r>
              <a:rPr lang="en-US" sz="960" dirty="0">
                <a:solidFill>
                  <a:srgbClr val="69736A"/>
                </a:solidFill>
                <a:latin typeface="Inter" pitchFamily="34" charset="0"/>
                <a:ea typeface="Inter" pitchFamily="34" charset="-122"/>
                <a:cs typeface="Inter" pitchFamily="34" charset="-120"/>
              </a:rPr>
              <a:t>Business model hypothesis: team subscription, tested after pilots.</a:t>
            </a:r>
            <a:endParaRPr lang="en-US" sz="960" dirty="0"/>
          </a:p>
        </p:txBody>
      </p:sp>
      <p:sp>
        <p:nvSpPr>
          <p:cNvPr id="36" name="Text 34"/>
          <p:cNvSpPr txBox="1"/>
          <p:nvPr/>
        </p:nvSpPr>
        <p:spPr>
          <a:xfrm>
            <a:off x="566928" y="6492240"/>
            <a:ext cx="5029200" cy="146304"/>
          </a:xfrm>
          <a:prstGeom prst="rect">
            <a:avLst/>
          </a:prstGeom>
          <a:noFill/>
          <a:ln/>
        </p:spPr>
        <p:txBody>
          <a:bodyPr wrap="square" lIns="0" tIns="0" rIns="0" bIns="0" rtlCol="0" anchor="ctr">
            <a:normAutofit/>
          </a:bodyPr>
          <a:lstStyle/>
          <a:p>
            <a:pPr algn="l" indent="0" marL="0">
              <a:buNone/>
            </a:pPr>
            <a:r>
              <a:rPr lang="en-US" sz="820" b="1" spc="90" kern="0" dirty="0">
                <a:solidFill>
                  <a:srgbClr val="7A837A"/>
                </a:solidFill>
                <a:latin typeface="Inter" pitchFamily="34" charset="0"/>
                <a:ea typeface="Inter" pitchFamily="34" charset="-122"/>
                <a:cs typeface="Inter" pitchFamily="34" charset="-120"/>
              </a:rPr>
              <a:t>AIBOomi STARTUP WEEKEND  ·  KOCHI 2026</a:t>
            </a:r>
            <a:endParaRPr lang="en-US" sz="820" dirty="0"/>
          </a:p>
        </p:txBody>
      </p:sp>
      <p:sp>
        <p:nvSpPr>
          <p:cNvPr id="37" name="Text 35"/>
          <p:cNvSpPr txBox="1"/>
          <p:nvPr/>
        </p:nvSpPr>
        <p:spPr>
          <a:xfrm>
            <a:off x="10991088" y="6473952"/>
            <a:ext cx="612648" cy="182880"/>
          </a:xfrm>
          <a:prstGeom prst="rect">
            <a:avLst/>
          </a:prstGeom>
          <a:noFill/>
          <a:ln/>
        </p:spPr>
        <p:txBody>
          <a:bodyPr wrap="square" lIns="0" tIns="0" rIns="0" bIns="0" rtlCol="0" anchor="ctr">
            <a:normAutofit/>
          </a:bodyPr>
          <a:lstStyle/>
          <a:p>
            <a:pPr algn="r" indent="0" marL="0">
              <a:buNone/>
            </a:pPr>
            <a:r>
              <a:rPr lang="en-US" sz="900" b="1" dirty="0">
                <a:solidFill>
                  <a:srgbClr val="7A837A"/>
                </a:solidFill>
                <a:latin typeface="Inter" pitchFamily="34" charset="0"/>
                <a:ea typeface="Inter" pitchFamily="34" charset="-122"/>
                <a:cs typeface="Inter" pitchFamily="34" charset="-120"/>
              </a:rPr>
              <a:t>06 / 06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Riskora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Riskora — See what a fund may hold next</dc:title>
  <dc:subject>AIBoomi Startup Weekend Kochi 2026 pitch</dc:subject>
  <dc:creator>Riskora</dc:creator>
  <cp:lastModifiedBy>Riskora</cp:lastModifiedBy>
  <cp:revision>1</cp:revision>
  <dcterms:created xsi:type="dcterms:W3CDTF">2026-10-24T06:26:55Z</dcterms:created>
  <dcterms:modified xsi:type="dcterms:W3CDTF">2026-10-24T06:26:55Z</dcterms:modified>
</cp:coreProperties>
</file>